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3138-999B-EACF-996A-F5C5366A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17F61-C61E-4D83-9706-666065ADF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FAD02-6535-E6BC-B66E-EF2A733AA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AC80F-45F6-DDBE-3655-B7AA27A0C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55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 ·  CSS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Estilos Globais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compartilhada por todas as páginas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Variáveis CSS</a:t>
            </a:r>
            <a:endParaRPr lang="pt-B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decisões visuais do projeto ficam centralizadas em variáveis declaradas no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:root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cores, tamanhos, fonte e velocidade de animação. Para mudar o amarelo de destaque ou o raio das bordas, você altera uma linha aqui e o projeto inteiro acompanha.</a:t>
            </a:r>
          </a:p>
        </p:txBody>
      </p:sp>
      <p:sp>
        <p:nvSpPr>
          <p:cNvPr id="7" name="Shape 5"/>
          <p:cNvSpPr/>
          <p:nvPr/>
        </p:nvSpPr>
        <p:spPr>
          <a:xfrm rot="16200000">
            <a:off x="-252325" y="3249064"/>
            <a:ext cx="1461600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291840" cy="981222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5532120" y="1313571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--</a:t>
            </a: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accent</a:t>
            </a:r>
            <a:endParaRPr lang="pt-BR" sz="1100" b="1" noProof="0" dirty="0">
              <a:solidFill>
                <a:srgbClr val="4ADE80"/>
              </a:solidFill>
              <a:latin typeface="Courier New" panose="02070309020205020404" pitchFamily="49" charset="0"/>
              <a:ea typeface="Arial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 de destaque; altere aqui e o projeto inteiro acompanha</a:t>
            </a:r>
            <a:endParaRPr lang="pt-B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5394960" y="2173459"/>
            <a:ext cx="3291840" cy="981222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5532120" y="2435470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32120" y="23380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6080760" y="2264899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1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pt-BR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6080760" y="2557507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de fontes em ordem — o navegador usa a primeira disponível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394960" y="3295359"/>
            <a:ext cx="3291840" cy="981222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5532120" y="3557370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532120" y="34599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3386799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var()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0760" y="3679407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 a variável onde o valor for necessário</a:t>
            </a:r>
            <a:endParaRPr lang="pt-BR" sz="900" noProof="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0E011C36-5EC8-2720-A2BB-82033592CC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5" t="13843" r="5001" b="13338"/>
          <a:stretch>
            <a:fillRect/>
          </a:stretch>
        </p:blipFill>
        <p:spPr>
          <a:xfrm>
            <a:off x="504000" y="2539219"/>
            <a:ext cx="4753413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 Black" pitchFamily="34" charset="-122"/>
                <a:cs typeface="Courier New" panose="02070309020205020404" pitchFamily="49" charset="0"/>
              </a:rPr>
              <a:t>content</a:t>
            </a:r>
            <a:r>
              <a:rPr lang="pt-BR" sz="26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 Black" pitchFamily="34" charset="-122"/>
                <a:cs typeface="Courier New" panose="02070309020205020404" pitchFamily="49" charset="0"/>
              </a:rPr>
              <a:t>-box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b="1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</a:t>
            </a:r>
            <a:r>
              <a:rPr lang="pt-BR" sz="2600" b="1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-box</a:t>
            </a:r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-box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padrão</a:t>
            </a:r>
            <a:endParaRPr lang="pt-B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padding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somado por fora da largura definida. Um elemento com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200px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20px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acaba ocupando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240px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total — o que torna o layout difícil de prever.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Padrão dos navegadores</a:t>
            </a:r>
            <a:endParaRPr lang="pt-B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adicionado por fora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width</a:t>
            </a:r>
            <a:r>
              <a:rPr lang="pt-BR" sz="11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: 200px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pt-BR" sz="11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pt-BR" sz="11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20px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pt-BR" sz="11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240px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4087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Layout imprevisível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 err="1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r>
              <a:rPr lang="pt-BR" sz="900" kern="0" spc="3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-box</a:t>
            </a:r>
            <a:endParaRPr lang="pt-B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reset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contado por dentro da largura. O elemento continua com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200px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total — 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reduz o espaço interno, não o tamanho externo. O layout fica previsível.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 pelo reset com *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93776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contado por dentro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93776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width</a:t>
            </a:r>
            <a:r>
              <a:rPr lang="pt-BR" sz="11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: 200px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pt-BR" sz="11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padding</a:t>
            </a:r>
            <a:r>
              <a:rPr lang="pt-BR" sz="11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: 20px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pt-BR" sz="11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200px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4087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previsível e confiável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440" y="16459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Layout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Flexbox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no projeto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45720" cy="155448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organiza elementos em um eixo — horizontal ou vertical. No projeto ele aparece em dois contextos: no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body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empilhando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footer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que o rodapé fique sempre no final da tela; e no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header-container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posicionando logo,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ações lado a lado com alinhamento e espaçamento precisos.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A625E561-7E0F-15DB-5AF6-22CC3B543D5C}"/>
              </a:ext>
            </a:extLst>
          </p:cNvPr>
          <p:cNvSpPr/>
          <p:nvPr/>
        </p:nvSpPr>
        <p:spPr>
          <a:xfrm>
            <a:off x="2651758" y="3154680"/>
            <a:ext cx="621528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336F0294-5D76-B79A-83AC-26C9B8C19F96}"/>
              </a:ext>
            </a:extLst>
          </p:cNvPr>
          <p:cNvSpPr/>
          <p:nvPr/>
        </p:nvSpPr>
        <p:spPr>
          <a:xfrm>
            <a:off x="2731768" y="31546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flex-direction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: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column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Empilha os filhos verticalmente (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header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main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footer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)</a:t>
            </a: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1A4CB21F-FEE9-E61C-AA65-B53F94108000}"/>
              </a:ext>
            </a:extLst>
          </p:cNvPr>
          <p:cNvSpPr/>
          <p:nvPr/>
        </p:nvSpPr>
        <p:spPr>
          <a:xfrm>
            <a:off x="2651758" y="3497404"/>
            <a:ext cx="6215283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1B9D212C-6630-403A-0B08-F213B4DAA81D}"/>
              </a:ext>
            </a:extLst>
          </p:cNvPr>
          <p:cNvSpPr/>
          <p:nvPr/>
        </p:nvSpPr>
        <p:spPr>
          <a:xfrm>
            <a:off x="2731769" y="3497404"/>
            <a:ext cx="53527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align-items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: center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Alinha os filhos ao centro do eixo transversal</a:t>
            </a: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D48C4BA2-72D2-C9B0-8144-304D89F79D22}"/>
              </a:ext>
            </a:extLst>
          </p:cNvPr>
          <p:cNvSpPr/>
          <p:nvPr/>
        </p:nvSpPr>
        <p:spPr>
          <a:xfrm>
            <a:off x="2651758" y="3840128"/>
            <a:ext cx="621528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2F1E7D5F-C15D-438C-3202-D33053E1E81A}"/>
              </a:ext>
            </a:extLst>
          </p:cNvPr>
          <p:cNvSpPr/>
          <p:nvPr/>
        </p:nvSpPr>
        <p:spPr>
          <a:xfrm>
            <a:off x="2731768" y="3840128"/>
            <a:ext cx="6215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justify-content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: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space-between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Empurra o primeiro e o último filho para as extremidades</a:t>
            </a: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91A1404D-2033-D15D-38BE-3DD6027DEA94}"/>
              </a:ext>
            </a:extLst>
          </p:cNvPr>
          <p:cNvSpPr/>
          <p:nvPr/>
        </p:nvSpPr>
        <p:spPr>
          <a:xfrm>
            <a:off x="2651757" y="4182852"/>
            <a:ext cx="6215283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32BCCD62-2D50-6CE8-C35F-524B7F7F957C}"/>
              </a:ext>
            </a:extLst>
          </p:cNvPr>
          <p:cNvSpPr/>
          <p:nvPr/>
        </p:nvSpPr>
        <p:spPr>
          <a:xfrm>
            <a:off x="2731768" y="4182852"/>
            <a:ext cx="515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flex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: 1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Faz o elemento ocupar todo o espaço disponível no container</a:t>
            </a: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760CEF02-D4D1-34A0-C512-04D02345A63B}"/>
              </a:ext>
            </a:extLst>
          </p:cNvPr>
          <p:cNvSpPr/>
          <p:nvPr/>
        </p:nvSpPr>
        <p:spPr>
          <a:xfrm>
            <a:off x="2651757" y="4525576"/>
            <a:ext cx="6215283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A106C3-BA08-2924-904E-DDFC5AA6D0C1}"/>
              </a:ext>
            </a:extLst>
          </p:cNvPr>
          <p:cNvSpPr/>
          <p:nvPr/>
        </p:nvSpPr>
        <p:spPr>
          <a:xfrm>
            <a:off x="2731768" y="4525576"/>
            <a:ext cx="515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gap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Espaçamento entre os filhos sem precisar de </a:t>
            </a: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margin</a:t>
            </a:r>
            <a:endParaRPr lang="pt-BR" sz="900" noProof="0" dirty="0">
              <a:solidFill>
                <a:srgbClr val="A8A8B3"/>
              </a:solidFill>
              <a:latin typeface="Courier New" pitchFamily="34" charset="0"/>
              <a:cs typeface="Courier New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CB93330-05D1-448B-B40D-1E1F2225A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30" t="13812" r="8049" b="13846"/>
          <a:stretch>
            <a:fillRect/>
          </a:stretch>
        </p:blipFill>
        <p:spPr>
          <a:xfrm>
            <a:off x="504000" y="2487601"/>
            <a:ext cx="3451479" cy="173640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Toast</a:t>
            </a:r>
            <a:endParaRPr lang="pt-B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toast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 notificação de confirmação da página. Ele usa position: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fixed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flutuar sobre o conteúdo sem se mover com o scroll. Começa invisível e deslocado — quando o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adiciona .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transition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anima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opacity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simultaneamente, criando o efeito de entrada.</a:t>
            </a:r>
          </a:p>
        </p:txBody>
      </p:sp>
      <p:sp>
        <p:nvSpPr>
          <p:cNvPr id="7" name="Shape 5"/>
          <p:cNvSpPr/>
          <p:nvPr/>
        </p:nvSpPr>
        <p:spPr>
          <a:xfrm rot="16200000">
            <a:off x="-390206" y="3331402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position: </a:t>
            </a: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fixed</a:t>
            </a:r>
            <a:endParaRPr lang="pt-BR" sz="1100" b="1" noProof="0" dirty="0">
              <a:solidFill>
                <a:srgbClr val="4ADE80"/>
              </a:solidFill>
              <a:latin typeface="Courier New" panose="02070309020205020404" pitchFamily="49" charset="0"/>
              <a:ea typeface="Arial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Fixa na tela; não se move com o scroll da página</a:t>
            </a:r>
            <a:endParaRPr lang="pt-B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z-index: 9999</a:t>
            </a:r>
          </a:p>
        </p:txBody>
      </p:sp>
      <p:sp>
        <p:nvSpPr>
          <p:cNvPr id="18" name="Text 16"/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Garante que apareça por cima de todos os outros elementos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transition</a:t>
            </a:r>
            <a:endParaRPr lang="pt-BR" sz="1100" b="1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0760" y="3538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transform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quando .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mostrar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é adicionada pelo JS</a:t>
            </a:r>
            <a:endParaRPr lang="pt-BR" sz="900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4FD80-2959-514D-881D-2D3895CA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CA5C9A-BC95-840A-449D-56D83C590D55}"/>
              </a:ext>
            </a:extLst>
          </p:cNvPr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CFAB58-A9D7-3FC7-BA8C-2C4F5015235A}"/>
              </a:ext>
            </a:extLst>
          </p:cNvPr>
          <p:cNvSpPr/>
          <p:nvPr/>
        </p:nvSpPr>
        <p:spPr>
          <a:xfrm>
            <a:off x="594359" y="566928"/>
            <a:ext cx="56727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Visibilidade e responsividade</a:t>
            </a:r>
            <a:endParaRPr lang="pt-BR" sz="24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38F4C3-2340-0860-8D8D-ED7B6A836852}"/>
              </a:ext>
            </a:extLst>
          </p:cNvPr>
          <p:cNvSpPr/>
          <p:nvPr/>
        </p:nvSpPr>
        <p:spPr>
          <a:xfrm>
            <a:off x="457200" y="123444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classe .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oculto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display: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important</a:t>
            </a:r>
            <a:r>
              <a:rPr lang="pt-BR" sz="1200" dirty="0">
                <a:solidFill>
                  <a:srgbClr val="A8A8B3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esconder qualquer elemento independentemente de outros estilos — é ela que o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vai alternar no carrinho. A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 query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 o header para telas menores: oculta o menu de navegação e ativa o botão hamburguer, que começa com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display: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padrão.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BC40D5-9E88-0456-AD1D-FE9E740BC21D}"/>
              </a:ext>
            </a:extLst>
          </p:cNvPr>
          <p:cNvSpPr/>
          <p:nvPr/>
        </p:nvSpPr>
        <p:spPr>
          <a:xfrm rot="16200000">
            <a:off x="-390206" y="3595171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7F88F7-01B2-B34D-2FDC-F87390A8F6C2}"/>
              </a:ext>
            </a:extLst>
          </p:cNvPr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E3BA2A6-A9F8-B7E6-6010-F310B51B656C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3F76DF4-B3B6-5797-9CB8-030CF0B1B29E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6B2FA3E-570F-BC61-681F-F9B527F58BCC}"/>
              </a:ext>
            </a:extLst>
          </p:cNvPr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!</a:t>
            </a: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important</a:t>
            </a:r>
            <a:endParaRPr lang="pt-BR" sz="1100" b="1" noProof="0" dirty="0">
              <a:solidFill>
                <a:srgbClr val="4ADE80"/>
              </a:solidFill>
              <a:latin typeface="Courier New" panose="02070309020205020404" pitchFamily="49" charset="0"/>
              <a:ea typeface="Arial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20FF41E-D25C-6A80-5171-27E976A70C6E}"/>
              </a:ext>
            </a:extLst>
          </p:cNvPr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Garante que a regra prevaleça sobre qualquer outro estilo</a:t>
            </a:r>
            <a:endParaRPr lang="pt-BR" sz="9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7BB0E2-1BDC-C707-DAFF-F4431C5A4738}"/>
              </a:ext>
            </a:extLst>
          </p:cNvPr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8C8F759-3095-8553-32F1-CF35E3E1F339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DA28BAA-43CB-516E-FDD2-0CB6F86A5DC7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64BD460-E472-FE0E-F609-08D7B9B7CFFF}"/>
              </a:ext>
            </a:extLst>
          </p:cNvPr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@media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3C3A984-84C0-7047-9ED3-C47A6743D60B}"/>
              </a:ext>
            </a:extLst>
          </p:cNvPr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 estilos apenas quando a condição de tela for verdadeira</a:t>
            </a:r>
            <a:endParaRPr lang="pt-BR" sz="9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8762989-A36F-6949-1B3A-B6471D175698}"/>
              </a:ext>
            </a:extLst>
          </p:cNvPr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51D7AC5-D85E-8BCB-8703-7D35A12402F3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9E0244-58FC-A3D7-BB1A-F3449ED51B36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EE6BEE2-A796-6F38-60B4-73CF3F539BFB}"/>
              </a:ext>
            </a:extLst>
          </p:cNvPr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max-width</a:t>
            </a: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: 700px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9F08369-1129-0173-42E2-FE31BF9CB4BE}"/>
              </a:ext>
            </a:extLst>
          </p:cNvPr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Abaixo desse valor o layout reorganiza o header</a:t>
            </a:r>
            <a:endParaRPr lang="pt-BR" sz="900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793D1FA-1E61-012F-2B60-A21E036C1A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16" t="14907" r="8010" b="15076"/>
          <a:stretch>
            <a:fillRect/>
          </a:stretch>
        </p:blipFill>
        <p:spPr>
          <a:xfrm>
            <a:off x="504001" y="2750400"/>
            <a:ext cx="3688172" cy="174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48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pt-B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016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6692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CSS</a:t>
            </a:r>
            <a:endParaRPr lang="pt-B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decisões visuais centralizadas em 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acessadas com 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var()</a:t>
            </a:r>
            <a:endParaRPr lang="pt-BR" sz="900" noProof="0" dirty="0">
              <a:solidFill>
                <a:srgbClr val="4ADE8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495604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4956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e </a:t>
            </a: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box-</a:t>
            </a:r>
            <a:r>
              <a:rPr lang="pt-BR" sz="12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sizing</a:t>
            </a:r>
            <a:endParaRPr lang="pt-BR" sz="12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383280" cy="432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zera estilos do navegador;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contado por dentro com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-box</a:t>
            </a:r>
            <a:endParaRPr lang="pt-BR" sz="900" noProof="0" dirty="0">
              <a:solidFill>
                <a:srgbClr val="4ADE8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053656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566928" y="2209104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2209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145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1051560" y="2474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alinha e distribui elementos em eixo horizontal ou vertical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2053656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4956048" y="2209104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4956048" y="2209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145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position: </a:t>
            </a:r>
            <a:r>
              <a:rPr lang="pt-BR" sz="12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fixed</a:t>
            </a: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 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z-index</a:t>
            </a:r>
            <a:endParaRPr lang="pt-BR" sz="12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40680" y="2474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fixa o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toast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 tela e garante que apareça por cima</a:t>
            </a:r>
            <a:endParaRPr lang="pt-BR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3112704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566928" y="3268152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268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3204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oculto</a:t>
            </a:r>
            <a:endParaRPr lang="pt-BR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1051560" y="3533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alternada pelo </a:t>
            </a: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3112704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4956048" y="3268152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956048" y="3268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3204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query</a:t>
            </a:r>
            <a:endParaRPr lang="pt-BR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5440680" y="3533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reorganiza o header em telas menores com </a:t>
            </a:r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700px</a:t>
            </a:r>
            <a:endParaRPr lang="pt-BR" sz="900" noProof="0" dirty="0">
              <a:solidFill>
                <a:srgbClr val="4ADE80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639</Words>
  <Application>Microsoft Office PowerPoint</Application>
  <PresentationFormat>Apresentação na tela (16:9)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Vito Vito</dc:creator>
  <cp:lastModifiedBy>Vito Vito</cp:lastModifiedBy>
  <cp:revision>23</cp:revision>
  <dcterms:created xsi:type="dcterms:W3CDTF">2026-05-09T09:39:54Z</dcterms:created>
  <dcterms:modified xsi:type="dcterms:W3CDTF">2026-06-07T22:54:04Z</dcterms:modified>
</cp:coreProperties>
</file>