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65" r:id="rId5"/>
    <p:sldId id="266" r:id="rId6"/>
    <p:sldId id="262" r:id="rId7"/>
    <p:sldId id="263" r:id="rId8"/>
    <p:sldId id="264" r:id="rId9"/>
    <p:sldId id="267" r:id="rId10"/>
    <p:sldId id="268" r:id="rId11"/>
    <p:sldId id="26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ECFB"/>
    <a:srgbClr val="8B0768"/>
    <a:srgbClr val="836496"/>
    <a:srgbClr val="F00A93"/>
    <a:srgbClr val="FCD2E4"/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gor Silva" userId="4900a7dd34babdab" providerId="LiveId" clId="{82A1FFE8-EE89-4F3F-9B87-6220F31977FE}"/>
    <pc:docChg chg="modSld">
      <pc:chgData name="Higor Silva" userId="4900a7dd34babdab" providerId="LiveId" clId="{82A1FFE8-EE89-4F3F-9B87-6220F31977FE}" dt="2026-06-08T14:47:49.945" v="1" actId="20577"/>
      <pc:docMkLst>
        <pc:docMk/>
      </pc:docMkLst>
      <pc:sldChg chg="modSp mod">
        <pc:chgData name="Higor Silva" userId="4900a7dd34babdab" providerId="LiveId" clId="{82A1FFE8-EE89-4F3F-9B87-6220F31977FE}" dt="2026-06-08T14:47:49.945" v="1" actId="20577"/>
        <pc:sldMkLst>
          <pc:docMk/>
          <pc:sldMk cId="0" sldId="256"/>
        </pc:sldMkLst>
        <pc:spChg chg="mod">
          <ac:chgData name="Higor Silva" userId="4900a7dd34babdab" providerId="LiveId" clId="{82A1FFE8-EE89-4F3F-9B87-6220F31977FE}" dt="2026-06-08T14:47:49.945" v="1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98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93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9AAE-DAE2-E356-4247-FF5709131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A2437-3373-6C0E-7A56-55C6ECA0D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F06A0-AB38-6537-2096-2F6DAEE37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77288-C66A-A51D-0F63-16C2DF8CC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34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C670-D1C3-A649-613F-1573B333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CB4A7-F576-B8C7-2EE5-412ADB045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5CBAF-F7DE-181D-D07B-47F3C7A1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C7B2-D28B-B8FB-3361-A396EC300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33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B6D4-6C28-2F16-16B4-C0F6214F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5BB24-DF0D-BDD1-09AD-87685F450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2B6F2-3E95-9A3F-3858-E4E9C1344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69C97-77C7-5A0D-E8A6-DB9FE906E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09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C670-D1C3-A649-613F-1573B333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CB4A7-F576-B8C7-2EE5-412ADB045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5CBAF-F7DE-181D-D07B-47F3C7A1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C7B2-D28B-B8FB-3361-A396EC300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31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43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 </a:t>
            </a: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CSS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Introdução ao </a:t>
            </a:r>
            <a:r>
              <a:rPr lang="pt-BR" sz="4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Toda Página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CSS?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45720" cy="199912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significa </a:t>
            </a:r>
            <a:r>
              <a:rPr lang="pt-BR" sz="13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Style Sheets </a:t>
            </a: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em português, Folhas de Estilo em Cascata.</a:t>
            </a:r>
          </a:p>
          <a:p>
            <a:pPr marL="0" indent="0">
              <a:buNone/>
            </a:pPr>
            <a:endParaRPr lang="pt-BR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HTML define a estrutura da página, o CSS define a aparência. É o CSS que controla cores, tamanhos, espaçamentos, fontes, posicionamento e animações.</a:t>
            </a:r>
          </a:p>
          <a:p>
            <a:pPr marL="0" indent="0">
              <a:buNone/>
            </a:pPr>
            <a:endParaRPr lang="pt-BR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Voltando à analogia da casa: se o HTML é a estrutura — paredes, portas e janelas — o CSS é a pintura, o revestimento e a decoração. O mesmo HTML pode ter aparências completamente diferentes dependendo do CSS aplicado.</a:t>
            </a:r>
            <a:endParaRPr lang="en-US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3576717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2651760" y="3566669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Classes</a:t>
            </a:r>
          </a:p>
        </p:txBody>
      </p:sp>
      <p:sp>
        <p:nvSpPr>
          <p:cNvPr id="12" name="Shape 10"/>
          <p:cNvSpPr/>
          <p:nvPr/>
        </p:nvSpPr>
        <p:spPr>
          <a:xfrm>
            <a:off x="3858768" y="3576717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3858768" y="3566669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Arquivos</a:t>
            </a:r>
          </a:p>
        </p:txBody>
      </p:sp>
      <p:sp>
        <p:nvSpPr>
          <p:cNvPr id="14" name="Shape 12"/>
          <p:cNvSpPr/>
          <p:nvPr/>
        </p:nvSpPr>
        <p:spPr>
          <a:xfrm>
            <a:off x="5065776" y="3576717"/>
            <a:ext cx="109800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5065775" y="3566669"/>
            <a:ext cx="10979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Estrutura VS Estilo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ESTRUTURA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084831"/>
            <a:ext cx="3657600" cy="939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como a base da casa: paredes, vigas, portas e janelas. Define onde cada elemento deve estar localizado.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310686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Semântica;</a:t>
            </a:r>
            <a:endParaRPr lang="pt-B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50919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Formulários e Interatividade;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91153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Multimídia e Incorporação;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431387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Listas e Hierarquia de Texto.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939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como a decoração: pintura, revestimento, mobiliário e iluminação. Define como cada elemento deve se parecer.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937760" y="310686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Seletores e Especificidade;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350919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Caixa (Box Model);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391153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Flexbox;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937760" y="431387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Responsivo.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CONEXÃO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351692" y="548640"/>
            <a:ext cx="83351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Conectando ao Estilo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325880"/>
            <a:ext cx="8380828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333500"/>
            <a:ext cx="838082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51692" y="1362900"/>
            <a:ext cx="8380827" cy="28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kern="0" spc="300" noProof="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552659" y="1654620"/>
            <a:ext cx="8042701" cy="13699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forma profissional e organizada de estilizar é através de um arquivo externo, comumente o “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tyles.css”.</a:t>
            </a:r>
          </a:p>
          <a:p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Inserimos esta linha dentro do </a:t>
            </a:r>
            <a:r>
              <a:rPr lang="pt-BR" sz="1400" noProof="0" dirty="0">
                <a:solidFill>
                  <a:srgbClr val="61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&lt;head&gt; 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seu documento HTML: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078676F-662D-4338-AFD6-87BBC65B91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813539"/>
            <a:ext cx="5416062" cy="6631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712EAB7-836D-44EE-AF39-03D64994FBB0}"/>
              </a:ext>
            </a:extLst>
          </p:cNvPr>
          <p:cNvSpPr txBox="1"/>
          <p:nvPr/>
        </p:nvSpPr>
        <p:spPr>
          <a:xfrm>
            <a:off x="659172" y="2975857"/>
            <a:ext cx="5416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&lt;link rel="stylesheet" href="style.css"&gt;</a:t>
            </a:r>
            <a:endParaRPr lang="pt-BR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0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692" y="548640"/>
            <a:ext cx="83351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Gramática do CSS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325880"/>
            <a:ext cx="8380828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333500"/>
            <a:ext cx="838082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51692" y="1362900"/>
            <a:ext cx="8380827" cy="28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kern="0" spc="300" noProof="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552659" y="1654620"/>
            <a:ext cx="8042701" cy="13699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Seletor: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Indica qual elemento HTML será afetado (ex: </a:t>
            </a:r>
            <a:r>
              <a:rPr lang="pt-BR" sz="1400" noProof="0" dirty="0">
                <a:solidFill>
                  <a:srgbClr val="61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Propriedade: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atributo que desejamos alterar (ex: </a:t>
            </a:r>
            <a:r>
              <a:rPr lang="pt-BR" sz="1400" noProof="0" dirty="0">
                <a:solidFill>
                  <a:srgbClr val="61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Valor: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configuração que será aplicada (ex: </a:t>
            </a:r>
            <a:r>
              <a:rPr lang="pt-BR" sz="1400" noProof="0" dirty="0">
                <a:solidFill>
                  <a:srgbClr val="61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078676F-662D-4338-AFD6-87BBC65B91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8784" y="2813539"/>
            <a:ext cx="5416062" cy="136994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712EAB7-836D-44EE-AF39-03D64994FBB0}"/>
              </a:ext>
            </a:extLst>
          </p:cNvPr>
          <p:cNvSpPr txBox="1"/>
          <p:nvPr/>
        </p:nvSpPr>
        <p:spPr>
          <a:xfrm>
            <a:off x="608928" y="3062022"/>
            <a:ext cx="53859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s</a:t>
            </a:r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eletor{</a:t>
            </a:r>
          </a:p>
          <a:p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pt-BR" sz="1600" b="0" i="0" dirty="0">
                <a:solidFill>
                  <a:srgbClr val="8B0768"/>
                </a:solidFill>
                <a:effectLst/>
                <a:latin typeface="Courier New" panose="02070309020205020404" pitchFamily="49" charset="0"/>
              </a:rPr>
              <a:t>propriedade</a:t>
            </a:r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: valor;</a:t>
            </a:r>
          </a:p>
          <a:p>
            <a:r>
              <a:rPr lang="pt-BR" sz="1600" b="0" i="0" dirty="0">
                <a:solidFill>
                  <a:srgbClr val="8B0768"/>
                </a:solidFill>
                <a:effectLst/>
                <a:latin typeface="Courier New" panose="02070309020205020404" pitchFamily="49" charset="0"/>
              </a:rPr>
              <a:t>  propriedade2</a:t>
            </a:r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: valor2;  </a:t>
            </a:r>
          </a:p>
          <a:p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}</a:t>
            </a:r>
            <a:endParaRPr lang="pt-BR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070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E9191-75D4-A0CA-7462-50E6B057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0EE3FA-0B46-AAA7-7902-2B06E2040C76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716985-BAEB-7ED1-BBD2-364E04683E1D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1710C5-216D-45C9-BAB2-681860D3E505}"/>
              </a:ext>
            </a:extLst>
          </p:cNvPr>
          <p:cNvSpPr/>
          <p:nvPr/>
        </p:nvSpPr>
        <p:spPr>
          <a:xfrm>
            <a:off x="0" y="16459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Seletores</a:t>
            </a:r>
            <a:endParaRPr lang="pt-BR" sz="30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92A1A4-DA92-9AC8-B223-2B385D5E8305}"/>
              </a:ext>
            </a:extLst>
          </p:cNvPr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Seletores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503BDE-9711-BB9E-6C35-85D8D64F0779}"/>
              </a:ext>
            </a:extLst>
          </p:cNvPr>
          <p:cNvSpPr/>
          <p:nvPr/>
        </p:nvSpPr>
        <p:spPr>
          <a:xfrm>
            <a:off x="2642347" y="1474469"/>
            <a:ext cx="45719" cy="1713231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790E2C-D399-855F-F834-F85F0314B947}"/>
              </a:ext>
            </a:extLst>
          </p:cNvPr>
          <p:cNvSpPr/>
          <p:nvPr/>
        </p:nvSpPr>
        <p:spPr>
          <a:xfrm>
            <a:off x="2689147" y="1737787"/>
            <a:ext cx="5943600" cy="35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D1D1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Estiliza todos os elementos do tipo. Ex: 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0F2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 { ... }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pt-BR" sz="13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769A8E3-81BC-8062-0FE0-FE51E416C13C}"/>
              </a:ext>
            </a:extLst>
          </p:cNvPr>
          <p:cNvSpPr/>
          <p:nvPr/>
        </p:nvSpPr>
        <p:spPr>
          <a:xfrm>
            <a:off x="2761486" y="1474470"/>
            <a:ext cx="1265899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F12775-B74A-D6AD-2B97-BE23CBAA69C5}"/>
              </a:ext>
            </a:extLst>
          </p:cNvPr>
          <p:cNvSpPr/>
          <p:nvPr/>
        </p:nvSpPr>
        <p:spPr>
          <a:xfrm>
            <a:off x="2761486" y="1474470"/>
            <a:ext cx="12658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000" b="1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TAG</a:t>
            </a:r>
            <a:endParaRPr lang="pt-BR" sz="900" b="1" dirty="0">
              <a:solidFill>
                <a:srgbClr val="A8A8B3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03B2D5D-9129-4E19-89FC-67B10B8C0C10}"/>
              </a:ext>
            </a:extLst>
          </p:cNvPr>
          <p:cNvSpPr/>
          <p:nvPr/>
        </p:nvSpPr>
        <p:spPr>
          <a:xfrm>
            <a:off x="2689147" y="2359579"/>
            <a:ext cx="5943600" cy="35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D1D1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Usado para múltiplos elementos. No Css usa 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0F2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.nome 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pt-BR" sz="13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2BE42D6-6664-435E-A9A9-BCF5D1E0C62E}"/>
              </a:ext>
            </a:extLst>
          </p:cNvPr>
          <p:cNvSpPr/>
          <p:nvPr/>
        </p:nvSpPr>
        <p:spPr>
          <a:xfrm>
            <a:off x="2761486" y="2096262"/>
            <a:ext cx="1265899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D5DD65-24BF-4119-BC2E-7E24412342AD}"/>
              </a:ext>
            </a:extLst>
          </p:cNvPr>
          <p:cNvSpPr/>
          <p:nvPr/>
        </p:nvSpPr>
        <p:spPr>
          <a:xfrm>
            <a:off x="2761486" y="2096262"/>
            <a:ext cx="12658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000" b="1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CLASSE</a:t>
            </a:r>
            <a:endParaRPr lang="pt-BR" sz="900" b="1" dirty="0">
              <a:solidFill>
                <a:srgbClr val="A8A8B3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3A316551-EF25-4A87-8C8D-145B6B869725}"/>
              </a:ext>
            </a:extLst>
          </p:cNvPr>
          <p:cNvSpPr/>
          <p:nvPr/>
        </p:nvSpPr>
        <p:spPr>
          <a:xfrm>
            <a:off x="2689147" y="2965394"/>
            <a:ext cx="5943600" cy="35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D1D1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Único por página. No Css usa </a:t>
            </a:r>
            <a:r>
              <a:rPr lang="pt-BR" altLang="pt-BR" sz="1300" dirty="0">
                <a:solidFill>
                  <a:srgbClr val="00F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0F2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nome 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pt-BR" sz="13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84BDEE6F-33BA-4984-9499-BE58ED2CD0AF}"/>
              </a:ext>
            </a:extLst>
          </p:cNvPr>
          <p:cNvSpPr/>
          <p:nvPr/>
        </p:nvSpPr>
        <p:spPr>
          <a:xfrm>
            <a:off x="2761486" y="2702077"/>
            <a:ext cx="1265899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0CD914E-7BBB-4DEA-85C9-35750FE5A272}"/>
              </a:ext>
            </a:extLst>
          </p:cNvPr>
          <p:cNvSpPr/>
          <p:nvPr/>
        </p:nvSpPr>
        <p:spPr>
          <a:xfrm>
            <a:off x="2761486" y="2702077"/>
            <a:ext cx="12658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000" b="1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ID</a:t>
            </a:r>
            <a:endParaRPr lang="pt-BR" sz="900" b="1" dirty="0">
              <a:solidFill>
                <a:srgbClr val="A8A8B3"/>
              </a:solidFill>
              <a:latin typeface="Courier New" pitchFamily="34" charset="0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9444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0139D-4316-8689-BF13-B153773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2F4D69-FD79-3878-A9FB-2F693EE8B086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AF9ED0-BB63-69D9-489E-2F613247ECB4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C27C0B-4544-5434-E99C-52DA6128D127}"/>
              </a:ext>
            </a:extLst>
          </p:cNvPr>
          <p:cNvSpPr/>
          <p:nvPr/>
        </p:nvSpPr>
        <p:spPr>
          <a:xfrm>
            <a:off x="0" y="1645920"/>
            <a:ext cx="2481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 Model</a:t>
            </a:r>
            <a:endParaRPr lang="pt-BR" sz="30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0153BF-D1E1-F56E-1A28-68759F7E8F9C}"/>
              </a:ext>
            </a:extLst>
          </p:cNvPr>
          <p:cNvSpPr/>
          <p:nvPr/>
        </p:nvSpPr>
        <p:spPr>
          <a:xfrm>
            <a:off x="2956560" y="516255"/>
            <a:ext cx="43132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Anatomia do Elemento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17E69C-2518-A202-8A64-D3D6BBED6CB8}"/>
              </a:ext>
            </a:extLst>
          </p:cNvPr>
          <p:cNvSpPr/>
          <p:nvPr/>
        </p:nvSpPr>
        <p:spPr>
          <a:xfrm flipH="1">
            <a:off x="2996354" y="1158240"/>
            <a:ext cx="45719" cy="3533951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144C76-7115-10B5-0FE9-A5553005B623}"/>
              </a:ext>
            </a:extLst>
          </p:cNvPr>
          <p:cNvSpPr/>
          <p:nvPr/>
        </p:nvSpPr>
        <p:spPr>
          <a:xfrm>
            <a:off x="3121152" y="1083944"/>
            <a:ext cx="4184523" cy="1299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Conteúdo: 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 ou imagem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Padding: 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interno entre conteúdo e borda.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Border: 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que envolve a caixa.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externo entre elementos.</a:t>
            </a:r>
          </a:p>
          <a:p>
            <a:pPr marL="0" indent="0">
              <a:buNone/>
            </a:pPr>
            <a:endParaRPr lang="pt-BR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abaixo:</a:t>
            </a:r>
          </a:p>
          <a:p>
            <a:pPr marL="0" indent="0">
              <a:buNone/>
            </a:pPr>
            <a:endParaRPr lang="pt-BR" sz="13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A6A233-80E3-4A5C-8DCC-367DB63F4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490" y="2468880"/>
            <a:ext cx="3667835" cy="22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2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5C0AB-B5F1-7863-3471-0C385502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85D49-AF2D-4336-0772-099F6B8A7081}"/>
              </a:ext>
            </a:extLst>
          </p:cNvPr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BOAS PRÁTICAS</a:t>
            </a:r>
            <a:endParaRPr lang="pt-BR" sz="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35BD29-0917-2836-0DCE-714772673210}"/>
              </a:ext>
            </a:extLst>
          </p:cNvPr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Variáveis e Reuso</a:t>
            </a:r>
            <a:endParaRPr lang="pt-BR" sz="2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39621B-1F9F-1284-8DB3-006936BAF893}"/>
              </a:ext>
            </a:extLst>
          </p:cNvPr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66506A-9B1D-9FC1-8F76-D51E8B8C27FD}"/>
              </a:ext>
            </a:extLst>
          </p:cNvPr>
          <p:cNvSpPr/>
          <p:nvPr/>
        </p:nvSpPr>
        <p:spPr>
          <a:xfrm>
            <a:off x="411480" y="1325879"/>
            <a:ext cx="3931920" cy="3636646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399835-C448-ACBA-48EA-FD19D352B685}"/>
              </a:ext>
            </a:extLst>
          </p:cNvPr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AFC111-CD4D-D2CC-B7B5-142E1872FC99}"/>
              </a:ext>
            </a:extLst>
          </p:cNvPr>
          <p:cNvSpPr/>
          <p:nvPr/>
        </p:nvSpPr>
        <p:spPr>
          <a:xfrm>
            <a:off x="520065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DECLARAÇÃO</a:t>
            </a:r>
            <a:endParaRPr lang="pt-BR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F9A764-F7A5-CB6F-93BA-8251F67911B4}"/>
              </a:ext>
            </a:extLst>
          </p:cNvPr>
          <p:cNvSpPr/>
          <p:nvPr/>
        </p:nvSpPr>
        <p:spPr>
          <a:xfrm>
            <a:off x="520065" y="164130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:root</a:t>
            </a:r>
            <a:endParaRPr lang="pt-BR" sz="16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5A0622-3F00-9227-EDE1-138B4197ECAE}"/>
              </a:ext>
            </a:extLst>
          </p:cNvPr>
          <p:cNvSpPr/>
          <p:nvPr/>
        </p:nvSpPr>
        <p:spPr>
          <a:xfrm>
            <a:off x="520065" y="1960495"/>
            <a:ext cx="3657600" cy="436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Armazenamos valores repetidos em um lugar centralizado para facilitar a manutenção.</a:t>
            </a:r>
            <a:endParaRPr lang="pt-BR" sz="12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CC1733-9AD7-A472-203C-173EFC0FB778}"/>
              </a:ext>
            </a:extLst>
          </p:cNvPr>
          <p:cNvSpPr/>
          <p:nvPr/>
        </p:nvSpPr>
        <p:spPr>
          <a:xfrm>
            <a:off x="548640" y="3090485"/>
            <a:ext cx="3657600" cy="57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b="1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Escopo Global: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Permite declarar variáveis no nível mais alto do documento, tornando-as acessíveis para qualquer elemento da página.</a:t>
            </a:r>
            <a:endParaRPr lang="pt-BR" sz="1100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1DBBDA4-B559-7EDB-B009-8497E395A1F6}"/>
              </a:ext>
            </a:extLst>
          </p:cNvPr>
          <p:cNvSpPr/>
          <p:nvPr/>
        </p:nvSpPr>
        <p:spPr>
          <a:xfrm>
            <a:off x="548640" y="3802504"/>
            <a:ext cx="3657600" cy="712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Especificidade: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Garante que variáveis ou estilos básicos declarados ali prevaleçam sobre regras comuns, facilitando a centralização do seu sistema de design.</a:t>
            </a:r>
            <a:endParaRPr lang="pt-BR" sz="11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BDBE201-2386-56DB-C9C1-1EEE938387F5}"/>
              </a:ext>
            </a:extLst>
          </p:cNvPr>
          <p:cNvSpPr/>
          <p:nvPr/>
        </p:nvSpPr>
        <p:spPr>
          <a:xfrm>
            <a:off x="4800600" y="1325879"/>
            <a:ext cx="3931920" cy="3636645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DFFF30A-BE85-C490-FA34-329C28F86011}"/>
              </a:ext>
            </a:extLst>
          </p:cNvPr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688B785-0D59-A7EB-FFEF-4B3899302845}"/>
              </a:ext>
            </a:extLst>
          </p:cNvPr>
          <p:cNvSpPr/>
          <p:nvPr/>
        </p:nvSpPr>
        <p:spPr>
          <a:xfrm>
            <a:off x="48996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APLICAÇÃO</a:t>
            </a:r>
            <a:endParaRPr lang="pt-BR" sz="9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6FF3272-5739-75C9-DF9A-D5EC23016218}"/>
              </a:ext>
            </a:extLst>
          </p:cNvPr>
          <p:cNvSpPr/>
          <p:nvPr/>
        </p:nvSpPr>
        <p:spPr>
          <a:xfrm>
            <a:off x="4899660" y="164130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Var( )</a:t>
            </a:r>
            <a:endParaRPr lang="pt-BR" sz="16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317A0A5-0C1D-6C44-2921-D394397F31CC}"/>
              </a:ext>
            </a:extLst>
          </p:cNvPr>
          <p:cNvSpPr/>
          <p:nvPr/>
        </p:nvSpPr>
        <p:spPr>
          <a:xfrm>
            <a:off x="4899660" y="2014417"/>
            <a:ext cx="3657600" cy="454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usar a variável, chamamos a função var(). Isso garante consistência visual.</a:t>
            </a:r>
          </a:p>
          <a:p>
            <a:endParaRPr lang="pt-BR" sz="12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6F5F573-20AF-2B0D-F9CE-EDC09408D1D7}"/>
              </a:ext>
            </a:extLst>
          </p:cNvPr>
          <p:cNvSpPr/>
          <p:nvPr/>
        </p:nvSpPr>
        <p:spPr>
          <a:xfrm>
            <a:off x="4937760" y="3070994"/>
            <a:ext cx="3657600" cy="800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Centralizada: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Permite alterar um valor (como a cor primária de um site) em um único lugar, atualizando automaticamente todos os elementos que utilizam o var() correspondente.</a:t>
            </a:r>
          </a:p>
          <a:p>
            <a:pPr marL="0" indent="0">
              <a:buNone/>
            </a:pP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4BF19A9-DE92-0FDE-34BF-602FF9D95945}"/>
              </a:ext>
            </a:extLst>
          </p:cNvPr>
          <p:cNvSpPr/>
          <p:nvPr/>
        </p:nvSpPr>
        <p:spPr>
          <a:xfrm>
            <a:off x="4937760" y="3840480"/>
            <a:ext cx="3657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100" noProof="0" dirty="0">
                <a:solidFill>
                  <a:srgbClr val="5B8DE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→  </a:t>
            </a:r>
            <a:r>
              <a:rPr lang="pt-BR" sz="1100" b="1" noProof="0" dirty="0">
                <a:solidFill>
                  <a:srgbClr val="A8A8B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Valores de Fallback (Alternativos): </a:t>
            </a:r>
            <a:r>
              <a:rPr lang="pt-BR" altLang="pt-BR" sz="11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Oferece a possibilidade de definir um valor de segurança dentro da própria função (</a:t>
            </a:r>
            <a:r>
              <a:rPr lang="pt-BR" altLang="pt-BR" sz="1100" b="1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ex</a:t>
            </a:r>
            <a:r>
              <a:rPr lang="pt-BR" altLang="pt-BR" sz="11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pt-BR" altLang="pt-BR" sz="1100" i="1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var(--cor, #fff)</a:t>
            </a:r>
            <a:r>
              <a:rPr lang="pt-BR" altLang="pt-BR" sz="11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), que o navegador usará caso a variável principal não seja encontrada ou seja inválida. </a:t>
            </a:r>
          </a:p>
          <a:p>
            <a:pPr marL="0" indent="0">
              <a:buNone/>
            </a:pPr>
            <a:endParaRPr lang="pt-BR" sz="11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11B53FB-F347-4B5B-8A7B-73E9570C9E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937760" y="2394345"/>
            <a:ext cx="3531870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2C10039-76B8-4B24-817E-B99F6C821047}"/>
              </a:ext>
            </a:extLst>
          </p:cNvPr>
          <p:cNvSpPr txBox="1"/>
          <p:nvPr/>
        </p:nvSpPr>
        <p:spPr>
          <a:xfrm>
            <a:off x="4937760" y="2501065"/>
            <a:ext cx="3531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color: var(--cor-primaria);</a:t>
            </a:r>
            <a:endParaRPr lang="pt-BR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D32852B-4C8C-4BAC-9E16-0133E05BEB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37210" y="2403870"/>
            <a:ext cx="3531870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F1FFB52-37F1-4922-B86C-111DD959E3A9}"/>
              </a:ext>
            </a:extLst>
          </p:cNvPr>
          <p:cNvSpPr txBox="1"/>
          <p:nvPr/>
        </p:nvSpPr>
        <p:spPr>
          <a:xfrm>
            <a:off x="537210" y="2510590"/>
            <a:ext cx="3531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--cor-primaria: #ffcc00;</a:t>
            </a:r>
          </a:p>
        </p:txBody>
      </p:sp>
    </p:spTree>
    <p:extLst>
      <p:ext uri="{BB962C8B-B14F-4D97-AF65-F5344CB8AC3E}">
        <p14:creationId xmlns:p14="http://schemas.microsoft.com/office/powerpoint/2010/main" val="373310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0139D-4316-8689-BF13-B153773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2F4D69-FD79-3878-A9FB-2F693EE8B086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AF9ED0-BB63-69D9-489E-2F613247ECB4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C27C0B-4544-5434-E99C-52DA6128D127}"/>
              </a:ext>
            </a:extLst>
          </p:cNvPr>
          <p:cNvSpPr/>
          <p:nvPr/>
        </p:nvSpPr>
        <p:spPr>
          <a:xfrm>
            <a:off x="0" y="1645920"/>
            <a:ext cx="2481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Unidades</a:t>
            </a:r>
          </a:p>
          <a:p>
            <a:pPr marL="0" indent="0" algn="ctr">
              <a:buNone/>
            </a:pPr>
            <a:r>
              <a:rPr lang="pt-BR" sz="3000" b="1" dirty="0">
                <a:solidFill>
                  <a:srgbClr val="4ADE80"/>
                </a:solidFill>
                <a:latin typeface="Arial Black" pitchFamily="34" charset="0"/>
              </a:rPr>
              <a:t>E</a:t>
            </a:r>
          </a:p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</a:rPr>
              <a:t>Formatos</a:t>
            </a:r>
            <a:endParaRPr lang="pt-BR" sz="30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17E69C-2518-A202-8A64-D3D6BBED6CB8}"/>
              </a:ext>
            </a:extLst>
          </p:cNvPr>
          <p:cNvSpPr/>
          <p:nvPr/>
        </p:nvSpPr>
        <p:spPr>
          <a:xfrm flipH="1">
            <a:off x="2662977" y="1186815"/>
            <a:ext cx="45719" cy="2899485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144C76-7115-10B5-0FE9-A5553005B623}"/>
              </a:ext>
            </a:extLst>
          </p:cNvPr>
          <p:cNvSpPr/>
          <p:nvPr/>
        </p:nvSpPr>
        <p:spPr>
          <a:xfrm>
            <a:off x="2708696" y="1110613"/>
            <a:ext cx="5837135" cy="3371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		Tipo		Descrição</a:t>
            </a:r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64DF671-8F24-40E2-A13D-7A8D7FCAC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500000"/>
              </p:ext>
            </p:extLst>
          </p:nvPr>
        </p:nvGraphicFramePr>
        <p:xfrm>
          <a:off x="2775372" y="1432566"/>
          <a:ext cx="6136218" cy="26727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77578">
                  <a:extLst>
                    <a:ext uri="{9D8B030D-6E8A-4147-A177-3AD203B41FA5}">
                      <a16:colId xmlns:a16="http://schemas.microsoft.com/office/drawing/2014/main" val="46200520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38924873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4198430144"/>
                    </a:ext>
                  </a:extLst>
                </a:gridCol>
              </a:tblGrid>
              <a:tr h="663571">
                <a:tc>
                  <a:txBody>
                    <a:bodyPr/>
                    <a:lstStyle/>
                    <a:p>
                      <a:r>
                        <a:rPr lang="pt-BR" sz="13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Medida</a:t>
                      </a:r>
                      <a:endParaRPr lang="pt-BR" sz="13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</a:endParaRP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px / rem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Pixels (fixo) vs REM (relativo à fonte raiz).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944062"/>
                  </a:ext>
                </a:extLst>
              </a:tr>
              <a:tr h="663571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Cor</a:t>
                      </a:r>
                      <a:endParaRPr lang="pt-BR" sz="13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</a:endParaRP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Hexadecimal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Formato mais comum (Ex: #ff007a).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656348"/>
                  </a:ext>
                </a:extLst>
              </a:tr>
              <a:tr h="663571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Transparência</a:t>
                      </a:r>
                      <a:endParaRPr lang="pt-BR" sz="13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</a:endParaRP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RGBA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Red, Green, Blue + Alpha (opacidade).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413802"/>
                  </a:ext>
                </a:extLst>
              </a:tr>
              <a:tr h="663571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Layout</a:t>
                      </a:r>
                      <a:endParaRPr lang="pt-BR" sz="13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</a:endParaRP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fr / %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Frações e porcentagens para designs fluidos.</a:t>
                      </a:r>
                    </a:p>
                  </a:txBody>
                  <a:tcPr marL="135978" marR="135978" marT="135978" marB="1359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374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81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692" y="548640"/>
            <a:ext cx="83351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Responsividade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325880"/>
            <a:ext cx="8380828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333500"/>
            <a:ext cx="838082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552659" y="1440722"/>
            <a:ext cx="8042701" cy="778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  <a:t>Responsividade nada mais é que o site deve se adaptar a qualquer tela: Celular, Tablet ou Desktop.</a:t>
            </a:r>
            <a:b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</a:br>
            <a:r>
              <a:rPr lang="pt-BR" sz="1400" dirty="0">
                <a:solidFill>
                  <a:srgbClr val="D1D1D1"/>
                </a:solidFill>
                <a:latin typeface="Inter"/>
              </a:rPr>
              <a:t>São </a:t>
            </a:r>
            <a:r>
              <a:rPr lang="pt-BR" sz="1400" b="1" dirty="0">
                <a:solidFill>
                  <a:srgbClr val="D1D1D1"/>
                </a:solidFill>
                <a:latin typeface="Inter"/>
              </a:rPr>
              <a:t>boas práticas </a:t>
            </a:r>
            <a:r>
              <a:rPr lang="pt-BR" sz="1400" dirty="0">
                <a:solidFill>
                  <a:srgbClr val="D1D1D1"/>
                </a:solidFill>
                <a:latin typeface="Inter"/>
              </a:rPr>
              <a:t>ao criar um site, adicionar </a:t>
            </a:r>
            <a:r>
              <a:rPr lang="pt-BR" sz="1400" i="1" dirty="0">
                <a:solidFill>
                  <a:srgbClr val="D1D1D1"/>
                </a:solidFill>
                <a:latin typeface="Inter"/>
              </a:rPr>
              <a:t>media query</a:t>
            </a:r>
            <a:r>
              <a:rPr lang="pt-BR" sz="1400" dirty="0">
                <a:solidFill>
                  <a:srgbClr val="D1D1D1"/>
                </a:solidFill>
                <a:latin typeface="Inter"/>
              </a:rPr>
              <a:t>, já que, atualmente grande parte dos usuários utilizam outros tipos de dispositivos. Melhorando a usabilidade.</a:t>
            </a:r>
            <a:endParaRPr lang="pt-BR" sz="1400" b="1" i="1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078676F-662D-4338-AFD6-87BBC65B91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1709" y="3185847"/>
            <a:ext cx="5416062" cy="7860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712EAB7-836D-44EE-AF39-03D64994FBB0}"/>
              </a:ext>
            </a:extLst>
          </p:cNvPr>
          <p:cNvSpPr txBox="1"/>
          <p:nvPr/>
        </p:nvSpPr>
        <p:spPr>
          <a:xfrm>
            <a:off x="567731" y="3391368"/>
            <a:ext cx="5385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rgbClr val="61ECFB"/>
                </a:solidFill>
                <a:latin typeface="Courier New" panose="02070309020205020404" pitchFamily="49" charset="0"/>
              </a:rPr>
              <a:t>@media (max-width: 700px) { ... }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5CD959C-3AF9-4815-8197-8ED4C6BC683C}"/>
              </a:ext>
            </a:extLst>
          </p:cNvPr>
          <p:cNvSpPr/>
          <p:nvPr/>
        </p:nvSpPr>
        <p:spPr>
          <a:xfrm>
            <a:off x="582524" y="2211851"/>
            <a:ext cx="206542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b="1" dirty="0">
                <a:solidFill>
                  <a:srgbClr val="E1E1E6"/>
                </a:solidFill>
                <a:latin typeface="Arial Black" pitchFamily="34" charset="0"/>
              </a:rPr>
              <a:t>Media Queries</a:t>
            </a:r>
            <a:endParaRPr lang="pt-BR" noProof="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D2B617F2-F68C-40AD-9315-2F40434FB50C}"/>
              </a:ext>
            </a:extLst>
          </p:cNvPr>
          <p:cNvSpPr/>
          <p:nvPr/>
        </p:nvSpPr>
        <p:spPr>
          <a:xfrm>
            <a:off x="582525" y="2601012"/>
            <a:ext cx="7793760" cy="423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  <a:t>Permitem aplicar estilos apenas sob certas condições de tamanho de tela.</a:t>
            </a:r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685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pt-B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CSS</a:t>
            </a:r>
            <a:endParaRPr lang="pt-B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Estruturação dos elementos.</a:t>
            </a:r>
            <a:endParaRPr lang="pt-B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495604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Seletores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Seletores que modificam um ou vários elementos.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56692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VS Estilo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105156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Comparação entre HTML e CSS.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95604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95604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e Formatos</a:t>
            </a:r>
            <a:endParaRPr lang="pt-B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544068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Categorias e tipos.</a:t>
            </a:r>
            <a:endParaRPr lang="pt-BR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56692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</a:t>
            </a:r>
            <a:endParaRPr lang="pt-BR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1051560" y="33467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 a conexão para utilizar a estilização.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95604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5604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</a:t>
            </a:r>
            <a:endParaRPr lang="pt-BR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5440680" y="3346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Adaptação e boas práticas.</a:t>
            </a:r>
            <a:endParaRPr lang="pt-BR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773</Words>
  <Application>Microsoft Office PowerPoint</Application>
  <PresentationFormat>Apresentação na tela (16:9)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</vt:lpstr>
      <vt:lpstr>Arial</vt:lpstr>
      <vt:lpstr>Arial Black</vt:lpstr>
      <vt:lpstr>Calibri</vt:lpstr>
      <vt:lpstr>Courier New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Higor Claro</dc:creator>
  <cp:lastModifiedBy>Higor  Claro</cp:lastModifiedBy>
  <cp:revision>26</cp:revision>
  <dcterms:created xsi:type="dcterms:W3CDTF">2026-05-09T09:39:54Z</dcterms:created>
  <dcterms:modified xsi:type="dcterms:W3CDTF">2026-06-08T14:47:51Z</dcterms:modified>
</cp:coreProperties>
</file>