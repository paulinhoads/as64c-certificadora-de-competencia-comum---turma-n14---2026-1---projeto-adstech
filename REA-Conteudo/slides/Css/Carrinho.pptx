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9"/>
  </p:notesMasterIdLst>
  <p:sldIdLst>
    <p:sldId id="256" r:id="rId2"/>
    <p:sldId id="257" r:id="rId3"/>
    <p:sldId id="258" r:id="rId4"/>
    <p:sldId id="262" r:id="rId5"/>
    <p:sldId id="263" r:id="rId6"/>
    <p:sldId id="259" r:id="rId7"/>
    <p:sldId id="261" r:id="rId8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4ADE8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05" d="100"/>
          <a:sy n="105" d="100"/>
        </p:scale>
        <p:origin x="82" y="13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18361374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FDB9264-700E-BB8C-E6DD-C4DB0C0D458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014E073-0313-38BF-7238-F8F3F11F21C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5DC6F7E-ABA1-AC87-5E3E-6C95EF1A887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8E4210D-526C-BB9E-DFA0-015C284FB41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407029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EA1FFCF-91B5-300C-62A6-4F9BA12B599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004918D-09A4-C733-DA15-7AC7A9410B9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9F51CB5-6812-A76B-E88D-E28D9D79B1E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5CEA6F6-19B0-EC54-272D-CE65107BBD5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57589914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212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Imagem 10">
            <a:extLst>
              <a:ext uri="{FF2B5EF4-FFF2-40B4-BE49-F238E27FC236}">
                <a16:creationId xmlns:a16="http://schemas.microsoft.com/office/drawing/2014/main" id="{E66D0616-E737-7D0E-0DDE-A82DD51AB1F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21" y="0"/>
            <a:ext cx="9140557" cy="5143500"/>
          </a:xfrm>
          <a:prstGeom prst="rect">
            <a:avLst/>
          </a:prstGeom>
        </p:spPr>
      </p:pic>
      <p:sp>
        <p:nvSpPr>
          <p:cNvPr id="3" name="Shape 1"/>
          <p:cNvSpPr/>
          <p:nvPr/>
        </p:nvSpPr>
        <p:spPr>
          <a:xfrm>
            <a:off x="3200400" y="914400"/>
            <a:ext cx="2743200" cy="310896"/>
          </a:xfrm>
          <a:prstGeom prst="roundRect">
            <a:avLst>
              <a:gd name="adj" fmla="val 14706"/>
            </a:avLst>
          </a:prstGeom>
          <a:solidFill>
            <a:srgbClr val="4ADE80">
              <a:alpha val="5000"/>
            </a:srgbClr>
          </a:solidFill>
          <a:ln w="6350">
            <a:solidFill>
              <a:srgbClr val="4ADE80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pt-BR" noProof="0" dirty="0"/>
          </a:p>
        </p:txBody>
      </p:sp>
      <p:sp>
        <p:nvSpPr>
          <p:cNvPr id="4" name="Text 2"/>
          <p:cNvSpPr/>
          <p:nvPr/>
        </p:nvSpPr>
        <p:spPr>
          <a:xfrm>
            <a:off x="3200400" y="914400"/>
            <a:ext cx="2743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pt-BR" sz="800" kern="0" spc="300" noProof="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MÓDULO 02  ·  CSS</a:t>
            </a:r>
            <a:endParaRPr lang="pt-BR" sz="800" noProof="0" dirty="0"/>
          </a:p>
        </p:txBody>
      </p:sp>
      <p:sp>
        <p:nvSpPr>
          <p:cNvPr id="5" name="Text 3"/>
          <p:cNvSpPr/>
          <p:nvPr/>
        </p:nvSpPr>
        <p:spPr>
          <a:xfrm>
            <a:off x="1097280" y="1463040"/>
            <a:ext cx="694944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pt-BR" sz="4000" b="1" noProof="0" dirty="0">
                <a:solidFill>
                  <a:srgbClr val="4ADE8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Carrinho de Compras</a:t>
            </a:r>
            <a:endParaRPr lang="pt-BR" sz="4000" noProof="0" dirty="0">
              <a:solidFill>
                <a:srgbClr val="4ADE80"/>
              </a:solidFill>
            </a:endParaRPr>
          </a:p>
        </p:txBody>
      </p:sp>
      <p:sp>
        <p:nvSpPr>
          <p:cNvPr id="6" name="Text 4"/>
          <p:cNvSpPr/>
          <p:nvPr/>
        </p:nvSpPr>
        <p:spPr>
          <a:xfrm>
            <a:off x="1371600" y="3566160"/>
            <a:ext cx="6400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pt-BR" sz="1400" noProof="0" dirty="0">
                <a:solidFill>
                  <a:srgbClr val="A8A8B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Itens, ações e resumo do pedido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212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flipH="1">
            <a:off x="502919" y="411480"/>
            <a:ext cx="50400" cy="640080"/>
          </a:xfrm>
          <a:prstGeom prst="roundRect">
            <a:avLst>
              <a:gd name="adj" fmla="val 30953"/>
            </a:avLst>
          </a:prstGeom>
          <a:solidFill>
            <a:srgbClr val="4ADE80"/>
          </a:solidFill>
          <a:ln w="12700">
            <a:noFill/>
            <a:prstDash val="solid"/>
          </a:ln>
          <a:effectLst/>
        </p:spPr>
        <p:txBody>
          <a:bodyPr/>
          <a:lstStyle/>
          <a:p>
            <a:endParaRPr lang="pt-BR" noProof="0" dirty="0"/>
          </a:p>
        </p:txBody>
      </p:sp>
      <p:sp>
        <p:nvSpPr>
          <p:cNvPr id="4" name="Text 2"/>
          <p:cNvSpPr/>
          <p:nvPr/>
        </p:nvSpPr>
        <p:spPr>
          <a:xfrm>
            <a:off x="594360" y="566928"/>
            <a:ext cx="5029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pt-BR" sz="2400" b="1" noProof="0" dirty="0">
                <a:solidFill>
                  <a:srgbClr val="4ADE8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Container do carrinho</a:t>
            </a:r>
            <a:endParaRPr lang="pt-BR" sz="2400" noProof="0" dirty="0"/>
          </a:p>
        </p:txBody>
      </p:sp>
      <p:sp>
        <p:nvSpPr>
          <p:cNvPr id="5" name="Text 3"/>
          <p:cNvSpPr/>
          <p:nvPr/>
        </p:nvSpPr>
        <p:spPr>
          <a:xfrm>
            <a:off x="457200" y="1234440"/>
            <a:ext cx="457200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pt-BR" sz="1200" noProof="0" dirty="0">
                <a:solidFill>
                  <a:srgbClr val="A8A8B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container centraliza o conteúdo com largura máxima de </a:t>
            </a:r>
            <a:r>
              <a:rPr lang="pt-BR" sz="1200" noProof="0" dirty="0">
                <a:solidFill>
                  <a:srgbClr val="4ADE80"/>
                </a:solidFill>
                <a:latin typeface="Courier New" panose="02070309020205020404" pitchFamily="49" charset="0"/>
                <a:ea typeface="Arial" pitchFamily="34" charset="-122"/>
                <a:cs typeface="Courier New" panose="02070309020205020404" pitchFamily="49" charset="0"/>
              </a:rPr>
              <a:t>800px</a:t>
            </a:r>
            <a:r>
              <a:rPr lang="pt-BR" sz="1200" noProof="0" dirty="0">
                <a:solidFill>
                  <a:srgbClr val="A8A8B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menor que a vitrine porque o carrinho é uma página focada, sem grid de produtos. O </a:t>
            </a:r>
            <a:r>
              <a:rPr lang="pt-BR" sz="1200" dirty="0">
                <a:solidFill>
                  <a:srgbClr val="4ADE8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box-</a:t>
            </a:r>
            <a:r>
              <a:rPr lang="pt-BR" sz="1200" dirty="0" err="1">
                <a:solidFill>
                  <a:srgbClr val="4ADE8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shadow</a:t>
            </a:r>
            <a:r>
              <a:rPr lang="pt-BR" sz="1200" noProof="0" dirty="0">
                <a:solidFill>
                  <a:srgbClr val="A8A8B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cria profundidade com quatro valores: deslocamento horizontal, deslocamento vertical, desfoque e cor com opacidade.</a:t>
            </a:r>
          </a:p>
        </p:txBody>
      </p:sp>
      <p:sp>
        <p:nvSpPr>
          <p:cNvPr id="7" name="Shape 5"/>
          <p:cNvSpPr/>
          <p:nvPr/>
        </p:nvSpPr>
        <p:spPr>
          <a:xfrm rot="16200000">
            <a:off x="-390206" y="3294826"/>
            <a:ext cx="1737362" cy="48896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4ADE80"/>
          </a:solidFill>
          <a:ln w="12700">
            <a:noFill/>
            <a:prstDash val="solid"/>
          </a:ln>
        </p:spPr>
        <p:txBody>
          <a:bodyPr/>
          <a:lstStyle/>
          <a:p>
            <a:endParaRPr lang="pt-BR" noProof="0" dirty="0"/>
          </a:p>
        </p:txBody>
      </p:sp>
      <p:sp>
        <p:nvSpPr>
          <p:cNvPr id="9" name="Shape 7"/>
          <p:cNvSpPr/>
          <p:nvPr/>
        </p:nvSpPr>
        <p:spPr>
          <a:xfrm>
            <a:off x="5394960" y="1051560"/>
            <a:ext cx="3291840" cy="982800"/>
          </a:xfrm>
          <a:prstGeom prst="roundRect">
            <a:avLst/>
          </a:prstGeom>
          <a:solidFill>
            <a:srgbClr val="1A1A20"/>
          </a:solidFill>
          <a:ln w="6350">
            <a:solidFill>
              <a:srgbClr val="2E2E38"/>
            </a:solidFill>
            <a:prstDash val="solid"/>
          </a:ln>
        </p:spPr>
        <p:txBody>
          <a:bodyPr/>
          <a:lstStyle/>
          <a:p>
            <a:endParaRPr lang="pt-BR" noProof="0" dirty="0"/>
          </a:p>
        </p:txBody>
      </p:sp>
      <p:sp>
        <p:nvSpPr>
          <p:cNvPr id="10" name="Shape 8"/>
          <p:cNvSpPr/>
          <p:nvPr/>
        </p:nvSpPr>
        <p:spPr>
          <a:xfrm>
            <a:off x="5532120" y="1344168"/>
            <a:ext cx="457200" cy="457200"/>
          </a:xfrm>
          <a:prstGeom prst="ellipse">
            <a:avLst/>
          </a:prstGeom>
          <a:solidFill>
            <a:srgbClr val="4ADE80">
              <a:alpha val="10000"/>
            </a:srgbClr>
          </a:solidFill>
          <a:ln w="6350">
            <a:solidFill>
              <a:srgbClr val="4ADE80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pt-BR" noProof="0" dirty="0"/>
          </a:p>
        </p:txBody>
      </p:sp>
      <p:sp>
        <p:nvSpPr>
          <p:cNvPr id="11" name="Text 9"/>
          <p:cNvSpPr/>
          <p:nvPr/>
        </p:nvSpPr>
        <p:spPr>
          <a:xfrm>
            <a:off x="5532120" y="121615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pt-BR" sz="1200" noProof="0" dirty="0"/>
          </a:p>
        </p:txBody>
      </p:sp>
      <p:sp>
        <p:nvSpPr>
          <p:cNvPr id="12" name="Text 10"/>
          <p:cNvSpPr/>
          <p:nvPr/>
        </p:nvSpPr>
        <p:spPr>
          <a:xfrm>
            <a:off x="6080760" y="1143000"/>
            <a:ext cx="2468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pt-BR" sz="1100" b="1" noProof="0" dirty="0">
                <a:solidFill>
                  <a:srgbClr val="4ADE80"/>
                </a:solidFill>
                <a:latin typeface="Courier New" panose="02070309020205020404" pitchFamily="49" charset="0"/>
                <a:ea typeface="Arial" pitchFamily="34" charset="-122"/>
                <a:cs typeface="Courier New" panose="02070309020205020404" pitchFamily="49" charset="0"/>
              </a:rPr>
              <a:t>box-</a:t>
            </a:r>
            <a:r>
              <a:rPr lang="pt-BR" sz="1100" b="1" noProof="0" dirty="0" err="1">
                <a:solidFill>
                  <a:srgbClr val="4ADE80"/>
                </a:solidFill>
                <a:latin typeface="Courier New" panose="02070309020205020404" pitchFamily="49" charset="0"/>
                <a:ea typeface="Arial" pitchFamily="34" charset="-122"/>
                <a:cs typeface="Courier New" panose="02070309020205020404" pitchFamily="49" charset="0"/>
              </a:rPr>
              <a:t>shadow</a:t>
            </a:r>
            <a:endParaRPr lang="pt-BR" sz="1100" b="1" noProof="0" dirty="0">
              <a:solidFill>
                <a:srgbClr val="4ADE80"/>
              </a:solidFill>
              <a:latin typeface="Courier New" panose="02070309020205020404" pitchFamily="49" charset="0"/>
              <a:ea typeface="Arial" pitchFamily="34" charset="-122"/>
              <a:cs typeface="Courier New" panose="02070309020205020404" pitchFamily="49" charset="0"/>
            </a:endParaRPr>
          </a:p>
        </p:txBody>
      </p:sp>
      <p:sp>
        <p:nvSpPr>
          <p:cNvPr id="13" name="Text 11"/>
          <p:cNvSpPr/>
          <p:nvPr/>
        </p:nvSpPr>
        <p:spPr>
          <a:xfrm>
            <a:off x="6080760" y="1435608"/>
            <a:ext cx="246888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pt-BR" sz="900" noProof="0" dirty="0">
                <a:solidFill>
                  <a:srgbClr val="A8A8B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 valores: deslocamento X, Y, desfoque e cor com opacidade</a:t>
            </a:r>
            <a:endParaRPr lang="pt-BR" sz="900" noProof="0" dirty="0"/>
          </a:p>
        </p:txBody>
      </p:sp>
      <p:sp>
        <p:nvSpPr>
          <p:cNvPr id="14" name="Shape 12"/>
          <p:cNvSpPr/>
          <p:nvPr/>
        </p:nvSpPr>
        <p:spPr>
          <a:xfrm>
            <a:off x="5394960" y="2194560"/>
            <a:ext cx="3291840" cy="982800"/>
          </a:xfrm>
          <a:prstGeom prst="roundRect">
            <a:avLst/>
          </a:prstGeom>
          <a:solidFill>
            <a:srgbClr val="1A1A20"/>
          </a:solidFill>
          <a:ln w="6350">
            <a:solidFill>
              <a:srgbClr val="2E2E38"/>
            </a:solidFill>
            <a:prstDash val="solid"/>
          </a:ln>
        </p:spPr>
        <p:txBody>
          <a:bodyPr/>
          <a:lstStyle/>
          <a:p>
            <a:endParaRPr lang="pt-BR" noProof="0" dirty="0"/>
          </a:p>
        </p:txBody>
      </p:sp>
      <p:sp>
        <p:nvSpPr>
          <p:cNvPr id="15" name="Shape 13"/>
          <p:cNvSpPr/>
          <p:nvPr/>
        </p:nvSpPr>
        <p:spPr>
          <a:xfrm>
            <a:off x="5532120" y="2487168"/>
            <a:ext cx="457200" cy="457200"/>
          </a:xfrm>
          <a:prstGeom prst="ellipse">
            <a:avLst/>
          </a:prstGeom>
          <a:solidFill>
            <a:srgbClr val="4ADE80">
              <a:alpha val="10000"/>
            </a:srgbClr>
          </a:solidFill>
          <a:ln w="6350">
            <a:solidFill>
              <a:srgbClr val="4ADE80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pt-BR" noProof="0" dirty="0"/>
          </a:p>
        </p:txBody>
      </p:sp>
      <p:sp>
        <p:nvSpPr>
          <p:cNvPr id="16" name="Text 14"/>
          <p:cNvSpPr/>
          <p:nvPr/>
        </p:nvSpPr>
        <p:spPr>
          <a:xfrm>
            <a:off x="5532120" y="235915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pt-BR" sz="1200" noProof="0" dirty="0"/>
          </a:p>
        </p:txBody>
      </p:sp>
      <p:sp>
        <p:nvSpPr>
          <p:cNvPr id="17" name="Text 15"/>
          <p:cNvSpPr/>
          <p:nvPr/>
        </p:nvSpPr>
        <p:spPr>
          <a:xfrm>
            <a:off x="6080760" y="2286000"/>
            <a:ext cx="2468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pt-BR" sz="1100" b="1" dirty="0" err="1">
                <a:solidFill>
                  <a:srgbClr val="4ADE8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max-width</a:t>
            </a:r>
            <a:r>
              <a:rPr lang="pt-BR" sz="1100" b="1" dirty="0">
                <a:solidFill>
                  <a:srgbClr val="4ADE8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: 800px</a:t>
            </a:r>
          </a:p>
        </p:txBody>
      </p:sp>
      <p:sp>
        <p:nvSpPr>
          <p:cNvPr id="18" name="Text 16"/>
          <p:cNvSpPr/>
          <p:nvPr/>
        </p:nvSpPr>
        <p:spPr>
          <a:xfrm>
            <a:off x="6080760" y="2578608"/>
            <a:ext cx="246888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pt-BR" sz="900" noProof="0" dirty="0">
                <a:solidFill>
                  <a:srgbClr val="A8A8B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Página focada — menor que o container da vitrine</a:t>
            </a:r>
            <a:endParaRPr lang="pt-BR" sz="900" noProof="0" dirty="0"/>
          </a:p>
        </p:txBody>
      </p:sp>
      <p:sp>
        <p:nvSpPr>
          <p:cNvPr id="19" name="Shape 17"/>
          <p:cNvSpPr/>
          <p:nvPr/>
        </p:nvSpPr>
        <p:spPr>
          <a:xfrm>
            <a:off x="5394960" y="3337560"/>
            <a:ext cx="3291840" cy="982800"/>
          </a:xfrm>
          <a:prstGeom prst="roundRect">
            <a:avLst/>
          </a:prstGeom>
          <a:solidFill>
            <a:srgbClr val="1A1A20"/>
          </a:solidFill>
          <a:ln w="6350">
            <a:solidFill>
              <a:srgbClr val="2E2E38"/>
            </a:solidFill>
            <a:prstDash val="solid"/>
          </a:ln>
        </p:spPr>
        <p:txBody>
          <a:bodyPr/>
          <a:lstStyle/>
          <a:p>
            <a:endParaRPr lang="pt-BR" noProof="0" dirty="0"/>
          </a:p>
        </p:txBody>
      </p:sp>
      <p:sp>
        <p:nvSpPr>
          <p:cNvPr id="20" name="Shape 18"/>
          <p:cNvSpPr/>
          <p:nvPr/>
        </p:nvSpPr>
        <p:spPr>
          <a:xfrm>
            <a:off x="5532120" y="3600360"/>
            <a:ext cx="457200" cy="457200"/>
          </a:xfrm>
          <a:prstGeom prst="ellipse">
            <a:avLst/>
          </a:prstGeom>
          <a:solidFill>
            <a:srgbClr val="4ADE80">
              <a:alpha val="10000"/>
            </a:srgbClr>
          </a:solidFill>
          <a:ln w="6350">
            <a:solidFill>
              <a:srgbClr val="4ADE80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pt-BR" noProof="0" dirty="0"/>
          </a:p>
        </p:txBody>
      </p:sp>
      <p:sp>
        <p:nvSpPr>
          <p:cNvPr id="21" name="Text 19"/>
          <p:cNvSpPr/>
          <p:nvPr/>
        </p:nvSpPr>
        <p:spPr>
          <a:xfrm>
            <a:off x="5532120" y="350215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pt-BR" sz="1200" noProof="0" dirty="0"/>
          </a:p>
        </p:txBody>
      </p:sp>
      <p:sp>
        <p:nvSpPr>
          <p:cNvPr id="22" name="Text 20"/>
          <p:cNvSpPr/>
          <p:nvPr/>
        </p:nvSpPr>
        <p:spPr>
          <a:xfrm>
            <a:off x="6080760" y="3429000"/>
            <a:ext cx="2468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pt-BR" sz="1100" b="1" dirty="0" err="1">
                <a:solidFill>
                  <a:srgbClr val="4ADE8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border-bottom</a:t>
            </a:r>
            <a:endParaRPr lang="pt-BR" sz="1100" b="1" dirty="0">
              <a:solidFill>
                <a:srgbClr val="4ADE8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23" name="Text 21"/>
          <p:cNvSpPr/>
          <p:nvPr/>
        </p:nvSpPr>
        <p:spPr>
          <a:xfrm>
            <a:off x="6080760" y="3721608"/>
            <a:ext cx="246888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pt-BR" sz="900" noProof="0" dirty="0">
                <a:solidFill>
                  <a:srgbClr val="A8A8B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Linha separadora sutil reutilizada no título e entre os itens</a:t>
            </a:r>
            <a:endParaRPr lang="pt-BR" sz="900" noProof="0" dirty="0"/>
          </a:p>
        </p:txBody>
      </p:sp>
      <p:pic>
        <p:nvPicPr>
          <p:cNvPr id="6" name="Imagem 5">
            <a:extLst>
              <a:ext uri="{FF2B5EF4-FFF2-40B4-BE49-F238E27FC236}">
                <a16:creationId xmlns:a16="http://schemas.microsoft.com/office/drawing/2014/main" id="{2DF1ED75-C1FE-B1BB-54A9-ECFF1C5A1BCA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8585" t="13812" r="8381" b="14256"/>
          <a:stretch>
            <a:fillRect/>
          </a:stretch>
        </p:blipFill>
        <p:spPr>
          <a:xfrm>
            <a:off x="504001" y="2451601"/>
            <a:ext cx="3322678" cy="1736352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212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274320"/>
            <a:ext cx="9144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pt-BR" sz="800" kern="0" spc="400" noProof="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COMPARATIVO</a:t>
            </a:r>
            <a:endParaRPr lang="pt-BR" sz="800" noProof="0" dirty="0"/>
          </a:p>
        </p:txBody>
      </p:sp>
      <p:sp>
        <p:nvSpPr>
          <p:cNvPr id="3" name="Text 1"/>
          <p:cNvSpPr/>
          <p:nvPr/>
        </p:nvSpPr>
        <p:spPr>
          <a:xfrm>
            <a:off x="457200" y="54864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pt-BR" sz="2600" b="1" noProof="0" dirty="0" err="1">
                <a:solidFill>
                  <a:srgbClr val="4ADE80"/>
                </a:solidFill>
                <a:latin typeface="Courier New" panose="02070309020205020404" pitchFamily="49" charset="0"/>
                <a:ea typeface="Arial Black" pitchFamily="34" charset="-122"/>
                <a:cs typeface="Courier New" panose="02070309020205020404" pitchFamily="49" charset="0"/>
              </a:rPr>
              <a:t>object-fit</a:t>
            </a:r>
            <a:r>
              <a:rPr lang="pt-BR" sz="2600" b="1" dirty="0">
                <a:solidFill>
                  <a:srgbClr val="4ADE8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: cover </a:t>
            </a:r>
            <a:r>
              <a:rPr lang="pt-BR" sz="2600" b="1" noProof="0" dirty="0" err="1">
                <a:solidFill>
                  <a:srgbClr val="E1E1E6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vs</a:t>
            </a:r>
            <a:r>
              <a:rPr lang="pt-BR" sz="2600" b="1" noProof="0" dirty="0">
                <a:solidFill>
                  <a:srgbClr val="E1E1E6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 </a:t>
            </a:r>
            <a:r>
              <a:rPr lang="pt-BR" sz="2600" b="1" dirty="0" err="1">
                <a:solidFill>
                  <a:srgbClr val="4ADE8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contain</a:t>
            </a:r>
            <a:endParaRPr lang="pt-BR" sz="2600" b="1" dirty="0">
              <a:solidFill>
                <a:srgbClr val="4ADE8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4" name="Shape 2"/>
          <p:cNvSpPr/>
          <p:nvPr/>
        </p:nvSpPr>
        <p:spPr>
          <a:xfrm>
            <a:off x="2286000" y="1143000"/>
            <a:ext cx="4572000" cy="0"/>
          </a:xfrm>
          <a:prstGeom prst="line">
            <a:avLst/>
          </a:prstGeom>
          <a:noFill/>
          <a:ln w="6350">
            <a:solidFill>
              <a:srgbClr val="2E2E38"/>
            </a:solidFill>
            <a:prstDash val="solid"/>
          </a:ln>
        </p:spPr>
        <p:txBody>
          <a:bodyPr/>
          <a:lstStyle/>
          <a:p>
            <a:endParaRPr lang="pt-BR" noProof="0" dirty="0"/>
          </a:p>
        </p:txBody>
      </p:sp>
      <p:sp>
        <p:nvSpPr>
          <p:cNvPr id="5" name="Shape 3"/>
          <p:cNvSpPr/>
          <p:nvPr/>
        </p:nvSpPr>
        <p:spPr>
          <a:xfrm>
            <a:off x="411480" y="1325880"/>
            <a:ext cx="3931920" cy="3429000"/>
          </a:xfrm>
          <a:prstGeom prst="rect">
            <a:avLst/>
          </a:prstGeom>
          <a:solidFill>
            <a:srgbClr val="171720"/>
          </a:solidFill>
          <a:ln w="6350">
            <a:noFill/>
            <a:prstDash val="solid"/>
          </a:ln>
        </p:spPr>
        <p:txBody>
          <a:bodyPr/>
          <a:lstStyle/>
          <a:p>
            <a:endParaRPr lang="pt-BR" noProof="0" dirty="0"/>
          </a:p>
        </p:txBody>
      </p:sp>
      <p:sp>
        <p:nvSpPr>
          <p:cNvPr id="6" name="Shape 4"/>
          <p:cNvSpPr/>
          <p:nvPr/>
        </p:nvSpPr>
        <p:spPr>
          <a:xfrm>
            <a:off x="411480" y="1325880"/>
            <a:ext cx="3931920" cy="4680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4ADE80"/>
          </a:solidFill>
          <a:ln w="12700">
            <a:noFill/>
            <a:prstDash val="solid"/>
          </a:ln>
        </p:spPr>
        <p:txBody>
          <a:bodyPr/>
          <a:lstStyle/>
          <a:p>
            <a:endParaRPr lang="pt-BR" noProof="0" dirty="0"/>
          </a:p>
        </p:txBody>
      </p:sp>
      <p:sp>
        <p:nvSpPr>
          <p:cNvPr id="7" name="Text 5"/>
          <p:cNvSpPr/>
          <p:nvPr/>
        </p:nvSpPr>
        <p:spPr>
          <a:xfrm>
            <a:off x="548640" y="1417320"/>
            <a:ext cx="1828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pt-BR" sz="900" kern="0" spc="300" noProof="0" dirty="0" err="1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contain</a:t>
            </a:r>
            <a:endParaRPr lang="pt-BR" sz="900" noProof="0" dirty="0"/>
          </a:p>
        </p:txBody>
      </p:sp>
      <p:sp>
        <p:nvSpPr>
          <p:cNvPr id="8" name="Text 6"/>
          <p:cNvSpPr/>
          <p:nvPr/>
        </p:nvSpPr>
        <p:spPr>
          <a:xfrm>
            <a:off x="548640" y="169164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pt-BR" sz="1600" b="1" noProof="0" dirty="0">
                <a:solidFill>
                  <a:srgbClr val="E1E1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Mostra a imagem inteira</a:t>
            </a:r>
            <a:endParaRPr lang="pt-BR" sz="1600" noProof="0" dirty="0"/>
          </a:p>
        </p:txBody>
      </p:sp>
      <p:sp>
        <p:nvSpPr>
          <p:cNvPr id="9" name="Text 7"/>
          <p:cNvSpPr/>
          <p:nvPr/>
        </p:nvSpPr>
        <p:spPr>
          <a:xfrm>
            <a:off x="548640" y="2084832"/>
            <a:ext cx="3657600" cy="841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pt-BR" sz="1200" noProof="0" dirty="0">
                <a:solidFill>
                  <a:srgbClr val="A8A8B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imagem é redimensionada para caber no espaço sem recorte. Se as proporções não coincidirem, ficam espaços vazios nas bordas — foi o comportamento usado nos cards da vitrine.</a:t>
            </a:r>
            <a:endParaRPr lang="pt-BR" sz="1200" noProof="0" dirty="0"/>
          </a:p>
        </p:txBody>
      </p:sp>
      <p:sp>
        <p:nvSpPr>
          <p:cNvPr id="10" name="Text 8"/>
          <p:cNvSpPr/>
          <p:nvPr/>
        </p:nvSpPr>
        <p:spPr>
          <a:xfrm>
            <a:off x="548640" y="3077312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pt-BR" sz="1100" noProof="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→  </a:t>
            </a:r>
            <a:r>
              <a:rPr lang="pt-BR" sz="1100" noProof="0" dirty="0">
                <a:solidFill>
                  <a:srgbClr val="A8A8B3"/>
                </a:solidFill>
                <a:latin typeface="Arial" pitchFamily="34" charset="0"/>
                <a:ea typeface="Courier New" pitchFamily="34" charset="-122"/>
                <a:cs typeface="Arial" pitchFamily="34" charset="-120"/>
              </a:rPr>
              <a:t>Imagem exibida por completo</a:t>
            </a:r>
            <a:endParaRPr lang="pt-BR" sz="1100" noProof="0" dirty="0"/>
          </a:p>
        </p:txBody>
      </p:sp>
      <p:sp>
        <p:nvSpPr>
          <p:cNvPr id="11" name="Text 9"/>
          <p:cNvSpPr/>
          <p:nvPr/>
        </p:nvSpPr>
        <p:spPr>
          <a:xfrm>
            <a:off x="548640" y="3479648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pt-BR" sz="1100" noProof="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→  </a:t>
            </a:r>
            <a:r>
              <a:rPr lang="pt-BR" sz="1100" noProof="0" dirty="0">
                <a:solidFill>
                  <a:srgbClr val="A8A8B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Pode gerar espaço vazio nas bordas</a:t>
            </a:r>
            <a:endParaRPr lang="pt-BR" sz="1100" noProof="0" dirty="0"/>
          </a:p>
        </p:txBody>
      </p:sp>
      <p:sp>
        <p:nvSpPr>
          <p:cNvPr id="12" name="Text 10"/>
          <p:cNvSpPr/>
          <p:nvPr/>
        </p:nvSpPr>
        <p:spPr>
          <a:xfrm>
            <a:off x="548640" y="3881984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pt-BR" sz="1100" noProof="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→  </a:t>
            </a:r>
            <a:r>
              <a:rPr lang="pt-BR" sz="1100" noProof="0" dirty="0">
                <a:solidFill>
                  <a:srgbClr val="A8A8B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Proporção original preservada</a:t>
            </a:r>
            <a:endParaRPr lang="pt-BR" sz="1100" noProof="0" dirty="0"/>
          </a:p>
        </p:txBody>
      </p:sp>
      <p:sp>
        <p:nvSpPr>
          <p:cNvPr id="13" name="Text 11"/>
          <p:cNvSpPr/>
          <p:nvPr/>
        </p:nvSpPr>
        <p:spPr>
          <a:xfrm>
            <a:off x="548640" y="428432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pt-BR" sz="1100" noProof="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→  </a:t>
            </a:r>
            <a:r>
              <a:rPr lang="pt-BR" sz="1100" noProof="0" dirty="0">
                <a:solidFill>
                  <a:srgbClr val="A8A8B3"/>
                </a:solidFill>
                <a:latin typeface="Arial" pitchFamily="34" charset="0"/>
                <a:ea typeface="Courier New" pitchFamily="34" charset="-122"/>
                <a:cs typeface="Arial" pitchFamily="34" charset="-120"/>
              </a:rPr>
              <a:t>Usado na vitrine</a:t>
            </a:r>
            <a:endParaRPr lang="pt-BR" sz="1100" noProof="0" dirty="0"/>
          </a:p>
        </p:txBody>
      </p:sp>
      <p:sp>
        <p:nvSpPr>
          <p:cNvPr id="14" name="Shape 12"/>
          <p:cNvSpPr/>
          <p:nvPr/>
        </p:nvSpPr>
        <p:spPr>
          <a:xfrm>
            <a:off x="4800600" y="1325880"/>
            <a:ext cx="3931920" cy="3429000"/>
          </a:xfrm>
          <a:prstGeom prst="rect">
            <a:avLst/>
          </a:prstGeom>
          <a:solidFill>
            <a:srgbClr val="171720"/>
          </a:solidFill>
          <a:ln w="6350">
            <a:noFill/>
            <a:prstDash val="solid"/>
          </a:ln>
        </p:spPr>
        <p:txBody>
          <a:bodyPr/>
          <a:lstStyle/>
          <a:p>
            <a:endParaRPr lang="pt-BR" noProof="0" dirty="0"/>
          </a:p>
        </p:txBody>
      </p:sp>
      <p:sp>
        <p:nvSpPr>
          <p:cNvPr id="15" name="Shape 13"/>
          <p:cNvSpPr/>
          <p:nvPr/>
        </p:nvSpPr>
        <p:spPr>
          <a:xfrm>
            <a:off x="4800600" y="1333500"/>
            <a:ext cx="3931920" cy="4680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004A99"/>
          </a:solidFill>
          <a:ln w="12700">
            <a:noFill/>
            <a:prstDash val="solid"/>
          </a:ln>
        </p:spPr>
        <p:txBody>
          <a:bodyPr/>
          <a:lstStyle/>
          <a:p>
            <a:endParaRPr lang="pt-BR" noProof="0" dirty="0"/>
          </a:p>
        </p:txBody>
      </p:sp>
      <p:sp>
        <p:nvSpPr>
          <p:cNvPr id="16" name="Text 14"/>
          <p:cNvSpPr/>
          <p:nvPr/>
        </p:nvSpPr>
        <p:spPr>
          <a:xfrm>
            <a:off x="4937760" y="1417320"/>
            <a:ext cx="1828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pt-BR" sz="900" kern="0" spc="300" noProof="0" dirty="0">
                <a:solidFill>
                  <a:srgbClr val="5B8D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cover</a:t>
            </a:r>
            <a:endParaRPr lang="pt-BR" sz="900" noProof="0" dirty="0"/>
          </a:p>
        </p:txBody>
      </p:sp>
      <p:sp>
        <p:nvSpPr>
          <p:cNvPr id="17" name="Text 15"/>
          <p:cNvSpPr/>
          <p:nvPr/>
        </p:nvSpPr>
        <p:spPr>
          <a:xfrm>
            <a:off x="4937760" y="169164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pt-BR" sz="1600" b="1" noProof="0" dirty="0">
                <a:solidFill>
                  <a:srgbClr val="E1E1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Preenche o espaço definido</a:t>
            </a:r>
            <a:endParaRPr lang="pt-BR" sz="1600" noProof="0" dirty="0"/>
          </a:p>
        </p:txBody>
      </p:sp>
      <p:sp>
        <p:nvSpPr>
          <p:cNvPr id="18" name="Text 16"/>
          <p:cNvSpPr/>
          <p:nvPr/>
        </p:nvSpPr>
        <p:spPr>
          <a:xfrm>
            <a:off x="4937760" y="2084832"/>
            <a:ext cx="3657600" cy="841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pt-BR" sz="1200" noProof="0" dirty="0">
                <a:solidFill>
                  <a:srgbClr val="A8A8B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imagem é recortada para preencher completamente o espaço sem distorção. Se as proporções não baterem, parte da imagem fica fora do limite — usado no carrinho para manter uniformidade visual.</a:t>
            </a:r>
            <a:endParaRPr lang="pt-BR" sz="1200" noProof="0" dirty="0"/>
          </a:p>
        </p:txBody>
      </p:sp>
      <p:sp>
        <p:nvSpPr>
          <p:cNvPr id="19" name="Text 17"/>
          <p:cNvSpPr/>
          <p:nvPr/>
        </p:nvSpPr>
        <p:spPr>
          <a:xfrm>
            <a:off x="4937760" y="3077312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pt-BR" sz="1100" noProof="0" dirty="0">
                <a:solidFill>
                  <a:srgbClr val="5B8D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→  </a:t>
            </a:r>
            <a:r>
              <a:rPr lang="pt-BR" sz="1100" noProof="0" dirty="0">
                <a:solidFill>
                  <a:srgbClr val="A8A8B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Preenche o espaço por completo</a:t>
            </a:r>
            <a:endParaRPr lang="pt-BR" sz="1100" noProof="0" dirty="0"/>
          </a:p>
        </p:txBody>
      </p:sp>
      <p:sp>
        <p:nvSpPr>
          <p:cNvPr id="20" name="Text 18"/>
          <p:cNvSpPr/>
          <p:nvPr/>
        </p:nvSpPr>
        <p:spPr>
          <a:xfrm>
            <a:off x="4937760" y="3479648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pt-BR" sz="1100" noProof="0" dirty="0">
                <a:solidFill>
                  <a:srgbClr val="5B8D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→  </a:t>
            </a:r>
            <a:r>
              <a:rPr lang="pt-BR" sz="1100" noProof="0" dirty="0">
                <a:solidFill>
                  <a:srgbClr val="A8A8B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Parte da imagem pode ser recortada</a:t>
            </a:r>
            <a:endParaRPr lang="pt-BR" sz="1100" noProof="0" dirty="0"/>
          </a:p>
        </p:txBody>
      </p:sp>
      <p:sp>
        <p:nvSpPr>
          <p:cNvPr id="21" name="Text 19"/>
          <p:cNvSpPr/>
          <p:nvPr/>
        </p:nvSpPr>
        <p:spPr>
          <a:xfrm>
            <a:off x="4937760" y="3881984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pt-BR" sz="1100" noProof="0" dirty="0">
                <a:solidFill>
                  <a:srgbClr val="5B8D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→  </a:t>
            </a:r>
            <a:r>
              <a:rPr lang="pt-BR" sz="1100" noProof="0" dirty="0">
                <a:solidFill>
                  <a:srgbClr val="A8A8B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Proporção original preservada</a:t>
            </a:r>
            <a:endParaRPr lang="pt-BR" sz="1100" noProof="0" dirty="0"/>
          </a:p>
        </p:txBody>
      </p:sp>
      <p:sp>
        <p:nvSpPr>
          <p:cNvPr id="22" name="Text 20"/>
          <p:cNvSpPr/>
          <p:nvPr/>
        </p:nvSpPr>
        <p:spPr>
          <a:xfrm>
            <a:off x="4937760" y="428432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pt-BR" sz="1100" noProof="0" dirty="0">
                <a:solidFill>
                  <a:srgbClr val="5B8D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→  </a:t>
            </a:r>
            <a:r>
              <a:rPr lang="pt-BR" sz="1100" noProof="0" dirty="0">
                <a:solidFill>
                  <a:srgbClr val="A8A8B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Usado no carrinho</a:t>
            </a:r>
            <a:endParaRPr lang="pt-BR" sz="1100" noProof="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21214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C3FB3BE-860B-BE5A-8B1A-6F46340856C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EECCA63C-0A5D-BB5E-D661-48868DE57864}"/>
              </a:ext>
            </a:extLst>
          </p:cNvPr>
          <p:cNvSpPr/>
          <p:nvPr/>
        </p:nvSpPr>
        <p:spPr>
          <a:xfrm flipH="1">
            <a:off x="502919" y="411480"/>
            <a:ext cx="50400" cy="640080"/>
          </a:xfrm>
          <a:prstGeom prst="roundRect">
            <a:avLst>
              <a:gd name="adj" fmla="val 30953"/>
            </a:avLst>
          </a:prstGeom>
          <a:solidFill>
            <a:srgbClr val="4ADE80"/>
          </a:solidFill>
          <a:ln w="12700">
            <a:noFill/>
            <a:prstDash val="solid"/>
          </a:ln>
          <a:effectLst/>
        </p:spPr>
        <p:txBody>
          <a:bodyPr/>
          <a:lstStyle/>
          <a:p>
            <a:endParaRPr lang="pt-BR" noProof="0" dirty="0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E44241A5-17C5-EFCF-B95F-4F417DACD84F}"/>
              </a:ext>
            </a:extLst>
          </p:cNvPr>
          <p:cNvSpPr/>
          <p:nvPr/>
        </p:nvSpPr>
        <p:spPr>
          <a:xfrm>
            <a:off x="594360" y="566928"/>
            <a:ext cx="5029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pt-BR" sz="2400" b="1" noProof="0" dirty="0">
                <a:solidFill>
                  <a:srgbClr val="4ADE8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Layout do item</a:t>
            </a:r>
            <a:endParaRPr lang="pt-BR" sz="2400" noProof="0" dirty="0"/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23E8163D-E9BB-8FD0-1A59-D3296E0B8D2B}"/>
              </a:ext>
            </a:extLst>
          </p:cNvPr>
          <p:cNvSpPr/>
          <p:nvPr/>
        </p:nvSpPr>
        <p:spPr>
          <a:xfrm>
            <a:off x="457200" y="1234440"/>
            <a:ext cx="457200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pt-BR" sz="1200" noProof="0" dirty="0">
                <a:solidFill>
                  <a:srgbClr val="A8A8B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Cada item é um container </a:t>
            </a:r>
            <a:r>
              <a:rPr lang="pt-BR" sz="1200" noProof="0" dirty="0" err="1">
                <a:solidFill>
                  <a:srgbClr val="4ADE80"/>
                </a:solidFill>
                <a:latin typeface="Courier New" panose="02070309020205020404" pitchFamily="49" charset="0"/>
                <a:ea typeface="Arial" pitchFamily="34" charset="-122"/>
                <a:cs typeface="Courier New" panose="02070309020205020404" pitchFamily="49" charset="0"/>
              </a:rPr>
              <a:t>flex</a:t>
            </a:r>
            <a:r>
              <a:rPr lang="pt-BR" sz="1200" noProof="0" dirty="0">
                <a:solidFill>
                  <a:srgbClr val="A8A8B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horizontal com três partes: imagem, detalhes e total. A área de detalhes recebe </a:t>
            </a:r>
            <a:r>
              <a:rPr lang="pt-BR" sz="1200" dirty="0" err="1">
                <a:solidFill>
                  <a:srgbClr val="4ADE8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flex</a:t>
            </a:r>
            <a:r>
              <a:rPr lang="pt-BR" sz="1200" dirty="0">
                <a:solidFill>
                  <a:srgbClr val="4ADE8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: 1 </a:t>
            </a:r>
            <a:r>
              <a:rPr lang="pt-BR" sz="1200" noProof="0" dirty="0">
                <a:solidFill>
                  <a:srgbClr val="A8A8B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para ocupar todo o espaço entre imagem e preço. O </a:t>
            </a:r>
            <a:r>
              <a:rPr lang="pt-BR" sz="1200" dirty="0">
                <a:solidFill>
                  <a:srgbClr val="4ADE8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min-</a:t>
            </a:r>
            <a:r>
              <a:rPr lang="pt-BR" sz="1200" dirty="0" err="1">
                <a:solidFill>
                  <a:srgbClr val="4ADE8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width</a:t>
            </a:r>
            <a:r>
              <a:rPr lang="pt-BR" sz="1200" dirty="0">
                <a:solidFill>
                  <a:srgbClr val="4ADE8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pt-BR" sz="1200" noProof="0" dirty="0">
                <a:solidFill>
                  <a:srgbClr val="A8A8B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total impede que a coluna de preços encolha, mantendo o alinhamento consistente entre itens.</a:t>
            </a:r>
          </a:p>
        </p:txBody>
      </p:sp>
      <p:sp>
        <p:nvSpPr>
          <p:cNvPr id="7" name="Shape 5">
            <a:extLst>
              <a:ext uri="{FF2B5EF4-FFF2-40B4-BE49-F238E27FC236}">
                <a16:creationId xmlns:a16="http://schemas.microsoft.com/office/drawing/2014/main" id="{52AD6822-F434-4599-BDAE-EF1091344AD9}"/>
              </a:ext>
            </a:extLst>
          </p:cNvPr>
          <p:cNvSpPr/>
          <p:nvPr/>
        </p:nvSpPr>
        <p:spPr>
          <a:xfrm rot="16200000">
            <a:off x="-390206" y="3383453"/>
            <a:ext cx="1737362" cy="48896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4ADE80"/>
          </a:solidFill>
          <a:ln w="12700">
            <a:noFill/>
            <a:prstDash val="solid"/>
          </a:ln>
        </p:spPr>
        <p:txBody>
          <a:bodyPr/>
          <a:lstStyle/>
          <a:p>
            <a:endParaRPr lang="pt-BR" noProof="0" dirty="0"/>
          </a:p>
        </p:txBody>
      </p:sp>
      <p:sp>
        <p:nvSpPr>
          <p:cNvPr id="9" name="Shape 7">
            <a:extLst>
              <a:ext uri="{FF2B5EF4-FFF2-40B4-BE49-F238E27FC236}">
                <a16:creationId xmlns:a16="http://schemas.microsoft.com/office/drawing/2014/main" id="{9BA5CE62-3930-65C2-CE28-C2091F149EF9}"/>
              </a:ext>
            </a:extLst>
          </p:cNvPr>
          <p:cNvSpPr/>
          <p:nvPr/>
        </p:nvSpPr>
        <p:spPr>
          <a:xfrm>
            <a:off x="5394960" y="1051560"/>
            <a:ext cx="3291840" cy="822960"/>
          </a:xfrm>
          <a:prstGeom prst="roundRect">
            <a:avLst/>
          </a:prstGeom>
          <a:solidFill>
            <a:srgbClr val="1A1A20"/>
          </a:solidFill>
          <a:ln w="6350">
            <a:solidFill>
              <a:srgbClr val="2E2E38"/>
            </a:solidFill>
            <a:prstDash val="solid"/>
          </a:ln>
        </p:spPr>
        <p:txBody>
          <a:bodyPr/>
          <a:lstStyle/>
          <a:p>
            <a:endParaRPr lang="pt-BR" noProof="0" dirty="0"/>
          </a:p>
        </p:txBody>
      </p:sp>
      <p:sp>
        <p:nvSpPr>
          <p:cNvPr id="10" name="Shape 8">
            <a:extLst>
              <a:ext uri="{FF2B5EF4-FFF2-40B4-BE49-F238E27FC236}">
                <a16:creationId xmlns:a16="http://schemas.microsoft.com/office/drawing/2014/main" id="{6984DE36-4E2B-E04F-CDD9-936A11869EF4}"/>
              </a:ext>
            </a:extLst>
          </p:cNvPr>
          <p:cNvSpPr/>
          <p:nvPr/>
        </p:nvSpPr>
        <p:spPr>
          <a:xfrm>
            <a:off x="5532120" y="1216152"/>
            <a:ext cx="457200" cy="457200"/>
          </a:xfrm>
          <a:prstGeom prst="ellipse">
            <a:avLst/>
          </a:prstGeom>
          <a:solidFill>
            <a:srgbClr val="4ADE80">
              <a:alpha val="10000"/>
            </a:srgbClr>
          </a:solidFill>
          <a:ln w="6350">
            <a:solidFill>
              <a:srgbClr val="4ADE80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pt-BR" noProof="0" dirty="0"/>
          </a:p>
        </p:txBody>
      </p:sp>
      <p:sp>
        <p:nvSpPr>
          <p:cNvPr id="11" name="Text 9">
            <a:extLst>
              <a:ext uri="{FF2B5EF4-FFF2-40B4-BE49-F238E27FC236}">
                <a16:creationId xmlns:a16="http://schemas.microsoft.com/office/drawing/2014/main" id="{0854FAE6-BB74-C779-901C-BEA8BEF0EA75}"/>
              </a:ext>
            </a:extLst>
          </p:cNvPr>
          <p:cNvSpPr/>
          <p:nvPr/>
        </p:nvSpPr>
        <p:spPr>
          <a:xfrm>
            <a:off x="5532120" y="121615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pt-BR" sz="1200" noProof="0" dirty="0"/>
          </a:p>
        </p:txBody>
      </p:sp>
      <p:sp>
        <p:nvSpPr>
          <p:cNvPr id="12" name="Text 10">
            <a:extLst>
              <a:ext uri="{FF2B5EF4-FFF2-40B4-BE49-F238E27FC236}">
                <a16:creationId xmlns:a16="http://schemas.microsoft.com/office/drawing/2014/main" id="{5515A056-3E85-57A5-57EA-5DB3102A1E4B}"/>
              </a:ext>
            </a:extLst>
          </p:cNvPr>
          <p:cNvSpPr/>
          <p:nvPr/>
        </p:nvSpPr>
        <p:spPr>
          <a:xfrm>
            <a:off x="6080760" y="1143000"/>
            <a:ext cx="2468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pt-BR" sz="1200" dirty="0" err="1">
                <a:solidFill>
                  <a:srgbClr val="4ADE8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flex</a:t>
            </a:r>
            <a:r>
              <a:rPr lang="pt-BR" sz="1100" b="1" noProof="0" dirty="0">
                <a:solidFill>
                  <a:srgbClr val="E1E1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horizontal </a:t>
            </a:r>
          </a:p>
        </p:txBody>
      </p:sp>
      <p:sp>
        <p:nvSpPr>
          <p:cNvPr id="13" name="Text 11">
            <a:extLst>
              <a:ext uri="{FF2B5EF4-FFF2-40B4-BE49-F238E27FC236}">
                <a16:creationId xmlns:a16="http://schemas.microsoft.com/office/drawing/2014/main" id="{EFADCE1D-5CFE-2BA6-AD15-E12C4EB1A0E8}"/>
              </a:ext>
            </a:extLst>
          </p:cNvPr>
          <p:cNvSpPr/>
          <p:nvPr/>
        </p:nvSpPr>
        <p:spPr>
          <a:xfrm>
            <a:off x="6080760" y="1435608"/>
            <a:ext cx="246888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pt-BR" sz="900" noProof="0" dirty="0">
                <a:solidFill>
                  <a:srgbClr val="A8A8B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Imagem, detalhes e total ficam lado a lado</a:t>
            </a:r>
            <a:endParaRPr lang="pt-BR" sz="900" noProof="0" dirty="0"/>
          </a:p>
        </p:txBody>
      </p:sp>
      <p:sp>
        <p:nvSpPr>
          <p:cNvPr id="14" name="Shape 12">
            <a:extLst>
              <a:ext uri="{FF2B5EF4-FFF2-40B4-BE49-F238E27FC236}">
                <a16:creationId xmlns:a16="http://schemas.microsoft.com/office/drawing/2014/main" id="{6C1AFB62-8019-FEF3-022F-C76C24250C69}"/>
              </a:ext>
            </a:extLst>
          </p:cNvPr>
          <p:cNvSpPr/>
          <p:nvPr/>
        </p:nvSpPr>
        <p:spPr>
          <a:xfrm>
            <a:off x="5394960" y="2103120"/>
            <a:ext cx="3291840" cy="822960"/>
          </a:xfrm>
          <a:prstGeom prst="roundRect">
            <a:avLst/>
          </a:prstGeom>
          <a:solidFill>
            <a:srgbClr val="1A1A20"/>
          </a:solidFill>
          <a:ln w="6350">
            <a:solidFill>
              <a:srgbClr val="2E2E38"/>
            </a:solidFill>
            <a:prstDash val="solid"/>
          </a:ln>
        </p:spPr>
        <p:txBody>
          <a:bodyPr/>
          <a:lstStyle/>
          <a:p>
            <a:endParaRPr lang="pt-BR" noProof="0" dirty="0"/>
          </a:p>
        </p:txBody>
      </p:sp>
      <p:sp>
        <p:nvSpPr>
          <p:cNvPr id="15" name="Shape 13">
            <a:extLst>
              <a:ext uri="{FF2B5EF4-FFF2-40B4-BE49-F238E27FC236}">
                <a16:creationId xmlns:a16="http://schemas.microsoft.com/office/drawing/2014/main" id="{58022981-65D0-0AD7-9A58-96BFA4A6DD97}"/>
              </a:ext>
            </a:extLst>
          </p:cNvPr>
          <p:cNvSpPr/>
          <p:nvPr/>
        </p:nvSpPr>
        <p:spPr>
          <a:xfrm>
            <a:off x="5532120" y="2267712"/>
            <a:ext cx="457200" cy="457200"/>
          </a:xfrm>
          <a:prstGeom prst="ellipse">
            <a:avLst/>
          </a:prstGeom>
          <a:solidFill>
            <a:srgbClr val="4ADE80">
              <a:alpha val="10000"/>
            </a:srgbClr>
          </a:solidFill>
          <a:ln w="6350">
            <a:solidFill>
              <a:srgbClr val="4ADE80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pt-BR" noProof="0" dirty="0"/>
          </a:p>
        </p:txBody>
      </p:sp>
      <p:sp>
        <p:nvSpPr>
          <p:cNvPr id="16" name="Text 14">
            <a:extLst>
              <a:ext uri="{FF2B5EF4-FFF2-40B4-BE49-F238E27FC236}">
                <a16:creationId xmlns:a16="http://schemas.microsoft.com/office/drawing/2014/main" id="{F8C63228-B2D4-AAF5-EC8C-71E35BF2D6D7}"/>
              </a:ext>
            </a:extLst>
          </p:cNvPr>
          <p:cNvSpPr/>
          <p:nvPr/>
        </p:nvSpPr>
        <p:spPr>
          <a:xfrm>
            <a:off x="5532120" y="226771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pt-BR" sz="1200" noProof="0" dirty="0"/>
          </a:p>
        </p:txBody>
      </p:sp>
      <p:sp>
        <p:nvSpPr>
          <p:cNvPr id="17" name="Text 15">
            <a:extLst>
              <a:ext uri="{FF2B5EF4-FFF2-40B4-BE49-F238E27FC236}">
                <a16:creationId xmlns:a16="http://schemas.microsoft.com/office/drawing/2014/main" id="{336810AE-F444-B309-59DE-BA718264CBBD}"/>
              </a:ext>
            </a:extLst>
          </p:cNvPr>
          <p:cNvSpPr/>
          <p:nvPr/>
        </p:nvSpPr>
        <p:spPr>
          <a:xfrm>
            <a:off x="6080760" y="2194560"/>
            <a:ext cx="2468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pt-BR" sz="1200" dirty="0" err="1">
                <a:solidFill>
                  <a:srgbClr val="4ADE8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flex</a:t>
            </a:r>
            <a:r>
              <a:rPr lang="pt-BR" sz="1200" dirty="0">
                <a:solidFill>
                  <a:srgbClr val="4ADE8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: 1 </a:t>
            </a:r>
          </a:p>
        </p:txBody>
      </p:sp>
      <p:sp>
        <p:nvSpPr>
          <p:cNvPr id="18" name="Text 16">
            <a:extLst>
              <a:ext uri="{FF2B5EF4-FFF2-40B4-BE49-F238E27FC236}">
                <a16:creationId xmlns:a16="http://schemas.microsoft.com/office/drawing/2014/main" id="{AAC84B75-7E45-5A32-4150-4FA4CE488A2C}"/>
              </a:ext>
            </a:extLst>
          </p:cNvPr>
          <p:cNvSpPr/>
          <p:nvPr/>
        </p:nvSpPr>
        <p:spPr>
          <a:xfrm>
            <a:off x="6080760" y="2487168"/>
            <a:ext cx="246888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pt-BR" sz="900" noProof="0" dirty="0">
                <a:solidFill>
                  <a:srgbClr val="A8A8B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Detalhes ocupam todo o espaço disponível entre imagem e total</a:t>
            </a:r>
            <a:endParaRPr lang="pt-BR" sz="900" noProof="0" dirty="0"/>
          </a:p>
        </p:txBody>
      </p:sp>
      <p:sp>
        <p:nvSpPr>
          <p:cNvPr id="19" name="Shape 17">
            <a:extLst>
              <a:ext uri="{FF2B5EF4-FFF2-40B4-BE49-F238E27FC236}">
                <a16:creationId xmlns:a16="http://schemas.microsoft.com/office/drawing/2014/main" id="{57075B26-0B89-4C85-4833-CF1014438B7F}"/>
              </a:ext>
            </a:extLst>
          </p:cNvPr>
          <p:cNvSpPr/>
          <p:nvPr/>
        </p:nvSpPr>
        <p:spPr>
          <a:xfrm>
            <a:off x="5394960" y="3154680"/>
            <a:ext cx="3291840" cy="822960"/>
          </a:xfrm>
          <a:prstGeom prst="roundRect">
            <a:avLst/>
          </a:prstGeom>
          <a:solidFill>
            <a:srgbClr val="1A1A20"/>
          </a:solidFill>
          <a:ln w="6350">
            <a:solidFill>
              <a:srgbClr val="2E2E38"/>
            </a:solidFill>
            <a:prstDash val="solid"/>
          </a:ln>
        </p:spPr>
        <p:txBody>
          <a:bodyPr/>
          <a:lstStyle/>
          <a:p>
            <a:endParaRPr lang="pt-BR" noProof="0" dirty="0"/>
          </a:p>
        </p:txBody>
      </p:sp>
      <p:sp>
        <p:nvSpPr>
          <p:cNvPr id="20" name="Shape 18">
            <a:extLst>
              <a:ext uri="{FF2B5EF4-FFF2-40B4-BE49-F238E27FC236}">
                <a16:creationId xmlns:a16="http://schemas.microsoft.com/office/drawing/2014/main" id="{CA6D5120-66BF-4539-DACA-E7A6B3C10A9E}"/>
              </a:ext>
            </a:extLst>
          </p:cNvPr>
          <p:cNvSpPr/>
          <p:nvPr/>
        </p:nvSpPr>
        <p:spPr>
          <a:xfrm>
            <a:off x="5532120" y="3319272"/>
            <a:ext cx="457200" cy="457200"/>
          </a:xfrm>
          <a:prstGeom prst="ellipse">
            <a:avLst/>
          </a:prstGeom>
          <a:solidFill>
            <a:srgbClr val="4ADE80">
              <a:alpha val="10000"/>
            </a:srgbClr>
          </a:solidFill>
          <a:ln w="6350">
            <a:solidFill>
              <a:srgbClr val="4ADE80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pt-BR" noProof="0" dirty="0"/>
          </a:p>
        </p:txBody>
      </p:sp>
      <p:sp>
        <p:nvSpPr>
          <p:cNvPr id="21" name="Text 19">
            <a:extLst>
              <a:ext uri="{FF2B5EF4-FFF2-40B4-BE49-F238E27FC236}">
                <a16:creationId xmlns:a16="http://schemas.microsoft.com/office/drawing/2014/main" id="{F862241D-D7A4-47F8-C7A7-8D95F9A69108}"/>
              </a:ext>
            </a:extLst>
          </p:cNvPr>
          <p:cNvSpPr/>
          <p:nvPr/>
        </p:nvSpPr>
        <p:spPr>
          <a:xfrm>
            <a:off x="5532120" y="331927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pt-BR" sz="1200" noProof="0" dirty="0"/>
          </a:p>
        </p:txBody>
      </p:sp>
      <p:sp>
        <p:nvSpPr>
          <p:cNvPr id="22" name="Text 20">
            <a:extLst>
              <a:ext uri="{FF2B5EF4-FFF2-40B4-BE49-F238E27FC236}">
                <a16:creationId xmlns:a16="http://schemas.microsoft.com/office/drawing/2014/main" id="{B81762F5-CF6D-2D26-FB3C-C724E385AA19}"/>
              </a:ext>
            </a:extLst>
          </p:cNvPr>
          <p:cNvSpPr/>
          <p:nvPr/>
        </p:nvSpPr>
        <p:spPr>
          <a:xfrm>
            <a:off x="6080760" y="3246120"/>
            <a:ext cx="2468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pt-BR" sz="1200" dirty="0">
                <a:solidFill>
                  <a:srgbClr val="4ADE8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min-</a:t>
            </a:r>
            <a:r>
              <a:rPr lang="pt-BR" sz="1200" dirty="0" err="1">
                <a:solidFill>
                  <a:srgbClr val="4ADE8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width</a:t>
            </a:r>
            <a:r>
              <a:rPr lang="pt-BR" sz="1100" b="1" noProof="0" dirty="0">
                <a:solidFill>
                  <a:srgbClr val="E1E1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endParaRPr lang="pt-BR" sz="1100" noProof="0" dirty="0"/>
          </a:p>
        </p:txBody>
      </p:sp>
      <p:sp>
        <p:nvSpPr>
          <p:cNvPr id="23" name="Text 21">
            <a:extLst>
              <a:ext uri="{FF2B5EF4-FFF2-40B4-BE49-F238E27FC236}">
                <a16:creationId xmlns:a16="http://schemas.microsoft.com/office/drawing/2014/main" id="{0528C7DE-1B57-4E01-89A7-5BB688AB1CBE}"/>
              </a:ext>
            </a:extLst>
          </p:cNvPr>
          <p:cNvSpPr/>
          <p:nvPr/>
        </p:nvSpPr>
        <p:spPr>
          <a:xfrm>
            <a:off x="6080760" y="3538728"/>
            <a:ext cx="246888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pt-BR" sz="900" noProof="0" dirty="0">
                <a:solidFill>
                  <a:srgbClr val="A8A8B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Coluna de preços mantém largura mesmo com valores pequenos</a:t>
            </a:r>
            <a:endParaRPr lang="pt-BR" sz="900" noProof="0" dirty="0"/>
          </a:p>
        </p:txBody>
      </p:sp>
      <p:pic>
        <p:nvPicPr>
          <p:cNvPr id="6" name="Imagem 5">
            <a:extLst>
              <a:ext uri="{FF2B5EF4-FFF2-40B4-BE49-F238E27FC236}">
                <a16:creationId xmlns:a16="http://schemas.microsoft.com/office/drawing/2014/main" id="{095F3664-31E3-7F74-F1EE-4ADF42F512D5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7051" t="14332" r="7602" b="13910"/>
          <a:stretch>
            <a:fillRect/>
          </a:stretch>
        </p:blipFill>
        <p:spPr>
          <a:xfrm>
            <a:off x="504000" y="2538001"/>
            <a:ext cx="4118819" cy="17373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6725871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21214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40D8456-67C4-D2A2-8C5C-1EF2A5D789E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4BB9482E-0798-7905-E657-2B7709942AA1}"/>
              </a:ext>
            </a:extLst>
          </p:cNvPr>
          <p:cNvSpPr/>
          <p:nvPr/>
        </p:nvSpPr>
        <p:spPr>
          <a:xfrm flipH="1">
            <a:off x="502919" y="411480"/>
            <a:ext cx="50400" cy="640080"/>
          </a:xfrm>
          <a:prstGeom prst="roundRect">
            <a:avLst>
              <a:gd name="adj" fmla="val 30953"/>
            </a:avLst>
          </a:prstGeom>
          <a:solidFill>
            <a:srgbClr val="4ADE80"/>
          </a:solidFill>
          <a:ln w="12700">
            <a:noFill/>
            <a:prstDash val="solid"/>
          </a:ln>
          <a:effectLst/>
        </p:spPr>
        <p:txBody>
          <a:bodyPr/>
          <a:lstStyle/>
          <a:p>
            <a:endParaRPr lang="pt-BR" noProof="0" dirty="0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B365A913-3E63-7FD8-5190-3B1213BB1812}"/>
              </a:ext>
            </a:extLst>
          </p:cNvPr>
          <p:cNvSpPr/>
          <p:nvPr/>
        </p:nvSpPr>
        <p:spPr>
          <a:xfrm>
            <a:off x="594359" y="566928"/>
            <a:ext cx="5679831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pt-BR" sz="2400" b="1" noProof="0" dirty="0">
                <a:solidFill>
                  <a:srgbClr val="4ADE8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Ações e </a:t>
            </a:r>
            <a:r>
              <a:rPr lang="pt-BR" sz="2400" b="1" noProof="0" dirty="0" err="1">
                <a:solidFill>
                  <a:srgbClr val="4ADE8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pseudo-classe</a:t>
            </a:r>
            <a:r>
              <a:rPr lang="pt-BR" sz="2400" b="1" noProof="0" dirty="0">
                <a:solidFill>
                  <a:srgbClr val="4ADE8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 </a:t>
            </a:r>
            <a:r>
              <a:rPr lang="pt-BR" sz="2400" b="1" noProof="0" dirty="0">
                <a:solidFill>
                  <a:srgbClr val="4ADE80"/>
                </a:solidFill>
                <a:latin typeface="Courier New" panose="02070309020205020404" pitchFamily="49" charset="0"/>
                <a:ea typeface="Arial Black" pitchFamily="34" charset="-122"/>
                <a:cs typeface="Courier New" panose="02070309020205020404" pitchFamily="49" charset="0"/>
              </a:rPr>
              <a:t>:</a:t>
            </a:r>
            <a:r>
              <a:rPr lang="pt-BR" sz="2400" b="1" noProof="0" dirty="0" err="1">
                <a:solidFill>
                  <a:srgbClr val="4ADE80"/>
                </a:solidFill>
                <a:latin typeface="Courier New" panose="02070309020205020404" pitchFamily="49" charset="0"/>
                <a:ea typeface="Arial Black" pitchFamily="34" charset="-122"/>
                <a:cs typeface="Courier New" panose="02070309020205020404" pitchFamily="49" charset="0"/>
              </a:rPr>
              <a:t>focus</a:t>
            </a:r>
            <a:endParaRPr lang="pt-BR" sz="2400" noProof="0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A5D1762C-9774-6835-9156-EE88925AC0F7}"/>
              </a:ext>
            </a:extLst>
          </p:cNvPr>
          <p:cNvSpPr/>
          <p:nvPr/>
        </p:nvSpPr>
        <p:spPr>
          <a:xfrm>
            <a:off x="457200" y="1234440"/>
            <a:ext cx="457200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pt-BR" sz="1200" noProof="0" dirty="0">
                <a:solidFill>
                  <a:srgbClr val="A8A8B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</a:t>
            </a:r>
            <a:r>
              <a:rPr lang="pt-BR" sz="1200" noProof="0" dirty="0">
                <a:solidFill>
                  <a:srgbClr val="4ADE80"/>
                </a:solidFill>
                <a:latin typeface="Courier New" panose="02070309020205020404" pitchFamily="49" charset="0"/>
                <a:ea typeface="Arial" pitchFamily="34" charset="-122"/>
                <a:cs typeface="Courier New" panose="02070309020205020404" pitchFamily="49" charset="0"/>
              </a:rPr>
              <a:t>:</a:t>
            </a:r>
            <a:r>
              <a:rPr lang="pt-BR" sz="1200" noProof="0" dirty="0" err="1">
                <a:solidFill>
                  <a:srgbClr val="4ADE80"/>
                </a:solidFill>
                <a:latin typeface="Courier New" panose="02070309020205020404" pitchFamily="49" charset="0"/>
                <a:ea typeface="Arial" pitchFamily="34" charset="-122"/>
                <a:cs typeface="Courier New" panose="02070309020205020404" pitchFamily="49" charset="0"/>
              </a:rPr>
              <a:t>focus</a:t>
            </a:r>
            <a:r>
              <a:rPr lang="pt-BR" sz="1200" noProof="0" dirty="0">
                <a:solidFill>
                  <a:srgbClr val="4ADE80"/>
                </a:solidFill>
                <a:latin typeface="Courier New" panose="02070309020205020404" pitchFamily="49" charset="0"/>
                <a:ea typeface="Arial" pitchFamily="34" charset="-122"/>
                <a:cs typeface="Courier New" panose="02070309020205020404" pitchFamily="49" charset="0"/>
              </a:rPr>
              <a:t> </a:t>
            </a:r>
            <a:r>
              <a:rPr lang="pt-BR" sz="1200" noProof="0" dirty="0">
                <a:solidFill>
                  <a:srgbClr val="A8A8B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aplica estilos quando o elemento está ativo — aqui, quando o usuário clica no </a:t>
            </a:r>
            <a:r>
              <a:rPr lang="pt-BR" sz="1200" dirty="0">
                <a:solidFill>
                  <a:srgbClr val="4ADE8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input</a:t>
            </a:r>
            <a:r>
              <a:rPr lang="pt-BR" sz="1200" noProof="0" dirty="0">
                <a:solidFill>
                  <a:srgbClr val="A8A8B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, a borda muda para a cor de destaque. Isso substitui o </a:t>
            </a:r>
            <a:r>
              <a:rPr lang="pt-BR" sz="1200" dirty="0" err="1">
                <a:solidFill>
                  <a:srgbClr val="4ADE8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outline</a:t>
            </a:r>
            <a:r>
              <a:rPr lang="pt-BR" sz="1200" noProof="0" dirty="0">
                <a:solidFill>
                  <a:srgbClr val="A8A8B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padrão do navegador por um feedback visual consistente com o restante do projeto.</a:t>
            </a:r>
          </a:p>
        </p:txBody>
      </p:sp>
      <p:sp>
        <p:nvSpPr>
          <p:cNvPr id="7" name="Shape 5">
            <a:extLst>
              <a:ext uri="{FF2B5EF4-FFF2-40B4-BE49-F238E27FC236}">
                <a16:creationId xmlns:a16="http://schemas.microsoft.com/office/drawing/2014/main" id="{FC9A7414-E669-AF4A-29B9-32BD2E0B3A36}"/>
              </a:ext>
            </a:extLst>
          </p:cNvPr>
          <p:cNvSpPr/>
          <p:nvPr/>
        </p:nvSpPr>
        <p:spPr>
          <a:xfrm rot="16200000">
            <a:off x="-390206" y="3453791"/>
            <a:ext cx="1737362" cy="48896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4ADE80"/>
          </a:solidFill>
          <a:ln w="12700">
            <a:noFill/>
            <a:prstDash val="solid"/>
          </a:ln>
        </p:spPr>
        <p:txBody>
          <a:bodyPr/>
          <a:lstStyle/>
          <a:p>
            <a:endParaRPr lang="pt-BR" noProof="0" dirty="0"/>
          </a:p>
        </p:txBody>
      </p:sp>
      <p:sp>
        <p:nvSpPr>
          <p:cNvPr id="9" name="Shape 7">
            <a:extLst>
              <a:ext uri="{FF2B5EF4-FFF2-40B4-BE49-F238E27FC236}">
                <a16:creationId xmlns:a16="http://schemas.microsoft.com/office/drawing/2014/main" id="{7F2CFCBF-AD97-9492-C391-85A3B24737F3}"/>
              </a:ext>
            </a:extLst>
          </p:cNvPr>
          <p:cNvSpPr/>
          <p:nvPr/>
        </p:nvSpPr>
        <p:spPr>
          <a:xfrm>
            <a:off x="5394960" y="1051560"/>
            <a:ext cx="3291840" cy="822960"/>
          </a:xfrm>
          <a:prstGeom prst="roundRect">
            <a:avLst/>
          </a:prstGeom>
          <a:solidFill>
            <a:srgbClr val="1A1A20"/>
          </a:solidFill>
          <a:ln w="6350">
            <a:solidFill>
              <a:srgbClr val="2E2E38"/>
            </a:solidFill>
            <a:prstDash val="solid"/>
          </a:ln>
        </p:spPr>
        <p:txBody>
          <a:bodyPr/>
          <a:lstStyle/>
          <a:p>
            <a:endParaRPr lang="pt-BR" noProof="0" dirty="0"/>
          </a:p>
        </p:txBody>
      </p:sp>
      <p:sp>
        <p:nvSpPr>
          <p:cNvPr id="10" name="Shape 8">
            <a:extLst>
              <a:ext uri="{FF2B5EF4-FFF2-40B4-BE49-F238E27FC236}">
                <a16:creationId xmlns:a16="http://schemas.microsoft.com/office/drawing/2014/main" id="{51B01777-3089-048F-84D9-91887F02CF7F}"/>
              </a:ext>
            </a:extLst>
          </p:cNvPr>
          <p:cNvSpPr/>
          <p:nvPr/>
        </p:nvSpPr>
        <p:spPr>
          <a:xfrm>
            <a:off x="5532120" y="1216152"/>
            <a:ext cx="457200" cy="457200"/>
          </a:xfrm>
          <a:prstGeom prst="ellipse">
            <a:avLst/>
          </a:prstGeom>
          <a:solidFill>
            <a:srgbClr val="4ADE80">
              <a:alpha val="10000"/>
            </a:srgbClr>
          </a:solidFill>
          <a:ln w="6350">
            <a:solidFill>
              <a:srgbClr val="4ADE80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pt-BR" noProof="0" dirty="0"/>
          </a:p>
        </p:txBody>
      </p:sp>
      <p:sp>
        <p:nvSpPr>
          <p:cNvPr id="11" name="Text 9">
            <a:extLst>
              <a:ext uri="{FF2B5EF4-FFF2-40B4-BE49-F238E27FC236}">
                <a16:creationId xmlns:a16="http://schemas.microsoft.com/office/drawing/2014/main" id="{8B6E1356-AA0F-1D09-271C-7F7B5A4BBF4E}"/>
              </a:ext>
            </a:extLst>
          </p:cNvPr>
          <p:cNvSpPr/>
          <p:nvPr/>
        </p:nvSpPr>
        <p:spPr>
          <a:xfrm>
            <a:off x="5532120" y="121615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pt-BR" sz="1200" noProof="0" dirty="0"/>
          </a:p>
        </p:txBody>
      </p:sp>
      <p:sp>
        <p:nvSpPr>
          <p:cNvPr id="12" name="Text 10">
            <a:extLst>
              <a:ext uri="{FF2B5EF4-FFF2-40B4-BE49-F238E27FC236}">
                <a16:creationId xmlns:a16="http://schemas.microsoft.com/office/drawing/2014/main" id="{255911F3-215F-ED03-B028-FB6CB3136E70}"/>
              </a:ext>
            </a:extLst>
          </p:cNvPr>
          <p:cNvSpPr/>
          <p:nvPr/>
        </p:nvSpPr>
        <p:spPr>
          <a:xfrm>
            <a:off x="6080760" y="1143000"/>
            <a:ext cx="2468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pt-BR" sz="1100" b="1" noProof="0" dirty="0">
                <a:solidFill>
                  <a:srgbClr val="4ADE80"/>
                </a:solidFill>
                <a:latin typeface="Courier New" panose="02070309020205020404" pitchFamily="49" charset="0"/>
                <a:ea typeface="Arial" pitchFamily="34" charset="-122"/>
                <a:cs typeface="Courier New" panose="02070309020205020404" pitchFamily="49" charset="0"/>
              </a:rPr>
              <a:t>:</a:t>
            </a:r>
            <a:r>
              <a:rPr lang="pt-BR" sz="1100" b="1" noProof="0" dirty="0" err="1">
                <a:solidFill>
                  <a:srgbClr val="4ADE80"/>
                </a:solidFill>
                <a:latin typeface="Courier New" panose="02070309020205020404" pitchFamily="49" charset="0"/>
                <a:ea typeface="Arial" pitchFamily="34" charset="-122"/>
                <a:cs typeface="Courier New" panose="02070309020205020404" pitchFamily="49" charset="0"/>
              </a:rPr>
              <a:t>focus</a:t>
            </a:r>
            <a:endParaRPr lang="pt-BR" sz="1100" b="1" noProof="0" dirty="0">
              <a:solidFill>
                <a:srgbClr val="4ADE80"/>
              </a:solidFill>
              <a:latin typeface="Courier New" panose="02070309020205020404" pitchFamily="49" charset="0"/>
              <a:ea typeface="Arial" pitchFamily="34" charset="-122"/>
              <a:cs typeface="Courier New" panose="02070309020205020404" pitchFamily="49" charset="0"/>
            </a:endParaRPr>
          </a:p>
        </p:txBody>
      </p:sp>
      <p:sp>
        <p:nvSpPr>
          <p:cNvPr id="13" name="Text 11">
            <a:extLst>
              <a:ext uri="{FF2B5EF4-FFF2-40B4-BE49-F238E27FC236}">
                <a16:creationId xmlns:a16="http://schemas.microsoft.com/office/drawing/2014/main" id="{E97B69C8-7C4A-7222-CBCE-2B09FD45F384}"/>
              </a:ext>
            </a:extLst>
          </p:cNvPr>
          <p:cNvSpPr/>
          <p:nvPr/>
        </p:nvSpPr>
        <p:spPr>
          <a:xfrm>
            <a:off x="6080760" y="1435608"/>
            <a:ext cx="246888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pt-BR" sz="900" noProof="0" dirty="0" err="1">
                <a:solidFill>
                  <a:srgbClr val="A8A8B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Pseudo-classe</a:t>
            </a:r>
            <a:r>
              <a:rPr lang="pt-BR" sz="900" noProof="0" dirty="0">
                <a:solidFill>
                  <a:srgbClr val="A8A8B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ativa quando o elemento está selecionado</a:t>
            </a:r>
            <a:endParaRPr lang="pt-BR" sz="900" noProof="0" dirty="0"/>
          </a:p>
        </p:txBody>
      </p:sp>
      <p:sp>
        <p:nvSpPr>
          <p:cNvPr id="14" name="Shape 12">
            <a:extLst>
              <a:ext uri="{FF2B5EF4-FFF2-40B4-BE49-F238E27FC236}">
                <a16:creationId xmlns:a16="http://schemas.microsoft.com/office/drawing/2014/main" id="{0AFDACB2-0542-58A2-FC56-57608E273379}"/>
              </a:ext>
            </a:extLst>
          </p:cNvPr>
          <p:cNvSpPr/>
          <p:nvPr/>
        </p:nvSpPr>
        <p:spPr>
          <a:xfrm>
            <a:off x="5394960" y="2103120"/>
            <a:ext cx="3291840" cy="822960"/>
          </a:xfrm>
          <a:prstGeom prst="roundRect">
            <a:avLst/>
          </a:prstGeom>
          <a:solidFill>
            <a:srgbClr val="1A1A20"/>
          </a:solidFill>
          <a:ln w="6350">
            <a:solidFill>
              <a:srgbClr val="2E2E38"/>
            </a:solidFill>
            <a:prstDash val="solid"/>
          </a:ln>
        </p:spPr>
        <p:txBody>
          <a:bodyPr/>
          <a:lstStyle/>
          <a:p>
            <a:endParaRPr lang="pt-BR" noProof="0" dirty="0"/>
          </a:p>
        </p:txBody>
      </p:sp>
      <p:sp>
        <p:nvSpPr>
          <p:cNvPr id="15" name="Shape 13">
            <a:extLst>
              <a:ext uri="{FF2B5EF4-FFF2-40B4-BE49-F238E27FC236}">
                <a16:creationId xmlns:a16="http://schemas.microsoft.com/office/drawing/2014/main" id="{59E55524-AA02-A3EF-4241-D16C73C558CA}"/>
              </a:ext>
            </a:extLst>
          </p:cNvPr>
          <p:cNvSpPr/>
          <p:nvPr/>
        </p:nvSpPr>
        <p:spPr>
          <a:xfrm>
            <a:off x="5532120" y="2267712"/>
            <a:ext cx="457200" cy="457200"/>
          </a:xfrm>
          <a:prstGeom prst="ellipse">
            <a:avLst/>
          </a:prstGeom>
          <a:solidFill>
            <a:srgbClr val="4ADE80">
              <a:alpha val="10000"/>
            </a:srgbClr>
          </a:solidFill>
          <a:ln w="6350">
            <a:solidFill>
              <a:srgbClr val="4ADE80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pt-BR" noProof="0" dirty="0"/>
          </a:p>
        </p:txBody>
      </p:sp>
      <p:sp>
        <p:nvSpPr>
          <p:cNvPr id="16" name="Text 14">
            <a:extLst>
              <a:ext uri="{FF2B5EF4-FFF2-40B4-BE49-F238E27FC236}">
                <a16:creationId xmlns:a16="http://schemas.microsoft.com/office/drawing/2014/main" id="{46DFC934-B908-9CE9-6676-BBAA0AAD60A8}"/>
              </a:ext>
            </a:extLst>
          </p:cNvPr>
          <p:cNvSpPr/>
          <p:nvPr/>
        </p:nvSpPr>
        <p:spPr>
          <a:xfrm>
            <a:off x="5532120" y="226771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pt-BR" sz="1200" noProof="0" dirty="0"/>
          </a:p>
        </p:txBody>
      </p:sp>
      <p:sp>
        <p:nvSpPr>
          <p:cNvPr id="17" name="Text 15">
            <a:extLst>
              <a:ext uri="{FF2B5EF4-FFF2-40B4-BE49-F238E27FC236}">
                <a16:creationId xmlns:a16="http://schemas.microsoft.com/office/drawing/2014/main" id="{14F2D50A-74D4-6D31-708D-EEAC22EA6BE5}"/>
              </a:ext>
            </a:extLst>
          </p:cNvPr>
          <p:cNvSpPr/>
          <p:nvPr/>
        </p:nvSpPr>
        <p:spPr>
          <a:xfrm>
            <a:off x="6080760" y="2194560"/>
            <a:ext cx="2468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pt-BR" sz="1100" b="1" noProof="0" dirty="0" err="1">
                <a:solidFill>
                  <a:srgbClr val="4ADE80"/>
                </a:solidFill>
                <a:latin typeface="Courier New" panose="02070309020205020404" pitchFamily="49" charset="0"/>
                <a:ea typeface="Arial" pitchFamily="34" charset="-122"/>
                <a:cs typeface="Courier New" panose="02070309020205020404" pitchFamily="49" charset="0"/>
              </a:rPr>
              <a:t>outline</a:t>
            </a:r>
            <a:r>
              <a:rPr lang="pt-BR" sz="1100" b="1" noProof="0" dirty="0">
                <a:solidFill>
                  <a:srgbClr val="4ADE80"/>
                </a:solidFill>
                <a:latin typeface="Courier New" panose="02070309020205020404" pitchFamily="49" charset="0"/>
                <a:ea typeface="Arial" pitchFamily="34" charset="-122"/>
                <a:cs typeface="Courier New" panose="02070309020205020404" pitchFamily="49" charset="0"/>
              </a:rPr>
              <a:t>: </a:t>
            </a:r>
            <a:r>
              <a:rPr lang="pt-BR" sz="1100" b="1" noProof="0" dirty="0" err="1">
                <a:solidFill>
                  <a:srgbClr val="4ADE80"/>
                </a:solidFill>
                <a:latin typeface="Courier New" panose="02070309020205020404" pitchFamily="49" charset="0"/>
                <a:ea typeface="Arial" pitchFamily="34" charset="-122"/>
                <a:cs typeface="Courier New" panose="02070309020205020404" pitchFamily="49" charset="0"/>
              </a:rPr>
              <a:t>none</a:t>
            </a:r>
            <a:endParaRPr lang="pt-BR" sz="1100" noProof="0" dirty="0">
              <a:solidFill>
                <a:srgbClr val="4ADE8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18" name="Text 16">
            <a:extLst>
              <a:ext uri="{FF2B5EF4-FFF2-40B4-BE49-F238E27FC236}">
                <a16:creationId xmlns:a16="http://schemas.microsoft.com/office/drawing/2014/main" id="{0E461D09-F8AD-2876-D125-13A479BFC854}"/>
              </a:ext>
            </a:extLst>
          </p:cNvPr>
          <p:cNvSpPr/>
          <p:nvPr/>
        </p:nvSpPr>
        <p:spPr>
          <a:xfrm>
            <a:off x="6080760" y="2487168"/>
            <a:ext cx="246888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pt-BR" sz="900" noProof="0" dirty="0">
                <a:solidFill>
                  <a:srgbClr val="A8A8B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Remove o contorno azul padrão do navegador</a:t>
            </a:r>
            <a:endParaRPr lang="pt-BR" sz="900" noProof="0" dirty="0"/>
          </a:p>
        </p:txBody>
      </p:sp>
      <p:sp>
        <p:nvSpPr>
          <p:cNvPr id="19" name="Shape 17">
            <a:extLst>
              <a:ext uri="{FF2B5EF4-FFF2-40B4-BE49-F238E27FC236}">
                <a16:creationId xmlns:a16="http://schemas.microsoft.com/office/drawing/2014/main" id="{E2B79F43-0913-88AE-4BE6-F7EE4F7DA960}"/>
              </a:ext>
            </a:extLst>
          </p:cNvPr>
          <p:cNvSpPr/>
          <p:nvPr/>
        </p:nvSpPr>
        <p:spPr>
          <a:xfrm>
            <a:off x="5394960" y="3154680"/>
            <a:ext cx="3291840" cy="822960"/>
          </a:xfrm>
          <a:prstGeom prst="roundRect">
            <a:avLst/>
          </a:prstGeom>
          <a:solidFill>
            <a:srgbClr val="1A1A20"/>
          </a:solidFill>
          <a:ln w="6350">
            <a:solidFill>
              <a:srgbClr val="2E2E38"/>
            </a:solidFill>
            <a:prstDash val="solid"/>
          </a:ln>
        </p:spPr>
        <p:txBody>
          <a:bodyPr/>
          <a:lstStyle/>
          <a:p>
            <a:endParaRPr lang="pt-BR" noProof="0" dirty="0"/>
          </a:p>
        </p:txBody>
      </p:sp>
      <p:sp>
        <p:nvSpPr>
          <p:cNvPr id="20" name="Shape 18">
            <a:extLst>
              <a:ext uri="{FF2B5EF4-FFF2-40B4-BE49-F238E27FC236}">
                <a16:creationId xmlns:a16="http://schemas.microsoft.com/office/drawing/2014/main" id="{C3B25052-918D-0DA5-CB3F-0920D0CD048F}"/>
              </a:ext>
            </a:extLst>
          </p:cNvPr>
          <p:cNvSpPr/>
          <p:nvPr/>
        </p:nvSpPr>
        <p:spPr>
          <a:xfrm>
            <a:off x="5532120" y="3319272"/>
            <a:ext cx="457200" cy="457200"/>
          </a:xfrm>
          <a:prstGeom prst="ellipse">
            <a:avLst/>
          </a:prstGeom>
          <a:solidFill>
            <a:srgbClr val="4ADE80">
              <a:alpha val="10000"/>
            </a:srgbClr>
          </a:solidFill>
          <a:ln w="6350">
            <a:solidFill>
              <a:srgbClr val="4ADE80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pt-BR" noProof="0" dirty="0"/>
          </a:p>
        </p:txBody>
      </p:sp>
      <p:sp>
        <p:nvSpPr>
          <p:cNvPr id="21" name="Text 19">
            <a:extLst>
              <a:ext uri="{FF2B5EF4-FFF2-40B4-BE49-F238E27FC236}">
                <a16:creationId xmlns:a16="http://schemas.microsoft.com/office/drawing/2014/main" id="{13C1EE48-4F8E-AC94-8DFF-4C78CBCF75D9}"/>
              </a:ext>
            </a:extLst>
          </p:cNvPr>
          <p:cNvSpPr/>
          <p:nvPr/>
        </p:nvSpPr>
        <p:spPr>
          <a:xfrm>
            <a:off x="5532120" y="331927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pt-BR" sz="1200" noProof="0" dirty="0"/>
          </a:p>
        </p:txBody>
      </p:sp>
      <p:sp>
        <p:nvSpPr>
          <p:cNvPr id="22" name="Text 20">
            <a:extLst>
              <a:ext uri="{FF2B5EF4-FFF2-40B4-BE49-F238E27FC236}">
                <a16:creationId xmlns:a16="http://schemas.microsoft.com/office/drawing/2014/main" id="{94047533-B81D-F811-1165-FE244BAE64D5}"/>
              </a:ext>
            </a:extLst>
          </p:cNvPr>
          <p:cNvSpPr/>
          <p:nvPr/>
        </p:nvSpPr>
        <p:spPr>
          <a:xfrm>
            <a:off x="6080760" y="3246120"/>
            <a:ext cx="2468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pt-BR" sz="1100" b="1" noProof="0" dirty="0" err="1">
                <a:solidFill>
                  <a:srgbClr val="4ADE80"/>
                </a:solidFill>
                <a:latin typeface="Courier New" panose="02070309020205020404" pitchFamily="49" charset="0"/>
                <a:ea typeface="Arial" pitchFamily="34" charset="-122"/>
                <a:cs typeface="Courier New" panose="02070309020205020404" pitchFamily="49" charset="0"/>
              </a:rPr>
              <a:t>border</a:t>
            </a:r>
            <a:r>
              <a:rPr lang="pt-BR" sz="1100" b="1" noProof="0" dirty="0">
                <a:solidFill>
                  <a:srgbClr val="4ADE80"/>
                </a:solidFill>
                <a:latin typeface="Courier New" panose="02070309020205020404" pitchFamily="49" charset="0"/>
                <a:ea typeface="Arial" pitchFamily="34" charset="-122"/>
                <a:cs typeface="Courier New" panose="02070309020205020404" pitchFamily="49" charset="0"/>
              </a:rPr>
              <a:t>-color: var(--</a:t>
            </a:r>
            <a:r>
              <a:rPr lang="pt-BR" sz="1100" b="1" noProof="0" dirty="0" err="1">
                <a:solidFill>
                  <a:srgbClr val="4ADE80"/>
                </a:solidFill>
                <a:latin typeface="Courier New" panose="02070309020205020404" pitchFamily="49" charset="0"/>
                <a:ea typeface="Arial" pitchFamily="34" charset="-122"/>
                <a:cs typeface="Courier New" panose="02070309020205020404" pitchFamily="49" charset="0"/>
              </a:rPr>
              <a:t>accent</a:t>
            </a:r>
            <a:r>
              <a:rPr lang="pt-BR" sz="1100" b="1" noProof="0" dirty="0">
                <a:solidFill>
                  <a:srgbClr val="4ADE80"/>
                </a:solidFill>
                <a:latin typeface="Courier New" panose="02070309020205020404" pitchFamily="49" charset="0"/>
                <a:ea typeface="Arial" pitchFamily="34" charset="-122"/>
                <a:cs typeface="Courier New" panose="02070309020205020404" pitchFamily="49" charset="0"/>
              </a:rPr>
              <a:t>)</a:t>
            </a:r>
            <a:endParaRPr lang="pt-BR" sz="1100" noProof="0" dirty="0">
              <a:solidFill>
                <a:srgbClr val="4ADE8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23" name="Text 21">
            <a:extLst>
              <a:ext uri="{FF2B5EF4-FFF2-40B4-BE49-F238E27FC236}">
                <a16:creationId xmlns:a16="http://schemas.microsoft.com/office/drawing/2014/main" id="{95FB3A16-A948-F261-CBA3-AC7ECDE6F913}"/>
              </a:ext>
            </a:extLst>
          </p:cNvPr>
          <p:cNvSpPr/>
          <p:nvPr/>
        </p:nvSpPr>
        <p:spPr>
          <a:xfrm>
            <a:off x="6080760" y="3538728"/>
            <a:ext cx="246888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pt-BR" sz="900" noProof="0" dirty="0">
                <a:solidFill>
                  <a:srgbClr val="A8A8B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Substitui pelo feedback visual do projeto</a:t>
            </a:r>
            <a:endParaRPr lang="pt-BR" sz="900" noProof="0" dirty="0"/>
          </a:p>
        </p:txBody>
      </p:sp>
      <p:pic>
        <p:nvPicPr>
          <p:cNvPr id="6" name="Imagem 5">
            <a:extLst>
              <a:ext uri="{FF2B5EF4-FFF2-40B4-BE49-F238E27FC236}">
                <a16:creationId xmlns:a16="http://schemas.microsoft.com/office/drawing/2014/main" id="{8DEF8DD6-832A-8A09-8486-4DF621FF108E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7995" t="12308" r="8468" b="12615"/>
          <a:stretch>
            <a:fillRect/>
          </a:stretch>
        </p:blipFill>
        <p:spPr>
          <a:xfrm>
            <a:off x="504000" y="2610000"/>
            <a:ext cx="2870571" cy="17302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2400534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212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286000" cy="5143500"/>
          </a:xfrm>
          <a:prstGeom prst="rect">
            <a:avLst/>
          </a:prstGeom>
          <a:solidFill>
            <a:srgbClr val="0F1F0F"/>
          </a:solidFill>
          <a:ln w="3810">
            <a:solidFill>
              <a:srgbClr val="4ADE80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pt-BR" noProof="0" dirty="0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2286000" cy="5143500"/>
          </a:xfrm>
          <a:prstGeom prst="rect">
            <a:avLst/>
          </a:prstGeom>
          <a:solidFill>
            <a:srgbClr val="4ADE80">
              <a:alpha val="4000"/>
            </a:srgbClr>
          </a:solidFill>
          <a:ln w="12700">
            <a:solidFill>
              <a:srgbClr val="4ADE80"/>
            </a:solidFill>
            <a:prstDash val="solid"/>
          </a:ln>
        </p:spPr>
        <p:txBody>
          <a:bodyPr/>
          <a:lstStyle/>
          <a:p>
            <a:endParaRPr lang="pt-BR" noProof="0" dirty="0"/>
          </a:p>
        </p:txBody>
      </p:sp>
      <p:sp>
        <p:nvSpPr>
          <p:cNvPr id="5" name="Text 3"/>
          <p:cNvSpPr/>
          <p:nvPr/>
        </p:nvSpPr>
        <p:spPr>
          <a:xfrm>
            <a:off x="0" y="1645920"/>
            <a:ext cx="228600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pt-BR" sz="2800" b="1" noProof="0" dirty="0">
                <a:solidFill>
                  <a:srgbClr val="4ADE8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Semântica</a:t>
            </a:r>
            <a:endParaRPr lang="pt-BR" sz="3000" noProof="0" dirty="0"/>
          </a:p>
        </p:txBody>
      </p:sp>
      <p:sp>
        <p:nvSpPr>
          <p:cNvPr id="7" name="Text 5"/>
          <p:cNvSpPr/>
          <p:nvPr/>
        </p:nvSpPr>
        <p:spPr>
          <a:xfrm>
            <a:off x="2651760" y="640080"/>
            <a:ext cx="6126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pt-BR" sz="2600" b="1" noProof="0" dirty="0">
                <a:solidFill>
                  <a:srgbClr val="E1E1E6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Cores e feedback visual</a:t>
            </a:r>
            <a:endParaRPr lang="pt-BR" sz="2600" noProof="0" dirty="0"/>
          </a:p>
        </p:txBody>
      </p:sp>
      <p:sp>
        <p:nvSpPr>
          <p:cNvPr id="8" name="Shape 6"/>
          <p:cNvSpPr/>
          <p:nvPr/>
        </p:nvSpPr>
        <p:spPr>
          <a:xfrm>
            <a:off x="2651760" y="1417320"/>
            <a:ext cx="45720" cy="1554480"/>
          </a:xfrm>
          <a:prstGeom prst="rect">
            <a:avLst/>
          </a:prstGeom>
          <a:solidFill>
            <a:srgbClr val="2E2E38"/>
          </a:solidFill>
          <a:ln w="12700">
            <a:solidFill>
              <a:srgbClr val="2E2E38"/>
            </a:solidFill>
            <a:prstDash val="solid"/>
          </a:ln>
        </p:spPr>
        <p:txBody>
          <a:bodyPr/>
          <a:lstStyle/>
          <a:p>
            <a:endParaRPr lang="pt-BR" noProof="0" dirty="0"/>
          </a:p>
        </p:txBody>
      </p:sp>
      <p:sp>
        <p:nvSpPr>
          <p:cNvPr id="9" name="Text 7"/>
          <p:cNvSpPr/>
          <p:nvPr/>
        </p:nvSpPr>
        <p:spPr>
          <a:xfrm>
            <a:off x="2816352" y="1417320"/>
            <a:ext cx="5943600" cy="1554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pt-BR" sz="1300" noProof="0" dirty="0">
                <a:solidFill>
                  <a:srgbClr val="A8A8B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carrinho, cores têm significado além da estética: vermelho para ação destrutiva e verde para ação positiva. O </a:t>
            </a:r>
            <a:r>
              <a:rPr lang="pt-BR" sz="1300" noProof="0" dirty="0" err="1">
                <a:solidFill>
                  <a:srgbClr val="4ADE80"/>
                </a:solidFill>
                <a:latin typeface="Courier New" panose="02070309020205020404" pitchFamily="49" charset="0"/>
                <a:ea typeface="Arial" pitchFamily="34" charset="-122"/>
                <a:cs typeface="Courier New" panose="02070309020205020404" pitchFamily="49" charset="0"/>
              </a:rPr>
              <a:t>hover</a:t>
            </a:r>
            <a:r>
              <a:rPr lang="pt-BR" sz="1300" noProof="0" dirty="0">
                <a:solidFill>
                  <a:srgbClr val="A8A8B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reforça o feedback com elevação via </a:t>
            </a:r>
            <a:r>
              <a:rPr lang="pt-BR" sz="1300" dirty="0" err="1">
                <a:solidFill>
                  <a:srgbClr val="4ADE8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translateY</a:t>
            </a:r>
            <a:r>
              <a:rPr lang="pt-BR" sz="1300" noProof="0" dirty="0">
                <a:solidFill>
                  <a:srgbClr val="A8A8B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 O </a:t>
            </a:r>
            <a:r>
              <a:rPr lang="pt-BR" sz="1300" dirty="0" err="1">
                <a:solidFill>
                  <a:srgbClr val="4ADE8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btn</a:t>
            </a:r>
            <a:r>
              <a:rPr lang="pt-BR" sz="1300" dirty="0">
                <a:solidFill>
                  <a:srgbClr val="4ADE8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-voltar</a:t>
            </a:r>
            <a:r>
              <a:rPr lang="pt-BR" sz="1300" noProof="0" dirty="0">
                <a:solidFill>
                  <a:srgbClr val="A8A8B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é um elemento </a:t>
            </a:r>
            <a:r>
              <a:rPr lang="pt-BR" sz="1300" noProof="0" dirty="0">
                <a:solidFill>
                  <a:srgbClr val="4ADE80"/>
                </a:solidFill>
                <a:latin typeface="Courier New" panose="02070309020205020404" pitchFamily="49" charset="0"/>
                <a:ea typeface="Arial" pitchFamily="34" charset="-122"/>
                <a:cs typeface="Courier New" panose="02070309020205020404" pitchFamily="49" charset="0"/>
              </a:rPr>
              <a:t>&lt;a&gt;</a:t>
            </a:r>
            <a:r>
              <a:rPr lang="pt-BR" sz="1300" noProof="0" dirty="0">
                <a:solidFill>
                  <a:srgbClr val="A8A8B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estilizado como botão — </a:t>
            </a:r>
            <a:r>
              <a:rPr lang="pt-BR" sz="1300" dirty="0">
                <a:solidFill>
                  <a:srgbClr val="4ADE8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display: </a:t>
            </a:r>
            <a:r>
              <a:rPr lang="pt-BR" sz="1300" dirty="0" err="1">
                <a:solidFill>
                  <a:srgbClr val="4ADE8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inline-block</a:t>
            </a:r>
            <a:r>
              <a:rPr lang="pt-BR" sz="1300" dirty="0">
                <a:solidFill>
                  <a:srgbClr val="4ADE8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pt-BR" sz="1300" noProof="0" dirty="0">
                <a:solidFill>
                  <a:srgbClr val="A8A8B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é necessário para que o </a:t>
            </a:r>
            <a:r>
              <a:rPr lang="pt-BR" sz="1300" dirty="0" err="1">
                <a:solidFill>
                  <a:srgbClr val="4ADE8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padding</a:t>
            </a:r>
            <a:r>
              <a:rPr lang="pt-BR" sz="1300" noProof="0" dirty="0">
                <a:solidFill>
                  <a:srgbClr val="A8A8B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vertical seja respeitado.</a:t>
            </a:r>
          </a:p>
        </p:txBody>
      </p:sp>
      <p:sp>
        <p:nvSpPr>
          <p:cNvPr id="4" name="Shape 8">
            <a:extLst>
              <a:ext uri="{FF2B5EF4-FFF2-40B4-BE49-F238E27FC236}">
                <a16:creationId xmlns:a16="http://schemas.microsoft.com/office/drawing/2014/main" id="{BD3C1F00-59CC-1978-1B6C-11384ADD9EE3}"/>
              </a:ext>
            </a:extLst>
          </p:cNvPr>
          <p:cNvSpPr/>
          <p:nvPr/>
        </p:nvSpPr>
        <p:spPr>
          <a:xfrm>
            <a:off x="2651758" y="3154680"/>
            <a:ext cx="6108196" cy="256032"/>
          </a:xfrm>
          <a:prstGeom prst="roundRect">
            <a:avLst>
              <a:gd name="adj" fmla="val 14286"/>
            </a:avLst>
          </a:prstGeom>
          <a:solidFill>
            <a:srgbClr val="1A1A20"/>
          </a:solidFill>
          <a:ln w="6350">
            <a:solidFill>
              <a:srgbClr val="2E2E38"/>
            </a:solidFill>
            <a:prstDash val="solid"/>
          </a:ln>
        </p:spPr>
        <p:txBody>
          <a:bodyPr/>
          <a:lstStyle/>
          <a:p>
            <a:endParaRPr lang="pt-BR" noProof="0" dirty="0"/>
          </a:p>
        </p:txBody>
      </p:sp>
      <p:sp>
        <p:nvSpPr>
          <p:cNvPr id="6" name="Text 9">
            <a:extLst>
              <a:ext uri="{FF2B5EF4-FFF2-40B4-BE49-F238E27FC236}">
                <a16:creationId xmlns:a16="http://schemas.microsoft.com/office/drawing/2014/main" id="{6D824F51-C71A-66C5-A3A8-D813C94A00E8}"/>
              </a:ext>
            </a:extLst>
          </p:cNvPr>
          <p:cNvSpPr/>
          <p:nvPr/>
        </p:nvSpPr>
        <p:spPr>
          <a:xfrm>
            <a:off x="2731768" y="3154680"/>
            <a:ext cx="5841193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pt-BR" sz="900" noProof="0" dirty="0">
                <a:solidFill>
                  <a:srgbClr val="4ADE80"/>
                </a:solidFill>
                <a:latin typeface="Courier New" pitchFamily="34" charset="0"/>
                <a:cs typeface="Courier New" pitchFamily="34" charset="-120"/>
              </a:rPr>
              <a:t>Vermelho (#e74c3c) </a:t>
            </a:r>
            <a:r>
              <a:rPr lang="pt-BR" sz="900" dirty="0">
                <a:solidFill>
                  <a:srgbClr val="A8A8B3"/>
                </a:solidFill>
                <a:latin typeface="Courier New" pitchFamily="34" charset="0"/>
                <a:cs typeface="Courier New" pitchFamily="34" charset="-120"/>
              </a:rPr>
              <a:t>→ Ação destrutiva — sinaliza que o item será removido</a:t>
            </a:r>
          </a:p>
        </p:txBody>
      </p:sp>
      <p:sp>
        <p:nvSpPr>
          <p:cNvPr id="20" name="Shape 10">
            <a:extLst>
              <a:ext uri="{FF2B5EF4-FFF2-40B4-BE49-F238E27FC236}">
                <a16:creationId xmlns:a16="http://schemas.microsoft.com/office/drawing/2014/main" id="{9EDFD4EA-36AE-BFDF-B4B6-3681F0283F16}"/>
              </a:ext>
            </a:extLst>
          </p:cNvPr>
          <p:cNvSpPr/>
          <p:nvPr/>
        </p:nvSpPr>
        <p:spPr>
          <a:xfrm>
            <a:off x="2651758" y="3497404"/>
            <a:ext cx="6108195" cy="256032"/>
          </a:xfrm>
          <a:prstGeom prst="roundRect">
            <a:avLst>
              <a:gd name="adj" fmla="val 14286"/>
            </a:avLst>
          </a:prstGeom>
          <a:solidFill>
            <a:srgbClr val="1A1A20"/>
          </a:solidFill>
          <a:ln w="6350">
            <a:solidFill>
              <a:srgbClr val="2E2E38"/>
            </a:solidFill>
            <a:prstDash val="solid"/>
          </a:ln>
        </p:spPr>
        <p:txBody>
          <a:bodyPr/>
          <a:lstStyle/>
          <a:p>
            <a:endParaRPr lang="pt-BR" noProof="0" dirty="0"/>
          </a:p>
        </p:txBody>
      </p:sp>
      <p:sp>
        <p:nvSpPr>
          <p:cNvPr id="21" name="Text 11">
            <a:extLst>
              <a:ext uri="{FF2B5EF4-FFF2-40B4-BE49-F238E27FC236}">
                <a16:creationId xmlns:a16="http://schemas.microsoft.com/office/drawing/2014/main" id="{84D14C9B-684B-3F49-A267-7AFEE348DB10}"/>
              </a:ext>
            </a:extLst>
          </p:cNvPr>
          <p:cNvSpPr/>
          <p:nvPr/>
        </p:nvSpPr>
        <p:spPr>
          <a:xfrm>
            <a:off x="2731769" y="3497404"/>
            <a:ext cx="5260531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900" noProof="0" dirty="0">
                <a:solidFill>
                  <a:srgbClr val="4ADE80"/>
                </a:solidFill>
                <a:latin typeface="Courier New" pitchFamily="34" charset="0"/>
                <a:cs typeface="Courier New" pitchFamily="34" charset="-120"/>
              </a:rPr>
              <a:t>Verde (#27ae60) </a:t>
            </a:r>
            <a:r>
              <a:rPr lang="pt-BR" sz="900" dirty="0">
                <a:solidFill>
                  <a:srgbClr val="A8A8B3"/>
                </a:solidFill>
                <a:latin typeface="Courier New" pitchFamily="34" charset="0"/>
                <a:cs typeface="Courier New" pitchFamily="34" charset="-120"/>
              </a:rPr>
              <a:t>→ Ação positiva — sinaliza conclusão e confirmação</a:t>
            </a:r>
          </a:p>
        </p:txBody>
      </p:sp>
      <p:sp>
        <p:nvSpPr>
          <p:cNvPr id="22" name="Shape 12">
            <a:extLst>
              <a:ext uri="{FF2B5EF4-FFF2-40B4-BE49-F238E27FC236}">
                <a16:creationId xmlns:a16="http://schemas.microsoft.com/office/drawing/2014/main" id="{9DC7B5BE-CD8E-6187-1EC5-0E7A53C9AB30}"/>
              </a:ext>
            </a:extLst>
          </p:cNvPr>
          <p:cNvSpPr/>
          <p:nvPr/>
        </p:nvSpPr>
        <p:spPr>
          <a:xfrm>
            <a:off x="2651758" y="3840128"/>
            <a:ext cx="6108196" cy="256032"/>
          </a:xfrm>
          <a:prstGeom prst="roundRect">
            <a:avLst>
              <a:gd name="adj" fmla="val 14286"/>
            </a:avLst>
          </a:prstGeom>
          <a:solidFill>
            <a:srgbClr val="1A1A20"/>
          </a:solidFill>
          <a:ln w="6350">
            <a:solidFill>
              <a:srgbClr val="2E2E38"/>
            </a:solidFill>
            <a:prstDash val="solid"/>
          </a:ln>
        </p:spPr>
        <p:txBody>
          <a:bodyPr/>
          <a:lstStyle/>
          <a:p>
            <a:endParaRPr lang="pt-BR" noProof="0" dirty="0"/>
          </a:p>
        </p:txBody>
      </p:sp>
      <p:sp>
        <p:nvSpPr>
          <p:cNvPr id="23" name="Text 13">
            <a:extLst>
              <a:ext uri="{FF2B5EF4-FFF2-40B4-BE49-F238E27FC236}">
                <a16:creationId xmlns:a16="http://schemas.microsoft.com/office/drawing/2014/main" id="{410B6D0E-5085-AE21-AB24-DCD9AE8E4934}"/>
              </a:ext>
            </a:extLst>
          </p:cNvPr>
          <p:cNvSpPr/>
          <p:nvPr/>
        </p:nvSpPr>
        <p:spPr>
          <a:xfrm>
            <a:off x="2731768" y="3840128"/>
            <a:ext cx="61081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900" noProof="0" dirty="0">
                <a:solidFill>
                  <a:srgbClr val="4ADE80"/>
                </a:solidFill>
                <a:latin typeface="Courier New" pitchFamily="34" charset="0"/>
                <a:cs typeface="Courier New" pitchFamily="34" charset="-120"/>
              </a:rPr>
              <a:t>display: </a:t>
            </a:r>
            <a:r>
              <a:rPr lang="pt-BR" sz="900" noProof="0" dirty="0" err="1">
                <a:solidFill>
                  <a:srgbClr val="4ADE80"/>
                </a:solidFill>
                <a:latin typeface="Courier New" pitchFamily="34" charset="0"/>
                <a:cs typeface="Courier New" pitchFamily="34" charset="-120"/>
              </a:rPr>
              <a:t>inline-block</a:t>
            </a:r>
            <a:r>
              <a:rPr lang="pt-BR" sz="900" noProof="0" dirty="0">
                <a:solidFill>
                  <a:srgbClr val="4ADE80"/>
                </a:solidFill>
                <a:latin typeface="Courier New" pitchFamily="34" charset="0"/>
                <a:cs typeface="Courier New" pitchFamily="34" charset="-120"/>
              </a:rPr>
              <a:t> </a:t>
            </a:r>
            <a:r>
              <a:rPr lang="pt-BR" sz="900" dirty="0">
                <a:solidFill>
                  <a:srgbClr val="A8A8B3"/>
                </a:solidFill>
                <a:latin typeface="Courier New" pitchFamily="34" charset="0"/>
                <a:cs typeface="Courier New" pitchFamily="34" charset="-120"/>
              </a:rPr>
              <a:t>→ Permite </a:t>
            </a:r>
            <a:r>
              <a:rPr lang="pt-BR" sz="900" dirty="0" err="1">
                <a:solidFill>
                  <a:srgbClr val="4ADE80"/>
                </a:solidFill>
                <a:latin typeface="Courier New" pitchFamily="34" charset="0"/>
                <a:cs typeface="Courier New" pitchFamily="34" charset="-120"/>
              </a:rPr>
              <a:t>padding</a:t>
            </a:r>
            <a:r>
              <a:rPr lang="pt-BR" sz="900" dirty="0">
                <a:solidFill>
                  <a:srgbClr val="A8A8B3"/>
                </a:solidFill>
                <a:latin typeface="Courier New" pitchFamily="34" charset="0"/>
                <a:cs typeface="Courier New" pitchFamily="34" charset="-120"/>
              </a:rPr>
              <a:t> vertical em elementos </a:t>
            </a:r>
            <a:r>
              <a:rPr lang="pt-BR" sz="900" dirty="0" err="1">
                <a:solidFill>
                  <a:srgbClr val="4ADE80"/>
                </a:solidFill>
                <a:latin typeface="Courier New" pitchFamily="34" charset="0"/>
                <a:cs typeface="Courier New" pitchFamily="34" charset="-120"/>
              </a:rPr>
              <a:t>inline</a:t>
            </a:r>
            <a:r>
              <a:rPr lang="pt-BR" sz="900" dirty="0">
                <a:solidFill>
                  <a:srgbClr val="A8A8B3"/>
                </a:solidFill>
                <a:latin typeface="Courier New" pitchFamily="34" charset="0"/>
                <a:cs typeface="Courier New" pitchFamily="34" charset="-120"/>
              </a:rPr>
              <a:t> como </a:t>
            </a:r>
            <a:r>
              <a:rPr lang="pt-BR" sz="900" dirty="0">
                <a:solidFill>
                  <a:srgbClr val="4ADE80"/>
                </a:solidFill>
                <a:latin typeface="Courier New" pitchFamily="34" charset="0"/>
                <a:cs typeface="Courier New" pitchFamily="34" charset="-120"/>
              </a:rPr>
              <a:t>&lt;a&gt;</a:t>
            </a:r>
          </a:p>
        </p:txBody>
      </p:sp>
      <p:sp>
        <p:nvSpPr>
          <p:cNvPr id="24" name="Shape 14">
            <a:extLst>
              <a:ext uri="{FF2B5EF4-FFF2-40B4-BE49-F238E27FC236}">
                <a16:creationId xmlns:a16="http://schemas.microsoft.com/office/drawing/2014/main" id="{22F82FCA-09A8-D3F4-06DE-AE765F4EA63F}"/>
              </a:ext>
            </a:extLst>
          </p:cNvPr>
          <p:cNvSpPr/>
          <p:nvPr/>
        </p:nvSpPr>
        <p:spPr>
          <a:xfrm>
            <a:off x="2651757" y="4182852"/>
            <a:ext cx="6108195" cy="256032"/>
          </a:xfrm>
          <a:prstGeom prst="roundRect">
            <a:avLst>
              <a:gd name="adj" fmla="val 14286"/>
            </a:avLst>
          </a:prstGeom>
          <a:solidFill>
            <a:srgbClr val="1A1A20"/>
          </a:solidFill>
          <a:ln w="6350">
            <a:solidFill>
              <a:srgbClr val="2E2E38"/>
            </a:solidFill>
            <a:prstDash val="solid"/>
          </a:ln>
        </p:spPr>
        <p:txBody>
          <a:bodyPr/>
          <a:lstStyle/>
          <a:p>
            <a:endParaRPr lang="pt-BR" noProof="0" dirty="0"/>
          </a:p>
        </p:txBody>
      </p:sp>
      <p:sp>
        <p:nvSpPr>
          <p:cNvPr id="25" name="Text 15">
            <a:extLst>
              <a:ext uri="{FF2B5EF4-FFF2-40B4-BE49-F238E27FC236}">
                <a16:creationId xmlns:a16="http://schemas.microsoft.com/office/drawing/2014/main" id="{983D111D-0ABD-A246-873A-4B7DA8CA766E}"/>
              </a:ext>
            </a:extLst>
          </p:cNvPr>
          <p:cNvSpPr/>
          <p:nvPr/>
        </p:nvSpPr>
        <p:spPr>
          <a:xfrm>
            <a:off x="2731768" y="4182852"/>
            <a:ext cx="5062273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900" noProof="0" dirty="0" err="1">
                <a:solidFill>
                  <a:srgbClr val="4ADE80"/>
                </a:solidFill>
                <a:latin typeface="Courier New" pitchFamily="34" charset="0"/>
                <a:cs typeface="Courier New" pitchFamily="34" charset="-120"/>
              </a:rPr>
              <a:t>translateY</a:t>
            </a:r>
            <a:r>
              <a:rPr lang="pt-BR" sz="900" noProof="0" dirty="0">
                <a:solidFill>
                  <a:srgbClr val="4ADE80"/>
                </a:solidFill>
                <a:latin typeface="Courier New" pitchFamily="34" charset="0"/>
                <a:cs typeface="Courier New" pitchFamily="34" charset="-120"/>
              </a:rPr>
              <a:t>(-3px) </a:t>
            </a:r>
            <a:r>
              <a:rPr lang="pt-BR" sz="900" dirty="0">
                <a:solidFill>
                  <a:srgbClr val="A8A8B3"/>
                </a:solidFill>
                <a:latin typeface="Courier New" pitchFamily="34" charset="0"/>
                <a:cs typeface="Courier New" pitchFamily="34" charset="-120"/>
              </a:rPr>
              <a:t>→ Simula elevação no </a:t>
            </a:r>
            <a:r>
              <a:rPr lang="pt-BR" sz="900" dirty="0" err="1">
                <a:solidFill>
                  <a:srgbClr val="4ADE80"/>
                </a:solidFill>
                <a:latin typeface="Courier New" pitchFamily="34" charset="0"/>
                <a:cs typeface="Courier New" pitchFamily="34" charset="-120"/>
              </a:rPr>
              <a:t>hover</a:t>
            </a:r>
            <a:r>
              <a:rPr lang="pt-BR" sz="900" dirty="0">
                <a:solidFill>
                  <a:srgbClr val="A8A8B3"/>
                </a:solidFill>
                <a:latin typeface="Courier New" pitchFamily="34" charset="0"/>
                <a:cs typeface="Courier New" pitchFamily="34" charset="-120"/>
              </a:rPr>
              <a:t> sem deslocar o layout</a:t>
            </a:r>
          </a:p>
        </p:txBody>
      </p:sp>
      <p:sp>
        <p:nvSpPr>
          <p:cNvPr id="26" name="Shape 14">
            <a:extLst>
              <a:ext uri="{FF2B5EF4-FFF2-40B4-BE49-F238E27FC236}">
                <a16:creationId xmlns:a16="http://schemas.microsoft.com/office/drawing/2014/main" id="{ED516DB5-D8A2-8252-90E4-93BF9426D7C1}"/>
              </a:ext>
            </a:extLst>
          </p:cNvPr>
          <p:cNvSpPr/>
          <p:nvPr/>
        </p:nvSpPr>
        <p:spPr>
          <a:xfrm>
            <a:off x="2651757" y="4525576"/>
            <a:ext cx="6108195" cy="256032"/>
          </a:xfrm>
          <a:prstGeom prst="roundRect">
            <a:avLst>
              <a:gd name="adj" fmla="val 14286"/>
            </a:avLst>
          </a:prstGeom>
          <a:solidFill>
            <a:srgbClr val="1A1A20"/>
          </a:solidFill>
          <a:ln w="6350">
            <a:solidFill>
              <a:srgbClr val="2E2E38"/>
            </a:solidFill>
            <a:prstDash val="solid"/>
          </a:ln>
        </p:spPr>
        <p:txBody>
          <a:bodyPr/>
          <a:lstStyle/>
          <a:p>
            <a:endParaRPr lang="pt-BR" noProof="0" dirty="0"/>
          </a:p>
        </p:txBody>
      </p:sp>
      <p:sp>
        <p:nvSpPr>
          <p:cNvPr id="27" name="Text 15">
            <a:extLst>
              <a:ext uri="{FF2B5EF4-FFF2-40B4-BE49-F238E27FC236}">
                <a16:creationId xmlns:a16="http://schemas.microsoft.com/office/drawing/2014/main" id="{572E8DEE-4049-E14E-A78E-10161FC5E185}"/>
              </a:ext>
            </a:extLst>
          </p:cNvPr>
          <p:cNvSpPr/>
          <p:nvPr/>
        </p:nvSpPr>
        <p:spPr>
          <a:xfrm>
            <a:off x="2731768" y="4525576"/>
            <a:ext cx="5062273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900" noProof="0" dirty="0">
                <a:solidFill>
                  <a:srgbClr val="4ADE80"/>
                </a:solidFill>
                <a:latin typeface="Courier New" pitchFamily="34" charset="0"/>
                <a:cs typeface="Courier New" pitchFamily="34" charset="-120"/>
              </a:rPr>
              <a:t>box-</a:t>
            </a:r>
            <a:r>
              <a:rPr lang="pt-BR" sz="900" noProof="0" dirty="0" err="1">
                <a:solidFill>
                  <a:srgbClr val="4ADE80"/>
                </a:solidFill>
                <a:latin typeface="Courier New" pitchFamily="34" charset="0"/>
                <a:cs typeface="Courier New" pitchFamily="34" charset="-120"/>
              </a:rPr>
              <a:t>shadow</a:t>
            </a:r>
            <a:r>
              <a:rPr lang="pt-BR" sz="900" noProof="0" dirty="0">
                <a:solidFill>
                  <a:srgbClr val="4ADE80"/>
                </a:solidFill>
                <a:latin typeface="Courier New" pitchFamily="34" charset="0"/>
                <a:cs typeface="Courier New" pitchFamily="34" charset="-120"/>
              </a:rPr>
              <a:t> colorido </a:t>
            </a:r>
            <a:r>
              <a:rPr lang="pt-BR" sz="900" dirty="0">
                <a:solidFill>
                  <a:srgbClr val="A8A8B3"/>
                </a:solidFill>
                <a:latin typeface="Courier New" pitchFamily="34" charset="0"/>
                <a:cs typeface="Courier New" pitchFamily="34" charset="-120"/>
              </a:rPr>
              <a:t>→ Sombra na cor do botão reforça a identidade visual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212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6400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pt-BR" sz="2400" b="1" noProof="0" dirty="0">
                <a:solidFill>
                  <a:srgbClr val="E1E1E6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Conclusão</a:t>
            </a:r>
            <a:endParaRPr lang="pt-BR" sz="2400" noProof="0" dirty="0"/>
          </a:p>
        </p:txBody>
      </p:sp>
      <p:sp>
        <p:nvSpPr>
          <p:cNvPr id="4" name="Shape 2"/>
          <p:cNvSpPr/>
          <p:nvPr/>
        </p:nvSpPr>
        <p:spPr>
          <a:xfrm>
            <a:off x="457200" y="868680"/>
            <a:ext cx="8229600" cy="0"/>
          </a:xfrm>
          <a:prstGeom prst="line">
            <a:avLst/>
          </a:prstGeom>
          <a:noFill/>
          <a:ln w="10160">
            <a:solidFill>
              <a:srgbClr val="1E1E28"/>
            </a:solidFill>
            <a:prstDash val="solid"/>
          </a:ln>
        </p:spPr>
        <p:txBody>
          <a:bodyPr/>
          <a:lstStyle/>
          <a:p>
            <a:endParaRPr lang="pt-BR" noProof="0" dirty="0"/>
          </a:p>
        </p:txBody>
      </p:sp>
      <p:sp>
        <p:nvSpPr>
          <p:cNvPr id="5" name="Shape 3"/>
          <p:cNvSpPr/>
          <p:nvPr/>
        </p:nvSpPr>
        <p:spPr>
          <a:xfrm>
            <a:off x="457200" y="1005840"/>
            <a:ext cx="4114800" cy="903600"/>
          </a:xfrm>
          <a:prstGeom prst="roundRect">
            <a:avLst/>
          </a:prstGeom>
          <a:solidFill>
            <a:srgbClr val="171720"/>
          </a:solidFill>
          <a:ln w="6350">
            <a:noFill/>
            <a:prstDash val="solid"/>
          </a:ln>
        </p:spPr>
        <p:txBody>
          <a:bodyPr/>
          <a:lstStyle/>
          <a:p>
            <a:endParaRPr lang="pt-BR" noProof="0" dirty="0"/>
          </a:p>
        </p:txBody>
      </p:sp>
      <p:sp>
        <p:nvSpPr>
          <p:cNvPr id="6" name="Shape 4"/>
          <p:cNvSpPr/>
          <p:nvPr/>
        </p:nvSpPr>
        <p:spPr>
          <a:xfrm>
            <a:off x="566928" y="1161288"/>
            <a:ext cx="384048" cy="384048"/>
          </a:xfrm>
          <a:prstGeom prst="ellipse">
            <a:avLst/>
          </a:prstGeom>
          <a:solidFill>
            <a:srgbClr val="4ADE80">
              <a:alpha val="10000"/>
            </a:srgbClr>
          </a:solidFill>
          <a:ln w="6350">
            <a:solidFill>
              <a:srgbClr val="4ADE80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pt-BR" noProof="0" dirty="0"/>
          </a:p>
        </p:txBody>
      </p:sp>
      <p:sp>
        <p:nvSpPr>
          <p:cNvPr id="7" name="Text 5"/>
          <p:cNvSpPr/>
          <p:nvPr/>
        </p:nvSpPr>
        <p:spPr>
          <a:xfrm>
            <a:off x="566928" y="116128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pt-BR" sz="1000" noProof="0" dirty="0">
                <a:solidFill>
                  <a:srgbClr val="4ADE80"/>
                </a:solidFill>
              </a:rPr>
              <a:t>✓</a:t>
            </a:r>
            <a:endParaRPr lang="pt-BR" sz="1000" noProof="0" dirty="0"/>
          </a:p>
        </p:txBody>
      </p:sp>
      <p:sp>
        <p:nvSpPr>
          <p:cNvPr id="8" name="Text 6"/>
          <p:cNvSpPr/>
          <p:nvPr/>
        </p:nvSpPr>
        <p:spPr>
          <a:xfrm>
            <a:off x="1051560" y="1097280"/>
            <a:ext cx="3383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pt-BR" sz="1200" b="1" noProof="0" dirty="0">
                <a:solidFill>
                  <a:srgbClr val="4ADE80"/>
                </a:solidFill>
                <a:latin typeface="Courier New" panose="02070309020205020404" pitchFamily="49" charset="0"/>
                <a:ea typeface="Arial" pitchFamily="34" charset="-122"/>
                <a:cs typeface="Courier New" panose="02070309020205020404" pitchFamily="49" charset="0"/>
              </a:rPr>
              <a:t>box-</a:t>
            </a:r>
            <a:r>
              <a:rPr lang="pt-BR" sz="1200" b="1" noProof="0" dirty="0" err="1">
                <a:solidFill>
                  <a:srgbClr val="4ADE80"/>
                </a:solidFill>
                <a:latin typeface="Courier New" panose="02070309020205020404" pitchFamily="49" charset="0"/>
                <a:ea typeface="Arial" pitchFamily="34" charset="-122"/>
                <a:cs typeface="Courier New" panose="02070309020205020404" pitchFamily="49" charset="0"/>
              </a:rPr>
              <a:t>shadow</a:t>
            </a:r>
            <a:endParaRPr lang="pt-BR" sz="1200" noProof="0" dirty="0">
              <a:solidFill>
                <a:srgbClr val="4ADE8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9" name="Text 7"/>
          <p:cNvSpPr/>
          <p:nvPr/>
        </p:nvSpPr>
        <p:spPr>
          <a:xfrm>
            <a:off x="1051560" y="1426464"/>
            <a:ext cx="3383280" cy="2560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pt-BR" sz="900" noProof="0" dirty="0">
                <a:solidFill>
                  <a:srgbClr val="A8A8B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profundidade com deslocamento, desfoque e cor com opacidade</a:t>
            </a:r>
            <a:endParaRPr lang="pt-BR" sz="900" noProof="0" dirty="0"/>
          </a:p>
        </p:txBody>
      </p:sp>
      <p:sp>
        <p:nvSpPr>
          <p:cNvPr id="10" name="Shape 8"/>
          <p:cNvSpPr/>
          <p:nvPr/>
        </p:nvSpPr>
        <p:spPr>
          <a:xfrm>
            <a:off x="4846320" y="1005840"/>
            <a:ext cx="4114800" cy="903600"/>
          </a:xfrm>
          <a:prstGeom prst="roundRect">
            <a:avLst/>
          </a:prstGeom>
          <a:solidFill>
            <a:srgbClr val="171720"/>
          </a:solidFill>
          <a:ln w="6350">
            <a:noFill/>
            <a:prstDash val="solid"/>
          </a:ln>
        </p:spPr>
        <p:txBody>
          <a:bodyPr/>
          <a:lstStyle/>
          <a:p>
            <a:endParaRPr lang="pt-BR" noProof="0" dirty="0"/>
          </a:p>
        </p:txBody>
      </p:sp>
      <p:sp>
        <p:nvSpPr>
          <p:cNvPr id="11" name="Shape 9"/>
          <p:cNvSpPr/>
          <p:nvPr/>
        </p:nvSpPr>
        <p:spPr>
          <a:xfrm>
            <a:off x="4956048" y="1161288"/>
            <a:ext cx="384048" cy="384048"/>
          </a:xfrm>
          <a:prstGeom prst="ellipse">
            <a:avLst/>
          </a:prstGeom>
          <a:solidFill>
            <a:srgbClr val="4ADE80">
              <a:alpha val="10000"/>
            </a:srgbClr>
          </a:solidFill>
          <a:ln w="6350">
            <a:solidFill>
              <a:srgbClr val="4ADE80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pt-BR" noProof="0" dirty="0"/>
          </a:p>
        </p:txBody>
      </p:sp>
      <p:sp>
        <p:nvSpPr>
          <p:cNvPr id="12" name="Text 10"/>
          <p:cNvSpPr/>
          <p:nvPr/>
        </p:nvSpPr>
        <p:spPr>
          <a:xfrm>
            <a:off x="4956048" y="116128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pt-BR" sz="1000" noProof="0" dirty="0">
                <a:solidFill>
                  <a:srgbClr val="4ADE80"/>
                </a:solidFill>
              </a:rPr>
              <a:t>✓</a:t>
            </a:r>
            <a:endParaRPr lang="pt-BR" sz="1000" noProof="0" dirty="0"/>
          </a:p>
        </p:txBody>
      </p:sp>
      <p:sp>
        <p:nvSpPr>
          <p:cNvPr id="13" name="Text 11"/>
          <p:cNvSpPr/>
          <p:nvPr/>
        </p:nvSpPr>
        <p:spPr>
          <a:xfrm>
            <a:off x="5440680" y="1097280"/>
            <a:ext cx="3383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pt-BR" sz="1200" b="1" dirty="0" err="1">
                <a:solidFill>
                  <a:srgbClr val="4ADE8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object-fit</a:t>
            </a:r>
            <a:r>
              <a:rPr lang="pt-BR" sz="1200" b="1" dirty="0">
                <a:solidFill>
                  <a:srgbClr val="4ADE8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: cover </a:t>
            </a:r>
            <a:r>
              <a:rPr lang="pt-BR" sz="1200" b="1" noProof="0" dirty="0" err="1">
                <a:solidFill>
                  <a:srgbClr val="E1E1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vs</a:t>
            </a:r>
            <a:r>
              <a:rPr lang="pt-BR" sz="1200" b="1" noProof="0" dirty="0">
                <a:solidFill>
                  <a:srgbClr val="E1E1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pt-BR" sz="1200" b="1" dirty="0" err="1">
                <a:solidFill>
                  <a:srgbClr val="4ADE8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contain</a:t>
            </a:r>
            <a:endParaRPr lang="pt-BR" sz="1200" b="1" dirty="0">
              <a:solidFill>
                <a:srgbClr val="4ADE8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14" name="Text 12"/>
          <p:cNvSpPr/>
          <p:nvPr/>
        </p:nvSpPr>
        <p:spPr>
          <a:xfrm>
            <a:off x="5440680" y="1426464"/>
            <a:ext cx="3383280" cy="2560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r>
              <a:rPr lang="pt-BR" sz="900" noProof="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cover</a:t>
            </a:r>
            <a:r>
              <a:rPr lang="pt-BR" sz="900" noProof="0" dirty="0">
                <a:solidFill>
                  <a:srgbClr val="A8A8B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recorta; </a:t>
            </a:r>
            <a:r>
              <a:rPr lang="pt-BR" sz="900" noProof="0" dirty="0" err="1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contain</a:t>
            </a:r>
            <a:r>
              <a:rPr lang="pt-BR" sz="900" noProof="0" dirty="0">
                <a:solidFill>
                  <a:srgbClr val="A8A8B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mostra a imagem inteira</a:t>
            </a:r>
            <a:endParaRPr lang="pt-BR" sz="900" noProof="0" dirty="0"/>
          </a:p>
        </p:txBody>
      </p:sp>
      <p:sp>
        <p:nvSpPr>
          <p:cNvPr id="15" name="Shape 13"/>
          <p:cNvSpPr/>
          <p:nvPr/>
        </p:nvSpPr>
        <p:spPr>
          <a:xfrm>
            <a:off x="457200" y="2064888"/>
            <a:ext cx="4114800" cy="903600"/>
          </a:xfrm>
          <a:prstGeom prst="roundRect">
            <a:avLst/>
          </a:prstGeom>
          <a:solidFill>
            <a:srgbClr val="171720"/>
          </a:solidFill>
          <a:ln w="6350">
            <a:noFill/>
            <a:prstDash val="solid"/>
          </a:ln>
        </p:spPr>
        <p:txBody>
          <a:bodyPr/>
          <a:lstStyle/>
          <a:p>
            <a:endParaRPr lang="pt-BR" noProof="0" dirty="0"/>
          </a:p>
        </p:txBody>
      </p:sp>
      <p:sp>
        <p:nvSpPr>
          <p:cNvPr id="16" name="Shape 14"/>
          <p:cNvSpPr/>
          <p:nvPr/>
        </p:nvSpPr>
        <p:spPr>
          <a:xfrm>
            <a:off x="566928" y="2220336"/>
            <a:ext cx="384048" cy="384048"/>
          </a:xfrm>
          <a:prstGeom prst="ellipse">
            <a:avLst/>
          </a:prstGeom>
          <a:solidFill>
            <a:srgbClr val="4ADE80">
              <a:alpha val="10000"/>
            </a:srgbClr>
          </a:solidFill>
          <a:ln w="6350">
            <a:solidFill>
              <a:srgbClr val="4ADE80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pt-BR" noProof="0" dirty="0"/>
          </a:p>
        </p:txBody>
      </p:sp>
      <p:sp>
        <p:nvSpPr>
          <p:cNvPr id="17" name="Text 15"/>
          <p:cNvSpPr/>
          <p:nvPr/>
        </p:nvSpPr>
        <p:spPr>
          <a:xfrm>
            <a:off x="566928" y="222033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pt-BR" sz="1000" noProof="0" dirty="0">
                <a:solidFill>
                  <a:srgbClr val="4ADE80"/>
                </a:solidFill>
              </a:rPr>
              <a:t>✓</a:t>
            </a:r>
            <a:endParaRPr lang="pt-BR" sz="1000" noProof="0" dirty="0"/>
          </a:p>
        </p:txBody>
      </p:sp>
      <p:sp>
        <p:nvSpPr>
          <p:cNvPr id="18" name="Text 16"/>
          <p:cNvSpPr/>
          <p:nvPr/>
        </p:nvSpPr>
        <p:spPr>
          <a:xfrm>
            <a:off x="1051560" y="2156328"/>
            <a:ext cx="3383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pt-BR" sz="1200" b="1" dirty="0" err="1">
                <a:solidFill>
                  <a:srgbClr val="4ADE8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flex</a:t>
            </a:r>
            <a:r>
              <a:rPr lang="pt-BR" sz="1200" b="1" dirty="0">
                <a:solidFill>
                  <a:srgbClr val="4ADE8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: 1</a:t>
            </a:r>
          </a:p>
        </p:txBody>
      </p:sp>
      <p:sp>
        <p:nvSpPr>
          <p:cNvPr id="19" name="Text 17"/>
          <p:cNvSpPr/>
          <p:nvPr/>
        </p:nvSpPr>
        <p:spPr>
          <a:xfrm>
            <a:off x="1051560" y="2485512"/>
            <a:ext cx="3383280" cy="2560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r>
              <a:rPr lang="pt-BR" sz="900" noProof="0" dirty="0">
                <a:solidFill>
                  <a:srgbClr val="A8A8B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distribui o espaço disponível entre os elementos irmãos</a:t>
            </a:r>
            <a:endParaRPr lang="pt-BR" sz="900" noProof="0" dirty="0"/>
          </a:p>
        </p:txBody>
      </p:sp>
      <p:sp>
        <p:nvSpPr>
          <p:cNvPr id="20" name="Shape 18"/>
          <p:cNvSpPr/>
          <p:nvPr/>
        </p:nvSpPr>
        <p:spPr>
          <a:xfrm>
            <a:off x="4846320" y="2064888"/>
            <a:ext cx="4114800" cy="903600"/>
          </a:xfrm>
          <a:prstGeom prst="roundRect">
            <a:avLst/>
          </a:prstGeom>
          <a:solidFill>
            <a:srgbClr val="171720"/>
          </a:solidFill>
          <a:ln w="6350">
            <a:noFill/>
            <a:prstDash val="solid"/>
          </a:ln>
        </p:spPr>
        <p:txBody>
          <a:bodyPr/>
          <a:lstStyle/>
          <a:p>
            <a:endParaRPr lang="pt-BR" noProof="0" dirty="0"/>
          </a:p>
        </p:txBody>
      </p:sp>
      <p:sp>
        <p:nvSpPr>
          <p:cNvPr id="21" name="Shape 19"/>
          <p:cNvSpPr/>
          <p:nvPr/>
        </p:nvSpPr>
        <p:spPr>
          <a:xfrm>
            <a:off x="4956048" y="2220336"/>
            <a:ext cx="384048" cy="384048"/>
          </a:xfrm>
          <a:prstGeom prst="ellipse">
            <a:avLst/>
          </a:prstGeom>
          <a:solidFill>
            <a:srgbClr val="4ADE80">
              <a:alpha val="10000"/>
            </a:srgbClr>
          </a:solidFill>
          <a:ln w="6350">
            <a:solidFill>
              <a:srgbClr val="4ADE80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pt-BR" noProof="0" dirty="0"/>
          </a:p>
        </p:txBody>
      </p:sp>
      <p:sp>
        <p:nvSpPr>
          <p:cNvPr id="22" name="Text 20"/>
          <p:cNvSpPr/>
          <p:nvPr/>
        </p:nvSpPr>
        <p:spPr>
          <a:xfrm>
            <a:off x="4956048" y="222033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pt-BR" sz="1000" noProof="0" dirty="0">
                <a:solidFill>
                  <a:srgbClr val="4ADE80"/>
                </a:solidFill>
              </a:rPr>
              <a:t>✓</a:t>
            </a:r>
            <a:endParaRPr lang="pt-BR" sz="1000" noProof="0" dirty="0"/>
          </a:p>
        </p:txBody>
      </p:sp>
      <p:sp>
        <p:nvSpPr>
          <p:cNvPr id="23" name="Text 21"/>
          <p:cNvSpPr/>
          <p:nvPr/>
        </p:nvSpPr>
        <p:spPr>
          <a:xfrm>
            <a:off x="5440680" y="2156328"/>
            <a:ext cx="3383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pt-BR" sz="1200" b="1" dirty="0">
                <a:solidFill>
                  <a:srgbClr val="4ADE8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min-</a:t>
            </a:r>
            <a:r>
              <a:rPr lang="pt-BR" sz="1200" b="1" dirty="0" err="1">
                <a:solidFill>
                  <a:srgbClr val="4ADE8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width</a:t>
            </a:r>
            <a:endParaRPr lang="pt-BR" sz="1200" b="1" dirty="0">
              <a:solidFill>
                <a:srgbClr val="4ADE8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24" name="Text 22"/>
          <p:cNvSpPr/>
          <p:nvPr/>
        </p:nvSpPr>
        <p:spPr>
          <a:xfrm>
            <a:off x="5440680" y="2485512"/>
            <a:ext cx="3383280" cy="2560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r>
              <a:rPr lang="pt-BR" sz="900" noProof="0" dirty="0">
                <a:solidFill>
                  <a:srgbClr val="A8A8B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mantém o alinhamento da coluna de preços independente do valor</a:t>
            </a:r>
            <a:endParaRPr lang="pt-BR" sz="900" noProof="0" dirty="0"/>
          </a:p>
        </p:txBody>
      </p:sp>
      <p:sp>
        <p:nvSpPr>
          <p:cNvPr id="25" name="Shape 23"/>
          <p:cNvSpPr/>
          <p:nvPr/>
        </p:nvSpPr>
        <p:spPr>
          <a:xfrm>
            <a:off x="457200" y="3123936"/>
            <a:ext cx="4114800" cy="903600"/>
          </a:xfrm>
          <a:prstGeom prst="roundRect">
            <a:avLst/>
          </a:prstGeom>
          <a:solidFill>
            <a:srgbClr val="171720"/>
          </a:solidFill>
          <a:ln w="6350">
            <a:noFill/>
            <a:prstDash val="solid"/>
          </a:ln>
        </p:spPr>
        <p:txBody>
          <a:bodyPr/>
          <a:lstStyle/>
          <a:p>
            <a:endParaRPr lang="pt-BR" noProof="0" dirty="0"/>
          </a:p>
        </p:txBody>
      </p:sp>
      <p:sp>
        <p:nvSpPr>
          <p:cNvPr id="26" name="Shape 24"/>
          <p:cNvSpPr/>
          <p:nvPr/>
        </p:nvSpPr>
        <p:spPr>
          <a:xfrm>
            <a:off x="566928" y="3279384"/>
            <a:ext cx="384048" cy="384048"/>
          </a:xfrm>
          <a:prstGeom prst="ellipse">
            <a:avLst/>
          </a:prstGeom>
          <a:solidFill>
            <a:srgbClr val="4ADE80">
              <a:alpha val="10000"/>
            </a:srgbClr>
          </a:solidFill>
          <a:ln w="6350">
            <a:solidFill>
              <a:srgbClr val="4ADE80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pt-BR" noProof="0" dirty="0"/>
          </a:p>
        </p:txBody>
      </p:sp>
      <p:sp>
        <p:nvSpPr>
          <p:cNvPr id="27" name="Text 25"/>
          <p:cNvSpPr/>
          <p:nvPr/>
        </p:nvSpPr>
        <p:spPr>
          <a:xfrm>
            <a:off x="566928" y="327938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pt-BR" sz="1000" noProof="0" dirty="0">
                <a:solidFill>
                  <a:srgbClr val="4ADE80"/>
                </a:solidFill>
              </a:rPr>
              <a:t>✓</a:t>
            </a:r>
            <a:endParaRPr lang="pt-BR" sz="1000" noProof="0" dirty="0"/>
          </a:p>
        </p:txBody>
      </p:sp>
      <p:sp>
        <p:nvSpPr>
          <p:cNvPr id="28" name="Text 26"/>
          <p:cNvSpPr/>
          <p:nvPr/>
        </p:nvSpPr>
        <p:spPr>
          <a:xfrm>
            <a:off x="1051560" y="3215376"/>
            <a:ext cx="3383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pt-BR" sz="1200" b="1" dirty="0">
                <a:solidFill>
                  <a:srgbClr val="4ADE8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:</a:t>
            </a:r>
            <a:r>
              <a:rPr lang="pt-BR" sz="1200" b="1" dirty="0" err="1">
                <a:solidFill>
                  <a:srgbClr val="4ADE8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focus</a:t>
            </a:r>
            <a:endParaRPr lang="pt-BR" sz="1200" b="1" dirty="0">
              <a:solidFill>
                <a:srgbClr val="4ADE8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29" name="Text 27"/>
          <p:cNvSpPr/>
          <p:nvPr/>
        </p:nvSpPr>
        <p:spPr>
          <a:xfrm>
            <a:off x="1051560" y="3544560"/>
            <a:ext cx="3383280" cy="2560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r>
              <a:rPr lang="pt-BR" sz="900" noProof="0" dirty="0" err="1">
                <a:solidFill>
                  <a:srgbClr val="A8A8B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pseudo-classe</a:t>
            </a:r>
            <a:r>
              <a:rPr lang="pt-BR" sz="900" noProof="0" dirty="0">
                <a:solidFill>
                  <a:srgbClr val="A8A8B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que estiliza o elemento quando está ativo</a:t>
            </a:r>
            <a:endParaRPr lang="pt-BR" sz="900" noProof="0" dirty="0"/>
          </a:p>
        </p:txBody>
      </p:sp>
      <p:sp>
        <p:nvSpPr>
          <p:cNvPr id="30" name="Shape 28"/>
          <p:cNvSpPr/>
          <p:nvPr/>
        </p:nvSpPr>
        <p:spPr>
          <a:xfrm>
            <a:off x="4846320" y="3123936"/>
            <a:ext cx="4114800" cy="903600"/>
          </a:xfrm>
          <a:prstGeom prst="roundRect">
            <a:avLst/>
          </a:prstGeom>
          <a:solidFill>
            <a:srgbClr val="171720"/>
          </a:solidFill>
          <a:ln w="6350">
            <a:noFill/>
            <a:prstDash val="solid"/>
          </a:ln>
        </p:spPr>
        <p:txBody>
          <a:bodyPr/>
          <a:lstStyle/>
          <a:p>
            <a:endParaRPr lang="pt-BR" noProof="0" dirty="0"/>
          </a:p>
        </p:txBody>
      </p:sp>
      <p:sp>
        <p:nvSpPr>
          <p:cNvPr id="31" name="Shape 29"/>
          <p:cNvSpPr/>
          <p:nvPr/>
        </p:nvSpPr>
        <p:spPr>
          <a:xfrm>
            <a:off x="4956048" y="3279384"/>
            <a:ext cx="384048" cy="384048"/>
          </a:xfrm>
          <a:prstGeom prst="ellipse">
            <a:avLst/>
          </a:prstGeom>
          <a:solidFill>
            <a:srgbClr val="4ADE80">
              <a:alpha val="10000"/>
            </a:srgbClr>
          </a:solidFill>
          <a:ln w="6350">
            <a:solidFill>
              <a:srgbClr val="4ADE80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pt-BR" noProof="0" dirty="0"/>
          </a:p>
        </p:txBody>
      </p:sp>
      <p:sp>
        <p:nvSpPr>
          <p:cNvPr id="32" name="Text 30"/>
          <p:cNvSpPr/>
          <p:nvPr/>
        </p:nvSpPr>
        <p:spPr>
          <a:xfrm>
            <a:off x="4956048" y="327938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pt-BR" sz="1000" noProof="0" dirty="0">
                <a:solidFill>
                  <a:srgbClr val="4ADE80"/>
                </a:solidFill>
              </a:rPr>
              <a:t>✓</a:t>
            </a:r>
            <a:endParaRPr lang="pt-BR" sz="1000" noProof="0" dirty="0"/>
          </a:p>
        </p:txBody>
      </p:sp>
      <p:sp>
        <p:nvSpPr>
          <p:cNvPr id="33" name="Text 31"/>
          <p:cNvSpPr/>
          <p:nvPr/>
        </p:nvSpPr>
        <p:spPr>
          <a:xfrm>
            <a:off x="5440680" y="3215376"/>
            <a:ext cx="3383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pt-BR" sz="1200" b="1" noProof="0" dirty="0">
                <a:solidFill>
                  <a:srgbClr val="E1E1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Cores semânticas e </a:t>
            </a:r>
            <a:r>
              <a:rPr lang="pt-BR" sz="1200" b="1" dirty="0" err="1">
                <a:solidFill>
                  <a:srgbClr val="4ADE8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inline-block</a:t>
            </a:r>
            <a:endParaRPr lang="pt-BR" sz="1200" b="1" dirty="0">
              <a:solidFill>
                <a:srgbClr val="4ADE8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34" name="Text 32"/>
          <p:cNvSpPr/>
          <p:nvPr/>
        </p:nvSpPr>
        <p:spPr>
          <a:xfrm>
            <a:off x="5440680" y="3544560"/>
            <a:ext cx="3383280" cy="2560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r>
              <a:rPr lang="pt-BR" sz="900" noProof="0" dirty="0">
                <a:solidFill>
                  <a:srgbClr val="A8A8B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vermelho/verde com significado; </a:t>
            </a:r>
            <a:r>
              <a:rPr lang="pt-BR" sz="900" noProof="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&lt;a&gt;</a:t>
            </a:r>
            <a:r>
              <a:rPr lang="pt-BR" sz="900" noProof="0" dirty="0">
                <a:solidFill>
                  <a:srgbClr val="A8A8B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como botão</a:t>
            </a:r>
            <a:endParaRPr lang="pt-BR" sz="900" noProof="0" dirty="0"/>
          </a:p>
        </p:txBody>
      </p:sp>
      <p:sp>
        <p:nvSpPr>
          <p:cNvPr id="39" name="Shape 37"/>
          <p:cNvSpPr/>
          <p:nvPr/>
        </p:nvSpPr>
        <p:spPr>
          <a:xfrm>
            <a:off x="0" y="5097780"/>
            <a:ext cx="9144000" cy="45720"/>
          </a:xfrm>
          <a:prstGeom prst="rect">
            <a:avLst/>
          </a:prstGeom>
          <a:solidFill>
            <a:srgbClr val="1E1E28"/>
          </a:solidFill>
          <a:ln w="12700">
            <a:solidFill>
              <a:srgbClr val="1E1E28"/>
            </a:solidFill>
            <a:prstDash val="solid"/>
          </a:ln>
        </p:spPr>
        <p:txBody>
          <a:bodyPr/>
          <a:lstStyle/>
          <a:p>
            <a:endParaRPr lang="pt-BR" noProof="0" dirty="0"/>
          </a:p>
        </p:txBody>
      </p:sp>
      <p:sp>
        <p:nvSpPr>
          <p:cNvPr id="40" name="Shape 38"/>
          <p:cNvSpPr/>
          <p:nvPr/>
        </p:nvSpPr>
        <p:spPr>
          <a:xfrm>
            <a:off x="0" y="5097780"/>
            <a:ext cx="9144000" cy="45720"/>
          </a:xfrm>
          <a:prstGeom prst="rect">
            <a:avLst/>
          </a:prstGeom>
          <a:solidFill>
            <a:srgbClr val="4ADE80"/>
          </a:solidFill>
          <a:ln w="12700">
            <a:solidFill>
              <a:srgbClr val="4ADE80"/>
            </a:solidFill>
            <a:prstDash val="solid"/>
          </a:ln>
        </p:spPr>
        <p:txBody>
          <a:bodyPr/>
          <a:lstStyle/>
          <a:p>
            <a:endParaRPr lang="pt-BR" noProof="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173</TotalTime>
  <Words>608</Words>
  <Application>Microsoft Office PowerPoint</Application>
  <PresentationFormat>Apresentação na tela (16:9)</PresentationFormat>
  <Paragraphs>77</Paragraphs>
  <Slides>7</Slides>
  <Notes>7</Notes>
  <HiddenSlides>0</HiddenSlides>
  <MMClips>0</MMClips>
  <ScaleCrop>false</ScaleCrop>
  <HeadingPairs>
    <vt:vector size="6" baseType="variant">
      <vt:variant>
        <vt:lpstr>Fontes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7</vt:i4>
      </vt:variant>
    </vt:vector>
  </HeadingPairs>
  <TitlesOfParts>
    <vt:vector size="11" baseType="lpstr">
      <vt:lpstr>Arial</vt:lpstr>
      <vt:lpstr>Arial Black</vt:lpstr>
      <vt:lpstr>Courier New</vt:lpstr>
      <vt:lpstr>Office Theme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template</dc:title>
  <dc:creator>Vito Vito</dc:creator>
  <cp:lastModifiedBy>Vito Vito</cp:lastModifiedBy>
  <cp:revision>26</cp:revision>
  <dcterms:created xsi:type="dcterms:W3CDTF">2026-05-09T09:39:54Z</dcterms:created>
  <dcterms:modified xsi:type="dcterms:W3CDTF">2026-06-07T23:34:55Z</dcterms:modified>
</cp:coreProperties>
</file>