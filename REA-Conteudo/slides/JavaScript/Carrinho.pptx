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theme/themeOverride1.xml" ContentType="application/vnd.openxmlformats-officedocument.themeOverride+xml"/>
  <Override PartName="/ppt/notesSlides/notesSlide4.xml" ContentType="application/vnd.openxmlformats-officedocument.presentationml.notesSlide+xml"/>
  <Override PartName="/ppt/theme/themeOverride2.xml" ContentType="application/vnd.openxmlformats-officedocument.themeOverr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8"/>
  </p:notesMasterIdLst>
  <p:sldIdLst>
    <p:sldId id="256" r:id="rId2"/>
    <p:sldId id="257" r:id="rId3"/>
    <p:sldId id="259" r:id="rId4"/>
    <p:sldId id="262" r:id="rId5"/>
    <p:sldId id="263" r:id="rId6"/>
    <p:sldId id="261" r:id="rId7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4ADE8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109" d="100"/>
          <a:sy n="109" d="100"/>
        </p:scale>
        <p:origin x="706" y="8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18361374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93B10C-42F4-53C2-EE6A-461C7E899E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50C4F40-6FE6-56A0-B33F-FF1CEDE3F00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ECA2E7D-E9B9-E254-82FC-D1EBDFA4324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20CE25B-EC69-651E-FD00-B8BC4A29980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14355932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4.xml"/><Relationship Id="rId2" Type="http://schemas.openxmlformats.org/officeDocument/2006/relationships/slideLayout" Target="../slideLayouts/slideLayout1.xml"/><Relationship Id="rId1" Type="http://schemas.openxmlformats.org/officeDocument/2006/relationships/themeOverride" Target="../theme/themeOverride1.xml"/><Relationship Id="rId4" Type="http://schemas.openxmlformats.org/officeDocument/2006/relationships/image" Target="../media/image3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5.xml"/><Relationship Id="rId2" Type="http://schemas.openxmlformats.org/officeDocument/2006/relationships/slideLayout" Target="../slideLayouts/slideLayout1.xml"/><Relationship Id="rId1" Type="http://schemas.openxmlformats.org/officeDocument/2006/relationships/themeOverride" Target="../theme/themeOverride2.xml"/><Relationship Id="rId4" Type="http://schemas.openxmlformats.org/officeDocument/2006/relationships/image" Target="../media/image4.pn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212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Imagem 10">
            <a:extLst>
              <a:ext uri="{FF2B5EF4-FFF2-40B4-BE49-F238E27FC236}">
                <a16:creationId xmlns:a16="http://schemas.microsoft.com/office/drawing/2014/main" id="{E66D0616-E737-7D0E-0DDE-A82DD51AB1F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21" y="0"/>
            <a:ext cx="9140557" cy="5143500"/>
          </a:xfrm>
          <a:prstGeom prst="rect">
            <a:avLst/>
          </a:prstGeom>
        </p:spPr>
      </p:pic>
      <p:sp>
        <p:nvSpPr>
          <p:cNvPr id="3" name="Shape 1"/>
          <p:cNvSpPr/>
          <p:nvPr/>
        </p:nvSpPr>
        <p:spPr>
          <a:xfrm>
            <a:off x="3200400" y="914400"/>
            <a:ext cx="2743200" cy="310896"/>
          </a:xfrm>
          <a:prstGeom prst="roundRect">
            <a:avLst>
              <a:gd name="adj" fmla="val 14706"/>
            </a:avLst>
          </a:prstGeom>
          <a:solidFill>
            <a:srgbClr val="4ADE80">
              <a:alpha val="5000"/>
            </a:srgbClr>
          </a:solidFill>
          <a:ln w="6350">
            <a:solidFill>
              <a:srgbClr val="4ADE80">
                <a:alpha val="40000"/>
              </a:srgbClr>
            </a:solidFill>
            <a:prstDash val="solid"/>
          </a:ln>
        </p:spPr>
        <p:txBody>
          <a:bodyPr/>
          <a:lstStyle/>
          <a:p>
            <a:endParaRPr lang="pt-BR" noProof="0" dirty="0"/>
          </a:p>
        </p:txBody>
      </p:sp>
      <p:sp>
        <p:nvSpPr>
          <p:cNvPr id="4" name="Text 2"/>
          <p:cNvSpPr/>
          <p:nvPr/>
        </p:nvSpPr>
        <p:spPr>
          <a:xfrm>
            <a:off x="3200400" y="914400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pt-BR" sz="800" kern="0" spc="300" noProof="0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MÓDULO 03  · JAVASCRIPT</a:t>
            </a:r>
            <a:endParaRPr lang="pt-BR" sz="800" noProof="0" dirty="0"/>
          </a:p>
        </p:txBody>
      </p:sp>
      <p:sp>
        <p:nvSpPr>
          <p:cNvPr id="5" name="Text 3"/>
          <p:cNvSpPr/>
          <p:nvPr/>
        </p:nvSpPr>
        <p:spPr>
          <a:xfrm>
            <a:off x="1097280" y="1463040"/>
            <a:ext cx="694944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pt-BR" sz="4000" b="1" noProof="0" dirty="0" err="1">
                <a:solidFill>
                  <a:srgbClr val="4ADE8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JavaScript</a:t>
            </a:r>
            <a:r>
              <a:rPr lang="pt-BR" sz="4000" b="1" noProof="0" dirty="0">
                <a:solidFill>
                  <a:srgbClr val="4ADE8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 do Carrinho</a:t>
            </a:r>
            <a:endParaRPr lang="pt-BR" sz="4000" noProof="0" dirty="0">
              <a:solidFill>
                <a:srgbClr val="4ADE80"/>
              </a:solidFill>
            </a:endParaRPr>
          </a:p>
        </p:txBody>
      </p:sp>
      <p:sp>
        <p:nvSpPr>
          <p:cNvPr id="6" name="Text 4"/>
          <p:cNvSpPr/>
          <p:nvPr/>
        </p:nvSpPr>
        <p:spPr>
          <a:xfrm>
            <a:off x="1371600" y="3566160"/>
            <a:ext cx="6400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pt-BR" sz="1400" noProof="0" dirty="0">
                <a:solidFill>
                  <a:srgbClr val="A8A8B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Delegação de eventos, </a:t>
            </a:r>
            <a:r>
              <a:rPr lang="pt-BR" sz="1400" noProof="0" dirty="0" err="1">
                <a:solidFill>
                  <a:srgbClr val="A8A8B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arrays</a:t>
            </a:r>
            <a:r>
              <a:rPr lang="pt-BR" sz="1400" noProof="0" dirty="0">
                <a:solidFill>
                  <a:srgbClr val="A8A8B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e integração com WhatsApp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212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flipH="1">
            <a:off x="502919" y="411480"/>
            <a:ext cx="50400" cy="640080"/>
          </a:xfrm>
          <a:prstGeom prst="roundRect">
            <a:avLst>
              <a:gd name="adj" fmla="val 30953"/>
            </a:avLst>
          </a:prstGeom>
          <a:solidFill>
            <a:srgbClr val="4ADE80"/>
          </a:solidFill>
          <a:ln w="12700">
            <a:noFill/>
            <a:prstDash val="solid"/>
          </a:ln>
          <a:effectLst/>
        </p:spPr>
        <p:txBody>
          <a:bodyPr/>
          <a:lstStyle/>
          <a:p>
            <a:endParaRPr lang="pt-BR" noProof="0" dirty="0"/>
          </a:p>
        </p:txBody>
      </p:sp>
      <p:sp>
        <p:nvSpPr>
          <p:cNvPr id="4" name="Text 2"/>
          <p:cNvSpPr/>
          <p:nvPr/>
        </p:nvSpPr>
        <p:spPr>
          <a:xfrm>
            <a:off x="594360" y="566928"/>
            <a:ext cx="5029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pt-BR" sz="2400" b="1" noProof="0" dirty="0">
                <a:solidFill>
                  <a:srgbClr val="4ADE8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Delegação de Eventos</a:t>
            </a:r>
            <a:endParaRPr lang="pt-BR" sz="2400" noProof="0" dirty="0"/>
          </a:p>
        </p:txBody>
      </p:sp>
      <p:sp>
        <p:nvSpPr>
          <p:cNvPr id="5" name="Text 3"/>
          <p:cNvSpPr/>
          <p:nvPr/>
        </p:nvSpPr>
        <p:spPr>
          <a:xfrm>
            <a:off x="457200" y="1234440"/>
            <a:ext cx="457200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pt-BR" sz="1200" noProof="0" dirty="0">
                <a:solidFill>
                  <a:srgbClr val="A8A8B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Os botões de excluir são criados dinamicamente — eles não existem quando a página carrega, então um </a:t>
            </a:r>
            <a:r>
              <a:rPr lang="pt-BR" sz="1200" noProof="0" dirty="0" err="1">
                <a:solidFill>
                  <a:srgbClr val="4ADE80"/>
                </a:solidFill>
                <a:latin typeface="Courier New" panose="02070309020205020404" pitchFamily="49" charset="0"/>
                <a:ea typeface="Arial" pitchFamily="34" charset="-122"/>
                <a:cs typeface="Courier New" panose="02070309020205020404" pitchFamily="49" charset="0"/>
              </a:rPr>
              <a:t>querySelectorAll</a:t>
            </a:r>
            <a:r>
              <a:rPr lang="pt-BR" sz="1200" noProof="0" dirty="0">
                <a:solidFill>
                  <a:srgbClr val="A8A8B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não os encontraria. A solução é adicionar o ouvinte no container pai, que sempre existe. O clique "borbulha" até ele; </a:t>
            </a:r>
            <a:r>
              <a:rPr lang="pt-BR" sz="1200" noProof="0" dirty="0" err="1">
                <a:solidFill>
                  <a:srgbClr val="4ADE80"/>
                </a:solidFill>
                <a:latin typeface="Courier New" panose="02070309020205020404" pitchFamily="49" charset="0"/>
                <a:ea typeface="Arial" pitchFamily="34" charset="-122"/>
                <a:cs typeface="Courier New" panose="02070309020205020404" pitchFamily="49" charset="0"/>
              </a:rPr>
              <a:t>e.target</a:t>
            </a:r>
            <a:r>
              <a:rPr lang="pt-BR" sz="1200" noProof="0" dirty="0">
                <a:solidFill>
                  <a:srgbClr val="4ADE80"/>
                </a:solidFill>
                <a:latin typeface="Courier New" panose="02070309020205020404" pitchFamily="49" charset="0"/>
                <a:ea typeface="Arial" pitchFamily="34" charset="-122"/>
                <a:cs typeface="Courier New" panose="02070309020205020404" pitchFamily="49" charset="0"/>
              </a:rPr>
              <a:t> </a:t>
            </a:r>
            <a:r>
              <a:rPr lang="pt-BR" sz="1200" noProof="0" dirty="0">
                <a:solidFill>
                  <a:srgbClr val="A8A8B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identifica exatamente onde o clique aconteceu.</a:t>
            </a:r>
          </a:p>
        </p:txBody>
      </p:sp>
      <p:sp>
        <p:nvSpPr>
          <p:cNvPr id="7" name="Shape 5"/>
          <p:cNvSpPr/>
          <p:nvPr/>
        </p:nvSpPr>
        <p:spPr>
          <a:xfrm rot="16200000">
            <a:off x="-390206" y="3467864"/>
            <a:ext cx="1737362" cy="48896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4ADE80"/>
          </a:solidFill>
          <a:ln w="12700">
            <a:noFill/>
            <a:prstDash val="solid"/>
          </a:ln>
        </p:spPr>
        <p:txBody>
          <a:bodyPr/>
          <a:lstStyle/>
          <a:p>
            <a:endParaRPr lang="pt-BR" noProof="0" dirty="0"/>
          </a:p>
        </p:txBody>
      </p:sp>
      <p:sp>
        <p:nvSpPr>
          <p:cNvPr id="9" name="Shape 7"/>
          <p:cNvSpPr/>
          <p:nvPr/>
        </p:nvSpPr>
        <p:spPr>
          <a:xfrm>
            <a:off x="5394960" y="1051560"/>
            <a:ext cx="3291840" cy="822960"/>
          </a:xfrm>
          <a:prstGeom prst="roundRect">
            <a:avLst/>
          </a:prstGeom>
          <a:solidFill>
            <a:srgbClr val="1A1A20"/>
          </a:solidFill>
          <a:ln w="6350">
            <a:solidFill>
              <a:srgbClr val="2E2E38"/>
            </a:solidFill>
            <a:prstDash val="solid"/>
          </a:ln>
        </p:spPr>
        <p:txBody>
          <a:bodyPr/>
          <a:lstStyle/>
          <a:p>
            <a:endParaRPr lang="pt-BR" noProof="0" dirty="0"/>
          </a:p>
        </p:txBody>
      </p:sp>
      <p:sp>
        <p:nvSpPr>
          <p:cNvPr id="10" name="Shape 8"/>
          <p:cNvSpPr/>
          <p:nvPr/>
        </p:nvSpPr>
        <p:spPr>
          <a:xfrm>
            <a:off x="5532120" y="1216152"/>
            <a:ext cx="457200" cy="457200"/>
          </a:xfrm>
          <a:prstGeom prst="ellipse">
            <a:avLst/>
          </a:prstGeom>
          <a:solidFill>
            <a:srgbClr val="4ADE80">
              <a:alpha val="10000"/>
            </a:srgbClr>
          </a:solidFill>
          <a:ln w="6350">
            <a:solidFill>
              <a:srgbClr val="4ADE80">
                <a:alpha val="40000"/>
              </a:srgbClr>
            </a:solidFill>
            <a:prstDash val="solid"/>
          </a:ln>
        </p:spPr>
        <p:txBody>
          <a:bodyPr/>
          <a:lstStyle/>
          <a:p>
            <a:endParaRPr lang="pt-BR" noProof="0" dirty="0"/>
          </a:p>
        </p:txBody>
      </p:sp>
      <p:sp>
        <p:nvSpPr>
          <p:cNvPr id="11" name="Text 9"/>
          <p:cNvSpPr/>
          <p:nvPr/>
        </p:nvSpPr>
        <p:spPr>
          <a:xfrm>
            <a:off x="5532120" y="121615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endParaRPr lang="pt-BR" sz="1200" noProof="0" dirty="0"/>
          </a:p>
        </p:txBody>
      </p:sp>
      <p:sp>
        <p:nvSpPr>
          <p:cNvPr id="12" name="Text 10"/>
          <p:cNvSpPr/>
          <p:nvPr/>
        </p:nvSpPr>
        <p:spPr>
          <a:xfrm>
            <a:off x="6080760" y="1143000"/>
            <a:ext cx="2468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pt-BR" sz="1100" b="1" noProof="0" dirty="0" err="1">
                <a:solidFill>
                  <a:srgbClr val="4ADE80"/>
                </a:solidFill>
                <a:latin typeface="Courier New" panose="02070309020205020404" pitchFamily="49" charset="0"/>
                <a:ea typeface="Arial" pitchFamily="34" charset="-122"/>
                <a:cs typeface="Courier New" panose="02070309020205020404" pitchFamily="49" charset="0"/>
              </a:rPr>
              <a:t>e.target</a:t>
            </a:r>
            <a:endParaRPr lang="pt-BR" sz="1100" b="1" noProof="0" dirty="0">
              <a:solidFill>
                <a:srgbClr val="4ADE80"/>
              </a:solidFill>
              <a:latin typeface="Courier New" panose="02070309020205020404" pitchFamily="49" charset="0"/>
              <a:ea typeface="Arial" pitchFamily="34" charset="-122"/>
              <a:cs typeface="Courier New" panose="02070309020205020404" pitchFamily="49" charset="0"/>
            </a:endParaRPr>
          </a:p>
        </p:txBody>
      </p:sp>
      <p:sp>
        <p:nvSpPr>
          <p:cNvPr id="13" name="Text 11"/>
          <p:cNvSpPr/>
          <p:nvPr/>
        </p:nvSpPr>
        <p:spPr>
          <a:xfrm>
            <a:off x="6080760" y="1435608"/>
            <a:ext cx="246888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pt-BR" sz="900" noProof="0" dirty="0">
                <a:solidFill>
                  <a:srgbClr val="A8A8B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Explicação</a:t>
            </a:r>
            <a:endParaRPr lang="pt-BR" sz="900" noProof="0" dirty="0"/>
          </a:p>
        </p:txBody>
      </p:sp>
      <p:sp>
        <p:nvSpPr>
          <p:cNvPr id="14" name="Shape 12"/>
          <p:cNvSpPr/>
          <p:nvPr/>
        </p:nvSpPr>
        <p:spPr>
          <a:xfrm>
            <a:off x="5394960" y="2103120"/>
            <a:ext cx="3291840" cy="822960"/>
          </a:xfrm>
          <a:prstGeom prst="roundRect">
            <a:avLst/>
          </a:prstGeom>
          <a:solidFill>
            <a:srgbClr val="1A1A20"/>
          </a:solidFill>
          <a:ln w="6350">
            <a:solidFill>
              <a:srgbClr val="2E2E38"/>
            </a:solidFill>
            <a:prstDash val="solid"/>
          </a:ln>
        </p:spPr>
        <p:txBody>
          <a:bodyPr/>
          <a:lstStyle/>
          <a:p>
            <a:endParaRPr lang="pt-BR" noProof="0" dirty="0"/>
          </a:p>
        </p:txBody>
      </p:sp>
      <p:sp>
        <p:nvSpPr>
          <p:cNvPr id="15" name="Shape 13"/>
          <p:cNvSpPr/>
          <p:nvPr/>
        </p:nvSpPr>
        <p:spPr>
          <a:xfrm>
            <a:off x="5532120" y="2267712"/>
            <a:ext cx="457200" cy="457200"/>
          </a:xfrm>
          <a:prstGeom prst="ellipse">
            <a:avLst/>
          </a:prstGeom>
          <a:solidFill>
            <a:srgbClr val="4ADE80">
              <a:alpha val="10000"/>
            </a:srgbClr>
          </a:solidFill>
          <a:ln w="6350">
            <a:solidFill>
              <a:srgbClr val="4ADE80">
                <a:alpha val="40000"/>
              </a:srgbClr>
            </a:solidFill>
            <a:prstDash val="solid"/>
          </a:ln>
        </p:spPr>
        <p:txBody>
          <a:bodyPr/>
          <a:lstStyle/>
          <a:p>
            <a:endParaRPr lang="pt-BR" noProof="0" dirty="0"/>
          </a:p>
        </p:txBody>
      </p:sp>
      <p:sp>
        <p:nvSpPr>
          <p:cNvPr id="16" name="Text 14"/>
          <p:cNvSpPr/>
          <p:nvPr/>
        </p:nvSpPr>
        <p:spPr>
          <a:xfrm>
            <a:off x="5532120" y="226771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endParaRPr lang="pt-BR" sz="1200" noProof="0" dirty="0"/>
          </a:p>
        </p:txBody>
      </p:sp>
      <p:sp>
        <p:nvSpPr>
          <p:cNvPr id="17" name="Text 15"/>
          <p:cNvSpPr/>
          <p:nvPr/>
        </p:nvSpPr>
        <p:spPr>
          <a:xfrm>
            <a:off x="6080760" y="2194560"/>
            <a:ext cx="2468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pt-BR" sz="1100" b="1" noProof="0" dirty="0" err="1">
                <a:solidFill>
                  <a:srgbClr val="4ADE80"/>
                </a:solidFill>
                <a:latin typeface="Courier New" panose="02070309020205020404" pitchFamily="49" charset="0"/>
                <a:ea typeface="Arial" pitchFamily="34" charset="-122"/>
                <a:cs typeface="Courier New" panose="02070309020205020404" pitchFamily="49" charset="0"/>
              </a:rPr>
              <a:t>classList.contains</a:t>
            </a:r>
            <a:r>
              <a:rPr lang="pt-BR" sz="1100" b="1" noProof="0" dirty="0">
                <a:solidFill>
                  <a:srgbClr val="4ADE80"/>
                </a:solidFill>
                <a:latin typeface="Courier New" panose="02070309020205020404" pitchFamily="49" charset="0"/>
                <a:ea typeface="Arial" pitchFamily="34" charset="-122"/>
                <a:cs typeface="Courier New" panose="02070309020205020404" pitchFamily="49" charset="0"/>
              </a:rPr>
              <a:t>()</a:t>
            </a:r>
            <a:endParaRPr lang="pt-BR" sz="1100" noProof="0" dirty="0">
              <a:solidFill>
                <a:srgbClr val="4ADE8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18" name="Text 16"/>
          <p:cNvSpPr/>
          <p:nvPr/>
        </p:nvSpPr>
        <p:spPr>
          <a:xfrm>
            <a:off x="6080760" y="2487168"/>
            <a:ext cx="246888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pt-BR" sz="900" noProof="0" dirty="0">
                <a:solidFill>
                  <a:srgbClr val="A8A8B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Explicação</a:t>
            </a:r>
            <a:endParaRPr lang="pt-BR" sz="900" noProof="0" dirty="0"/>
          </a:p>
        </p:txBody>
      </p:sp>
      <p:sp>
        <p:nvSpPr>
          <p:cNvPr id="19" name="Shape 17"/>
          <p:cNvSpPr/>
          <p:nvPr/>
        </p:nvSpPr>
        <p:spPr>
          <a:xfrm>
            <a:off x="5394960" y="3154680"/>
            <a:ext cx="3291840" cy="822960"/>
          </a:xfrm>
          <a:prstGeom prst="roundRect">
            <a:avLst/>
          </a:prstGeom>
          <a:solidFill>
            <a:srgbClr val="1A1A20"/>
          </a:solidFill>
          <a:ln w="6350">
            <a:solidFill>
              <a:srgbClr val="2E2E38"/>
            </a:solidFill>
            <a:prstDash val="solid"/>
          </a:ln>
        </p:spPr>
        <p:txBody>
          <a:bodyPr/>
          <a:lstStyle/>
          <a:p>
            <a:endParaRPr lang="pt-BR" noProof="0" dirty="0"/>
          </a:p>
        </p:txBody>
      </p:sp>
      <p:sp>
        <p:nvSpPr>
          <p:cNvPr id="20" name="Shape 18"/>
          <p:cNvSpPr/>
          <p:nvPr/>
        </p:nvSpPr>
        <p:spPr>
          <a:xfrm>
            <a:off x="5532120" y="3319272"/>
            <a:ext cx="457200" cy="457200"/>
          </a:xfrm>
          <a:prstGeom prst="ellipse">
            <a:avLst/>
          </a:prstGeom>
          <a:solidFill>
            <a:srgbClr val="4ADE80">
              <a:alpha val="10000"/>
            </a:srgbClr>
          </a:solidFill>
          <a:ln w="6350">
            <a:solidFill>
              <a:srgbClr val="4ADE80">
                <a:alpha val="40000"/>
              </a:srgbClr>
            </a:solidFill>
            <a:prstDash val="solid"/>
          </a:ln>
        </p:spPr>
        <p:txBody>
          <a:bodyPr/>
          <a:lstStyle/>
          <a:p>
            <a:endParaRPr lang="pt-BR" noProof="0" dirty="0"/>
          </a:p>
        </p:txBody>
      </p:sp>
      <p:sp>
        <p:nvSpPr>
          <p:cNvPr id="21" name="Text 19"/>
          <p:cNvSpPr/>
          <p:nvPr/>
        </p:nvSpPr>
        <p:spPr>
          <a:xfrm>
            <a:off x="5532120" y="33192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endParaRPr lang="pt-BR" sz="1200" noProof="0" dirty="0"/>
          </a:p>
        </p:txBody>
      </p:sp>
      <p:sp>
        <p:nvSpPr>
          <p:cNvPr id="22" name="Text 20"/>
          <p:cNvSpPr/>
          <p:nvPr/>
        </p:nvSpPr>
        <p:spPr>
          <a:xfrm>
            <a:off x="6080760" y="3246120"/>
            <a:ext cx="2468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pt-BR" sz="1100" b="1" noProof="0" dirty="0" err="1">
                <a:solidFill>
                  <a:srgbClr val="4ADE80"/>
                </a:solidFill>
                <a:latin typeface="Courier New" panose="02070309020205020404" pitchFamily="49" charset="0"/>
                <a:ea typeface="Arial" pitchFamily="34" charset="-122"/>
                <a:cs typeface="Courier New" panose="02070309020205020404" pitchFamily="49" charset="0"/>
              </a:rPr>
              <a:t>closest</a:t>
            </a:r>
            <a:r>
              <a:rPr lang="pt-BR" sz="1100" b="1" noProof="0" dirty="0">
                <a:solidFill>
                  <a:srgbClr val="4ADE80"/>
                </a:solidFill>
                <a:latin typeface="Courier New" panose="02070309020205020404" pitchFamily="49" charset="0"/>
                <a:ea typeface="Arial" pitchFamily="34" charset="-122"/>
                <a:cs typeface="Courier New" panose="02070309020205020404" pitchFamily="49" charset="0"/>
              </a:rPr>
              <a:t>()</a:t>
            </a:r>
            <a:endParaRPr lang="pt-BR" sz="1100" noProof="0" dirty="0">
              <a:solidFill>
                <a:srgbClr val="4ADE8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23" name="Text 21"/>
          <p:cNvSpPr/>
          <p:nvPr/>
        </p:nvSpPr>
        <p:spPr>
          <a:xfrm>
            <a:off x="6080760" y="3538728"/>
            <a:ext cx="246888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pt-BR" sz="900" noProof="0" dirty="0">
                <a:solidFill>
                  <a:srgbClr val="A8A8B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Explicação</a:t>
            </a:r>
            <a:endParaRPr lang="pt-BR" sz="900" noProof="0" dirty="0"/>
          </a:p>
        </p:txBody>
      </p:sp>
      <p:pic>
        <p:nvPicPr>
          <p:cNvPr id="6" name="Imagem 5">
            <a:extLst>
              <a:ext uri="{FF2B5EF4-FFF2-40B4-BE49-F238E27FC236}">
                <a16:creationId xmlns:a16="http://schemas.microsoft.com/office/drawing/2014/main" id="{BF6C838C-6B54-6A37-1D3A-46D9D4DBA853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7051" t="14317" r="7602" b="14640"/>
          <a:stretch>
            <a:fillRect/>
          </a:stretch>
        </p:blipFill>
        <p:spPr>
          <a:xfrm>
            <a:off x="504001" y="2624181"/>
            <a:ext cx="3892922" cy="1736809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212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286000" cy="5143500"/>
          </a:xfrm>
          <a:prstGeom prst="rect">
            <a:avLst/>
          </a:prstGeom>
          <a:solidFill>
            <a:srgbClr val="0F1F0F"/>
          </a:solidFill>
          <a:ln w="3810">
            <a:solidFill>
              <a:srgbClr val="4ADE80">
                <a:alpha val="30000"/>
              </a:srgbClr>
            </a:solidFill>
            <a:prstDash val="solid"/>
          </a:ln>
        </p:spPr>
        <p:txBody>
          <a:bodyPr/>
          <a:lstStyle/>
          <a:p>
            <a:endParaRPr lang="pt-BR" noProof="0" dirty="0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2286000" cy="5143500"/>
          </a:xfrm>
          <a:prstGeom prst="rect">
            <a:avLst/>
          </a:prstGeom>
          <a:solidFill>
            <a:srgbClr val="4ADE80">
              <a:alpha val="4000"/>
            </a:srgbClr>
          </a:solidFill>
          <a:ln w="12700">
            <a:solidFill>
              <a:srgbClr val="4ADE80"/>
            </a:solidFill>
            <a:prstDash val="solid"/>
          </a:ln>
        </p:spPr>
        <p:txBody>
          <a:bodyPr/>
          <a:lstStyle/>
          <a:p>
            <a:endParaRPr lang="pt-BR" noProof="0" dirty="0"/>
          </a:p>
        </p:txBody>
      </p:sp>
      <p:sp>
        <p:nvSpPr>
          <p:cNvPr id="5" name="Text 3"/>
          <p:cNvSpPr/>
          <p:nvPr/>
        </p:nvSpPr>
        <p:spPr>
          <a:xfrm>
            <a:off x="91440" y="1645920"/>
            <a:ext cx="210312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pt-BR" sz="3000" b="1" noProof="0" dirty="0">
                <a:solidFill>
                  <a:srgbClr val="4ADE8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Controle</a:t>
            </a:r>
            <a:endParaRPr lang="pt-BR" sz="3000" noProof="0" dirty="0"/>
          </a:p>
        </p:txBody>
      </p:sp>
      <p:sp>
        <p:nvSpPr>
          <p:cNvPr id="7" name="Text 5"/>
          <p:cNvSpPr/>
          <p:nvPr/>
        </p:nvSpPr>
        <p:spPr>
          <a:xfrm>
            <a:off x="2651760" y="640080"/>
            <a:ext cx="61264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pt-BR" sz="2600" b="1" noProof="0" dirty="0">
                <a:solidFill>
                  <a:srgbClr val="E1E1E6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O cérebro da página</a:t>
            </a:r>
            <a:endParaRPr lang="pt-BR" sz="2600" noProof="0" dirty="0"/>
          </a:p>
        </p:txBody>
      </p:sp>
      <p:sp>
        <p:nvSpPr>
          <p:cNvPr id="8" name="Shape 6"/>
          <p:cNvSpPr/>
          <p:nvPr/>
        </p:nvSpPr>
        <p:spPr>
          <a:xfrm>
            <a:off x="2651760" y="1417320"/>
            <a:ext cx="45720" cy="1554480"/>
          </a:xfrm>
          <a:prstGeom prst="rect">
            <a:avLst/>
          </a:prstGeom>
          <a:solidFill>
            <a:srgbClr val="2E2E38"/>
          </a:solidFill>
          <a:ln w="12700">
            <a:solidFill>
              <a:srgbClr val="2E2E38"/>
            </a:solidFill>
            <a:prstDash val="solid"/>
          </a:ln>
        </p:spPr>
        <p:txBody>
          <a:bodyPr/>
          <a:lstStyle/>
          <a:p>
            <a:endParaRPr lang="pt-BR" noProof="0" dirty="0"/>
          </a:p>
        </p:txBody>
      </p:sp>
      <p:sp>
        <p:nvSpPr>
          <p:cNvPr id="9" name="Text 7"/>
          <p:cNvSpPr/>
          <p:nvPr/>
        </p:nvSpPr>
        <p:spPr>
          <a:xfrm>
            <a:off x="2816352" y="1417320"/>
            <a:ext cx="594360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pt-BR" sz="1300" noProof="0" dirty="0" err="1">
                <a:solidFill>
                  <a:srgbClr val="4ADE80"/>
                </a:solidFill>
                <a:latin typeface="Courier New" panose="02070309020205020404" pitchFamily="49" charset="0"/>
                <a:ea typeface="Arial" pitchFamily="34" charset="-122"/>
                <a:cs typeface="Courier New" panose="02070309020205020404" pitchFamily="49" charset="0"/>
              </a:rPr>
              <a:t>verificarCarrinhoVazio</a:t>
            </a:r>
            <a:r>
              <a:rPr lang="pt-BR" sz="1300" noProof="0" dirty="0">
                <a:solidFill>
                  <a:srgbClr val="A8A8B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é chamada toda vez que a página carrega ou que o usuário faz uma alteração. Ela lê o </a:t>
            </a:r>
            <a:r>
              <a:rPr lang="pt-BR" sz="1300" noProof="0" dirty="0" err="1">
                <a:solidFill>
                  <a:srgbClr val="4ADE80"/>
                </a:solidFill>
                <a:latin typeface="Courier New" panose="02070309020205020404" pitchFamily="49" charset="0"/>
                <a:ea typeface="Arial" pitchFamily="34" charset="-122"/>
                <a:cs typeface="Courier New" panose="02070309020205020404" pitchFamily="49" charset="0"/>
              </a:rPr>
              <a:t>localStorage</a:t>
            </a:r>
            <a:r>
              <a:rPr lang="pt-BR" sz="1300" noProof="0" dirty="0">
                <a:solidFill>
                  <a:srgbClr val="A8A8B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confere se há itens e decide o que mostrar — escondendo a seção que não deve aparecer via </a:t>
            </a:r>
            <a:r>
              <a:rPr lang="pt-BR" sz="1300" dirty="0" err="1">
                <a:solidFill>
                  <a:srgbClr val="4ADE8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classList</a:t>
            </a:r>
            <a:r>
              <a:rPr lang="pt-BR" sz="1300" noProof="0" dirty="0">
                <a:solidFill>
                  <a:srgbClr val="A8A8B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e chamando </a:t>
            </a:r>
            <a:r>
              <a:rPr lang="pt-BR" sz="1300" dirty="0" err="1">
                <a:solidFill>
                  <a:srgbClr val="4ADE8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carregarCarrinho</a:t>
            </a:r>
            <a:r>
              <a:rPr lang="pt-BR" sz="1300" noProof="0" dirty="0">
                <a:solidFill>
                  <a:srgbClr val="A8A8B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quando há produtos. Antes de redesenhar, </a:t>
            </a:r>
            <a:r>
              <a:rPr lang="pt-BR" sz="1300" dirty="0" err="1">
                <a:solidFill>
                  <a:srgbClr val="4ADE8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limparTela</a:t>
            </a:r>
            <a:r>
              <a:rPr lang="pt-BR" sz="1300" noProof="0" dirty="0">
                <a:solidFill>
                  <a:srgbClr val="A8A8B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garante que os itens anteriores não se dupliquem.</a:t>
            </a:r>
          </a:p>
        </p:txBody>
      </p:sp>
      <p:sp>
        <p:nvSpPr>
          <p:cNvPr id="4" name="Shape 8">
            <a:extLst>
              <a:ext uri="{FF2B5EF4-FFF2-40B4-BE49-F238E27FC236}">
                <a16:creationId xmlns:a16="http://schemas.microsoft.com/office/drawing/2014/main" id="{FB5C455F-15C7-6D34-372C-0D1D2D73810B}"/>
              </a:ext>
            </a:extLst>
          </p:cNvPr>
          <p:cNvSpPr/>
          <p:nvPr/>
        </p:nvSpPr>
        <p:spPr>
          <a:xfrm>
            <a:off x="2651758" y="3154680"/>
            <a:ext cx="6108194" cy="256032"/>
          </a:xfrm>
          <a:prstGeom prst="roundRect">
            <a:avLst>
              <a:gd name="adj" fmla="val 14286"/>
            </a:avLst>
          </a:prstGeom>
          <a:solidFill>
            <a:srgbClr val="1A1A20"/>
          </a:solidFill>
          <a:ln w="6350">
            <a:solidFill>
              <a:srgbClr val="2E2E38"/>
            </a:solidFill>
            <a:prstDash val="solid"/>
          </a:ln>
        </p:spPr>
        <p:txBody>
          <a:bodyPr/>
          <a:lstStyle/>
          <a:p>
            <a:endParaRPr lang="pt-BR" noProof="0" dirty="0"/>
          </a:p>
        </p:txBody>
      </p:sp>
      <p:sp>
        <p:nvSpPr>
          <p:cNvPr id="6" name="Text 9">
            <a:extLst>
              <a:ext uri="{FF2B5EF4-FFF2-40B4-BE49-F238E27FC236}">
                <a16:creationId xmlns:a16="http://schemas.microsoft.com/office/drawing/2014/main" id="{74436D1C-A40D-A89D-0FA2-FCDD52D2A385}"/>
              </a:ext>
            </a:extLst>
          </p:cNvPr>
          <p:cNvSpPr/>
          <p:nvPr/>
        </p:nvSpPr>
        <p:spPr>
          <a:xfrm>
            <a:off x="2731768" y="3154680"/>
            <a:ext cx="58635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pt-BR" sz="900" noProof="0" dirty="0" err="1">
                <a:solidFill>
                  <a:srgbClr val="4ADE80"/>
                </a:solidFill>
                <a:latin typeface="Courier New" pitchFamily="34" charset="0"/>
                <a:cs typeface="Courier New" pitchFamily="34" charset="-120"/>
              </a:rPr>
              <a:t>localStorage.getItem</a:t>
            </a:r>
            <a:r>
              <a:rPr lang="pt-BR" sz="900" noProof="0" dirty="0">
                <a:solidFill>
                  <a:srgbClr val="4ADE80"/>
                </a:solidFill>
                <a:latin typeface="Courier New" pitchFamily="34" charset="0"/>
                <a:cs typeface="Courier New" pitchFamily="34" charset="-120"/>
              </a:rPr>
              <a:t>() </a:t>
            </a:r>
            <a:r>
              <a:rPr lang="pt-BR" sz="900" dirty="0">
                <a:solidFill>
                  <a:srgbClr val="A8A8B3"/>
                </a:solidFill>
                <a:latin typeface="Courier New" pitchFamily="34" charset="0"/>
                <a:cs typeface="Courier New" pitchFamily="34" charset="-120"/>
              </a:rPr>
              <a:t>→ Recupera o carrinho; "[]" como </a:t>
            </a:r>
            <a:r>
              <a:rPr lang="pt-BR" sz="900" dirty="0" err="1">
                <a:solidFill>
                  <a:srgbClr val="A8A8B3"/>
                </a:solidFill>
                <a:latin typeface="Courier New" pitchFamily="34" charset="0"/>
                <a:cs typeface="Courier New" pitchFamily="34" charset="-120"/>
              </a:rPr>
              <a:t>fallback</a:t>
            </a:r>
            <a:r>
              <a:rPr lang="pt-BR" sz="900" dirty="0">
                <a:solidFill>
                  <a:srgbClr val="A8A8B3"/>
                </a:solidFill>
                <a:latin typeface="Courier New" pitchFamily="34" charset="0"/>
                <a:cs typeface="Courier New" pitchFamily="34" charset="-120"/>
              </a:rPr>
              <a:t> se não existir</a:t>
            </a:r>
          </a:p>
        </p:txBody>
      </p:sp>
      <p:sp>
        <p:nvSpPr>
          <p:cNvPr id="20" name="Shape 10">
            <a:extLst>
              <a:ext uri="{FF2B5EF4-FFF2-40B4-BE49-F238E27FC236}">
                <a16:creationId xmlns:a16="http://schemas.microsoft.com/office/drawing/2014/main" id="{E3FFB05F-A26B-67F0-B121-85B8121CBC53}"/>
              </a:ext>
            </a:extLst>
          </p:cNvPr>
          <p:cNvSpPr/>
          <p:nvPr/>
        </p:nvSpPr>
        <p:spPr>
          <a:xfrm>
            <a:off x="2651758" y="3497404"/>
            <a:ext cx="6108193" cy="256032"/>
          </a:xfrm>
          <a:prstGeom prst="roundRect">
            <a:avLst>
              <a:gd name="adj" fmla="val 14286"/>
            </a:avLst>
          </a:prstGeom>
          <a:solidFill>
            <a:srgbClr val="1A1A20"/>
          </a:solidFill>
          <a:ln w="6350">
            <a:solidFill>
              <a:srgbClr val="2E2E38"/>
            </a:solidFill>
            <a:prstDash val="solid"/>
          </a:ln>
        </p:spPr>
        <p:txBody>
          <a:bodyPr/>
          <a:lstStyle/>
          <a:p>
            <a:endParaRPr lang="pt-BR" noProof="0" dirty="0"/>
          </a:p>
        </p:txBody>
      </p:sp>
      <p:sp>
        <p:nvSpPr>
          <p:cNvPr id="21" name="Text 11">
            <a:extLst>
              <a:ext uri="{FF2B5EF4-FFF2-40B4-BE49-F238E27FC236}">
                <a16:creationId xmlns:a16="http://schemas.microsoft.com/office/drawing/2014/main" id="{E4C29EB6-CFAC-666F-DBD6-A649EB6A85EA}"/>
              </a:ext>
            </a:extLst>
          </p:cNvPr>
          <p:cNvSpPr/>
          <p:nvPr/>
        </p:nvSpPr>
        <p:spPr>
          <a:xfrm>
            <a:off x="2731769" y="3497404"/>
            <a:ext cx="535275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900" dirty="0">
                <a:solidFill>
                  <a:srgbClr val="4ADE80"/>
                </a:solidFill>
                <a:latin typeface="Courier New" pitchFamily="34" charset="0"/>
                <a:cs typeface="Courier New" pitchFamily="34" charset="-120"/>
              </a:rPr>
              <a:t>.</a:t>
            </a:r>
            <a:r>
              <a:rPr lang="pt-BR" sz="900" dirty="0" err="1">
                <a:solidFill>
                  <a:srgbClr val="4ADE80"/>
                </a:solidFill>
                <a:latin typeface="Courier New" pitchFamily="34" charset="0"/>
                <a:cs typeface="Courier New" pitchFamily="34" charset="-120"/>
              </a:rPr>
              <a:t>length</a:t>
            </a:r>
            <a:r>
              <a:rPr lang="pt-BR" sz="900" dirty="0">
                <a:solidFill>
                  <a:srgbClr val="4ADE80"/>
                </a:solidFill>
                <a:latin typeface="Courier New" pitchFamily="34" charset="0"/>
                <a:cs typeface="Courier New" pitchFamily="34" charset="-120"/>
              </a:rPr>
              <a:t> === 0 </a:t>
            </a:r>
            <a:r>
              <a:rPr lang="pt-BR" sz="900" dirty="0">
                <a:solidFill>
                  <a:srgbClr val="A8A8B3"/>
                </a:solidFill>
                <a:latin typeface="Courier New" pitchFamily="34" charset="0"/>
                <a:cs typeface="Courier New" pitchFamily="34" charset="-120"/>
              </a:rPr>
              <a:t>→ Verifica se o </a:t>
            </a:r>
            <a:r>
              <a:rPr lang="pt-BR" sz="900" dirty="0" err="1">
                <a:solidFill>
                  <a:srgbClr val="A8A8B3"/>
                </a:solidFill>
                <a:latin typeface="Courier New" pitchFamily="34" charset="0"/>
                <a:cs typeface="Courier New" pitchFamily="34" charset="-120"/>
              </a:rPr>
              <a:t>array</a:t>
            </a:r>
            <a:r>
              <a:rPr lang="pt-BR" sz="900" dirty="0">
                <a:solidFill>
                  <a:srgbClr val="A8A8B3"/>
                </a:solidFill>
                <a:latin typeface="Courier New" pitchFamily="34" charset="0"/>
                <a:cs typeface="Courier New" pitchFamily="34" charset="-120"/>
              </a:rPr>
              <a:t> está vazio</a:t>
            </a:r>
          </a:p>
        </p:txBody>
      </p:sp>
      <p:sp>
        <p:nvSpPr>
          <p:cNvPr id="22" name="Shape 12">
            <a:extLst>
              <a:ext uri="{FF2B5EF4-FFF2-40B4-BE49-F238E27FC236}">
                <a16:creationId xmlns:a16="http://schemas.microsoft.com/office/drawing/2014/main" id="{CB8B6F9C-6C1F-CBDD-7FEE-922E83E2E719}"/>
              </a:ext>
            </a:extLst>
          </p:cNvPr>
          <p:cNvSpPr/>
          <p:nvPr/>
        </p:nvSpPr>
        <p:spPr>
          <a:xfrm>
            <a:off x="2651758" y="3840128"/>
            <a:ext cx="6108194" cy="256032"/>
          </a:xfrm>
          <a:prstGeom prst="roundRect">
            <a:avLst>
              <a:gd name="adj" fmla="val 14286"/>
            </a:avLst>
          </a:prstGeom>
          <a:solidFill>
            <a:srgbClr val="1A1A20"/>
          </a:solidFill>
          <a:ln w="6350">
            <a:solidFill>
              <a:srgbClr val="2E2E38"/>
            </a:solidFill>
            <a:prstDash val="solid"/>
          </a:ln>
        </p:spPr>
        <p:txBody>
          <a:bodyPr/>
          <a:lstStyle/>
          <a:p>
            <a:endParaRPr lang="pt-BR" noProof="0" dirty="0"/>
          </a:p>
        </p:txBody>
      </p:sp>
      <p:sp>
        <p:nvSpPr>
          <p:cNvPr id="23" name="Text 13">
            <a:extLst>
              <a:ext uri="{FF2B5EF4-FFF2-40B4-BE49-F238E27FC236}">
                <a16:creationId xmlns:a16="http://schemas.microsoft.com/office/drawing/2014/main" id="{9FB3CB7B-5249-1A05-9D1C-94B5674C1774}"/>
              </a:ext>
            </a:extLst>
          </p:cNvPr>
          <p:cNvSpPr/>
          <p:nvPr/>
        </p:nvSpPr>
        <p:spPr>
          <a:xfrm>
            <a:off x="2731768" y="3840128"/>
            <a:ext cx="4978641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900" dirty="0" err="1">
                <a:solidFill>
                  <a:srgbClr val="4ADE80"/>
                </a:solidFill>
                <a:latin typeface="Courier New" pitchFamily="34" charset="0"/>
                <a:cs typeface="Courier New" pitchFamily="34" charset="-120"/>
              </a:rPr>
              <a:t>classList.add</a:t>
            </a:r>
            <a:r>
              <a:rPr lang="pt-BR" sz="900" dirty="0">
                <a:solidFill>
                  <a:srgbClr val="4ADE80"/>
                </a:solidFill>
                <a:latin typeface="Courier New" pitchFamily="34" charset="0"/>
                <a:cs typeface="Courier New" pitchFamily="34" charset="-120"/>
              </a:rPr>
              <a:t>("oculto") </a:t>
            </a:r>
            <a:r>
              <a:rPr lang="pt-BR" sz="900" dirty="0">
                <a:solidFill>
                  <a:srgbClr val="A8A8B3"/>
                </a:solidFill>
                <a:latin typeface="Courier New" pitchFamily="34" charset="0"/>
                <a:cs typeface="Courier New" pitchFamily="34" charset="-120"/>
              </a:rPr>
              <a:t>→ Esconde a seção que não deve aparecer</a:t>
            </a:r>
          </a:p>
        </p:txBody>
      </p:sp>
      <p:sp>
        <p:nvSpPr>
          <p:cNvPr id="24" name="Shape 14">
            <a:extLst>
              <a:ext uri="{FF2B5EF4-FFF2-40B4-BE49-F238E27FC236}">
                <a16:creationId xmlns:a16="http://schemas.microsoft.com/office/drawing/2014/main" id="{21A68D80-2E28-DC2E-CA67-338863BB7CA9}"/>
              </a:ext>
            </a:extLst>
          </p:cNvPr>
          <p:cNvSpPr/>
          <p:nvPr/>
        </p:nvSpPr>
        <p:spPr>
          <a:xfrm>
            <a:off x="2651757" y="4182852"/>
            <a:ext cx="6108193" cy="256032"/>
          </a:xfrm>
          <a:prstGeom prst="roundRect">
            <a:avLst>
              <a:gd name="adj" fmla="val 14286"/>
            </a:avLst>
          </a:prstGeom>
          <a:solidFill>
            <a:srgbClr val="1A1A20"/>
          </a:solidFill>
          <a:ln w="6350">
            <a:solidFill>
              <a:srgbClr val="2E2E38"/>
            </a:solidFill>
            <a:prstDash val="solid"/>
          </a:ln>
        </p:spPr>
        <p:txBody>
          <a:bodyPr/>
          <a:lstStyle/>
          <a:p>
            <a:endParaRPr lang="pt-BR" noProof="0" dirty="0"/>
          </a:p>
        </p:txBody>
      </p:sp>
      <p:sp>
        <p:nvSpPr>
          <p:cNvPr id="25" name="Text 15">
            <a:extLst>
              <a:ext uri="{FF2B5EF4-FFF2-40B4-BE49-F238E27FC236}">
                <a16:creationId xmlns:a16="http://schemas.microsoft.com/office/drawing/2014/main" id="{F018BF92-43D1-C8A2-B348-9A2B011FB729}"/>
              </a:ext>
            </a:extLst>
          </p:cNvPr>
          <p:cNvSpPr/>
          <p:nvPr/>
        </p:nvSpPr>
        <p:spPr>
          <a:xfrm>
            <a:off x="2731768" y="4182852"/>
            <a:ext cx="51510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900" dirty="0" err="1">
                <a:solidFill>
                  <a:srgbClr val="4ADE80"/>
                </a:solidFill>
                <a:latin typeface="Courier New" pitchFamily="34" charset="0"/>
                <a:cs typeface="Courier New" pitchFamily="34" charset="-120"/>
              </a:rPr>
              <a:t>limparTela</a:t>
            </a:r>
            <a:r>
              <a:rPr lang="pt-BR" sz="900" dirty="0">
                <a:solidFill>
                  <a:srgbClr val="4ADE80"/>
                </a:solidFill>
                <a:latin typeface="Courier New" pitchFamily="34" charset="0"/>
                <a:cs typeface="Courier New" pitchFamily="34" charset="-120"/>
              </a:rPr>
              <a:t>() </a:t>
            </a:r>
            <a:r>
              <a:rPr lang="pt-BR" sz="900" dirty="0">
                <a:solidFill>
                  <a:srgbClr val="A8A8B3"/>
                </a:solidFill>
                <a:latin typeface="Courier New" pitchFamily="34" charset="0"/>
                <a:cs typeface="Courier New" pitchFamily="34" charset="-120"/>
              </a:rPr>
              <a:t>→ Limpa o HTML anterior antes de redesenhar os itens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212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flipH="1">
            <a:off x="502919" y="411480"/>
            <a:ext cx="50400" cy="640080"/>
          </a:xfrm>
          <a:prstGeom prst="roundRect">
            <a:avLst>
              <a:gd name="adj" fmla="val 30953"/>
            </a:avLst>
          </a:prstGeom>
          <a:solidFill>
            <a:srgbClr val="4ADE80"/>
          </a:solidFill>
          <a:ln w="12700">
            <a:noFill/>
            <a:prstDash val="solid"/>
          </a:ln>
          <a:effectLst/>
        </p:spPr>
        <p:txBody>
          <a:bodyPr/>
          <a:lstStyle/>
          <a:p>
            <a:endParaRPr lang="pt-BR"/>
          </a:p>
        </p:txBody>
      </p:sp>
      <p:sp>
        <p:nvSpPr>
          <p:cNvPr id="4" name="Text 2"/>
          <p:cNvSpPr/>
          <p:nvPr/>
        </p:nvSpPr>
        <p:spPr>
          <a:xfrm>
            <a:off x="594360" y="566928"/>
            <a:ext cx="5029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4ADE8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Map, Filter e Reduce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457200" y="1234439"/>
            <a:ext cx="4572000" cy="1185203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pt-BR" sz="1200" dirty="0">
                <a:solidFill>
                  <a:srgbClr val="A8A8B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Três métodos para transformar, filtrar e totalizar </a:t>
            </a:r>
            <a:r>
              <a:rPr lang="pt-BR" sz="1200" dirty="0" err="1">
                <a:solidFill>
                  <a:srgbClr val="A8A8B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arrays</a:t>
            </a:r>
            <a:r>
              <a:rPr lang="pt-BR" sz="1200" dirty="0">
                <a:solidFill>
                  <a:srgbClr val="A8A8B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em uma linha. O </a:t>
            </a:r>
            <a:r>
              <a:rPr lang="pt-BR" sz="1200" dirty="0" err="1">
                <a:solidFill>
                  <a:srgbClr val="4ADE80"/>
                </a:solidFill>
                <a:latin typeface="Courier New" panose="02070309020205020404" pitchFamily="49" charset="0"/>
                <a:ea typeface="Arial" pitchFamily="34" charset="-122"/>
                <a:cs typeface="Courier New" panose="02070309020205020404" pitchFamily="49" charset="0"/>
              </a:rPr>
              <a:t>map</a:t>
            </a:r>
            <a:r>
              <a:rPr lang="pt-BR" sz="1200" dirty="0">
                <a:solidFill>
                  <a:srgbClr val="A8A8B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busca os detalhes completos de cada ID no catálogo e devolve um objeto mesclado com o spread </a:t>
            </a:r>
            <a:r>
              <a:rPr lang="pt-BR" sz="1200" dirty="0" err="1">
                <a:solidFill>
                  <a:srgbClr val="A8A8B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operator</a:t>
            </a:r>
            <a:r>
              <a:rPr lang="pt-BR" sz="1200" dirty="0">
                <a:solidFill>
                  <a:srgbClr val="A8A8B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pt-BR" sz="1200" dirty="0">
                <a:solidFill>
                  <a:srgbClr val="A8A8B3"/>
                </a:solidFill>
                <a:latin typeface="Arial" pitchFamily="34" charset="0"/>
                <a:cs typeface="Arial" pitchFamily="34" charset="-120"/>
              </a:rPr>
              <a:t>(</a:t>
            </a:r>
            <a:r>
              <a:rPr lang="pt-BR" sz="1200" dirty="0">
                <a:solidFill>
                  <a:srgbClr val="4ADE8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...produto</a:t>
            </a:r>
            <a:r>
              <a:rPr lang="pt-BR" sz="1200" dirty="0">
                <a:solidFill>
                  <a:srgbClr val="A8A8B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). O </a:t>
            </a:r>
            <a:r>
              <a:rPr lang="pt-BR" sz="1200" dirty="0" err="1">
                <a:solidFill>
                  <a:srgbClr val="4ADE8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filter</a:t>
            </a:r>
            <a:r>
              <a:rPr lang="pt-BR" sz="1200" dirty="0">
                <a:solidFill>
                  <a:srgbClr val="A8A8B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remove um item sem mutar o original. O </a:t>
            </a:r>
            <a:r>
              <a:rPr lang="pt-BR" sz="1200" dirty="0" err="1">
                <a:solidFill>
                  <a:srgbClr val="4ADE8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reduce</a:t>
            </a:r>
            <a:r>
              <a:rPr lang="pt-BR" sz="1200" dirty="0">
                <a:solidFill>
                  <a:srgbClr val="A8A8B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acumula o total da compra percorrendo o </a:t>
            </a:r>
            <a:r>
              <a:rPr lang="pt-BR" sz="1200" dirty="0" err="1">
                <a:solidFill>
                  <a:srgbClr val="A8A8B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array</a:t>
            </a:r>
            <a:r>
              <a:rPr lang="pt-BR" sz="1200" dirty="0">
                <a:solidFill>
                  <a:srgbClr val="A8A8B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uma única vez.</a:t>
            </a:r>
            <a:endParaRPr lang="en-US" sz="1200" dirty="0">
              <a:solidFill>
                <a:srgbClr val="A8A8B3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7" name="Shape 5"/>
          <p:cNvSpPr/>
          <p:nvPr/>
        </p:nvSpPr>
        <p:spPr>
          <a:xfrm rot="16200000">
            <a:off x="-390206" y="3495994"/>
            <a:ext cx="1737362" cy="48896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4ADE80"/>
          </a:solidFill>
          <a:ln w="12700">
            <a:noFill/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9" name="Shape 7"/>
          <p:cNvSpPr/>
          <p:nvPr/>
        </p:nvSpPr>
        <p:spPr>
          <a:xfrm>
            <a:off x="5620045" y="1051560"/>
            <a:ext cx="3291840" cy="822960"/>
          </a:xfrm>
          <a:prstGeom prst="roundRect">
            <a:avLst/>
          </a:prstGeom>
          <a:solidFill>
            <a:srgbClr val="1A1A20"/>
          </a:solidFill>
          <a:ln w="6350">
            <a:solidFill>
              <a:srgbClr val="2E2E38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0" name="Shape 8"/>
          <p:cNvSpPr/>
          <p:nvPr/>
        </p:nvSpPr>
        <p:spPr>
          <a:xfrm>
            <a:off x="5757205" y="1216152"/>
            <a:ext cx="457200" cy="457200"/>
          </a:xfrm>
          <a:prstGeom prst="ellipse">
            <a:avLst/>
          </a:prstGeom>
          <a:solidFill>
            <a:srgbClr val="4ADE80">
              <a:alpha val="10000"/>
            </a:srgbClr>
          </a:solidFill>
          <a:ln w="6350">
            <a:solidFill>
              <a:srgbClr val="4ADE80">
                <a:alpha val="40000"/>
              </a:srgbClr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1" name="Text 9"/>
          <p:cNvSpPr/>
          <p:nvPr/>
        </p:nvSpPr>
        <p:spPr>
          <a:xfrm>
            <a:off x="5757205" y="121615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6305845" y="1143000"/>
            <a:ext cx="2468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4ADE80"/>
                </a:solidFill>
                <a:latin typeface="Courier New" panose="02070309020205020404" pitchFamily="49" charset="0"/>
                <a:ea typeface="Arial" pitchFamily="34" charset="-122"/>
                <a:cs typeface="Courier New" panose="02070309020205020404" pitchFamily="49" charset="0"/>
              </a:rPr>
              <a:t>map()</a:t>
            </a:r>
          </a:p>
        </p:txBody>
      </p:sp>
      <p:sp>
        <p:nvSpPr>
          <p:cNvPr id="13" name="Text 11"/>
          <p:cNvSpPr/>
          <p:nvPr/>
        </p:nvSpPr>
        <p:spPr>
          <a:xfrm>
            <a:off x="6305845" y="1435608"/>
            <a:ext cx="246888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pt-BR" sz="900" dirty="0">
                <a:solidFill>
                  <a:srgbClr val="A8A8B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Percorre o </a:t>
            </a:r>
            <a:r>
              <a:rPr lang="pt-BR" sz="900" dirty="0" err="1">
                <a:solidFill>
                  <a:srgbClr val="A8A8B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array</a:t>
            </a:r>
            <a:r>
              <a:rPr lang="pt-BR" sz="900" dirty="0">
                <a:solidFill>
                  <a:srgbClr val="A8A8B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e retorna um novo </a:t>
            </a:r>
            <a:r>
              <a:rPr lang="pt-BR" sz="900" dirty="0" err="1">
                <a:solidFill>
                  <a:srgbClr val="A8A8B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array</a:t>
            </a:r>
            <a:r>
              <a:rPr lang="pt-BR" sz="900" dirty="0">
                <a:solidFill>
                  <a:srgbClr val="A8A8B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transformado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5620045" y="2103120"/>
            <a:ext cx="3291840" cy="822960"/>
          </a:xfrm>
          <a:prstGeom prst="roundRect">
            <a:avLst/>
          </a:prstGeom>
          <a:solidFill>
            <a:srgbClr val="1A1A20"/>
          </a:solidFill>
          <a:ln w="6350">
            <a:solidFill>
              <a:srgbClr val="2E2E38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5" name="Shape 13"/>
          <p:cNvSpPr/>
          <p:nvPr/>
        </p:nvSpPr>
        <p:spPr>
          <a:xfrm>
            <a:off x="5757205" y="2267712"/>
            <a:ext cx="457200" cy="457200"/>
          </a:xfrm>
          <a:prstGeom prst="ellipse">
            <a:avLst/>
          </a:prstGeom>
          <a:solidFill>
            <a:srgbClr val="4ADE80">
              <a:alpha val="10000"/>
            </a:srgbClr>
          </a:solidFill>
          <a:ln w="6350">
            <a:solidFill>
              <a:srgbClr val="4ADE80">
                <a:alpha val="40000"/>
              </a:srgbClr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6" name="Text 14"/>
          <p:cNvSpPr/>
          <p:nvPr/>
        </p:nvSpPr>
        <p:spPr>
          <a:xfrm>
            <a:off x="5757205" y="226771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6305845" y="2194560"/>
            <a:ext cx="2468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100" b="1" dirty="0">
                <a:solidFill>
                  <a:srgbClr val="4ADE8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filter()</a:t>
            </a:r>
          </a:p>
        </p:txBody>
      </p:sp>
      <p:sp>
        <p:nvSpPr>
          <p:cNvPr id="18" name="Text 16"/>
          <p:cNvSpPr/>
          <p:nvPr/>
        </p:nvSpPr>
        <p:spPr>
          <a:xfrm>
            <a:off x="6305845" y="2487168"/>
            <a:ext cx="246888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pt-BR" sz="900" dirty="0">
                <a:solidFill>
                  <a:srgbClr val="A8A8B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Retorna novo </a:t>
            </a:r>
            <a:r>
              <a:rPr lang="pt-BR" sz="900" dirty="0" err="1">
                <a:solidFill>
                  <a:srgbClr val="A8A8B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array</a:t>
            </a:r>
            <a:r>
              <a:rPr lang="pt-BR" sz="900" dirty="0">
                <a:solidFill>
                  <a:srgbClr val="A8A8B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apenas com os itens que passam na condição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5620045" y="3154680"/>
            <a:ext cx="3291840" cy="822960"/>
          </a:xfrm>
          <a:prstGeom prst="roundRect">
            <a:avLst/>
          </a:prstGeom>
          <a:solidFill>
            <a:srgbClr val="1A1A20"/>
          </a:solidFill>
          <a:ln w="6350">
            <a:solidFill>
              <a:srgbClr val="2E2E38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20" name="Shape 18"/>
          <p:cNvSpPr/>
          <p:nvPr/>
        </p:nvSpPr>
        <p:spPr>
          <a:xfrm>
            <a:off x="5757205" y="3319272"/>
            <a:ext cx="457200" cy="457200"/>
          </a:xfrm>
          <a:prstGeom prst="ellipse">
            <a:avLst/>
          </a:prstGeom>
          <a:solidFill>
            <a:srgbClr val="4ADE80">
              <a:alpha val="10000"/>
            </a:srgbClr>
          </a:solidFill>
          <a:ln w="6350">
            <a:solidFill>
              <a:srgbClr val="4ADE80">
                <a:alpha val="40000"/>
              </a:srgbClr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21" name="Text 19"/>
          <p:cNvSpPr/>
          <p:nvPr/>
        </p:nvSpPr>
        <p:spPr>
          <a:xfrm>
            <a:off x="5757205" y="33192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6305845" y="3246120"/>
            <a:ext cx="2468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>
              <a:buNone/>
            </a:pPr>
            <a:r>
              <a:rPr lang="en-US" sz="1100" b="1" dirty="0">
                <a:solidFill>
                  <a:srgbClr val="4ADE8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reduce()</a:t>
            </a:r>
          </a:p>
        </p:txBody>
      </p:sp>
      <p:sp>
        <p:nvSpPr>
          <p:cNvPr id="23" name="Text 21"/>
          <p:cNvSpPr/>
          <p:nvPr/>
        </p:nvSpPr>
        <p:spPr>
          <a:xfrm>
            <a:off x="6305845" y="3538728"/>
            <a:ext cx="246888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pt-BR" sz="900" dirty="0">
                <a:solidFill>
                  <a:srgbClr val="A8A8B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Reduz o </a:t>
            </a:r>
            <a:r>
              <a:rPr lang="pt-BR" sz="900" dirty="0" err="1">
                <a:solidFill>
                  <a:srgbClr val="A8A8B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array</a:t>
            </a:r>
            <a:r>
              <a:rPr lang="pt-BR" sz="900" dirty="0">
                <a:solidFill>
                  <a:srgbClr val="A8A8B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a um único valor usando um acumulador</a:t>
            </a:r>
            <a:endParaRPr lang="en-US" sz="900" dirty="0"/>
          </a:p>
        </p:txBody>
      </p:sp>
      <p:pic>
        <p:nvPicPr>
          <p:cNvPr id="6" name="Imagem 5">
            <a:extLst>
              <a:ext uri="{FF2B5EF4-FFF2-40B4-BE49-F238E27FC236}">
                <a16:creationId xmlns:a16="http://schemas.microsoft.com/office/drawing/2014/main" id="{56DDCF89-6DE8-C64B-A584-6C239C682E8C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6500" t="15142" r="6500" b="15143"/>
          <a:stretch>
            <a:fillRect/>
          </a:stretch>
        </p:blipFill>
        <p:spPr>
          <a:xfrm>
            <a:off x="502919" y="2651761"/>
            <a:ext cx="5097816" cy="1737359"/>
          </a:xfrm>
          <a:prstGeom prst="rect">
            <a:avLst/>
          </a:prstGeom>
        </p:spPr>
      </p:pic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21214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6742160-D3E2-C8B6-01C3-E66CF871EDB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1561047B-8F49-7AF2-E27A-E77EEF5310C3}"/>
              </a:ext>
            </a:extLst>
          </p:cNvPr>
          <p:cNvSpPr/>
          <p:nvPr/>
        </p:nvSpPr>
        <p:spPr>
          <a:xfrm flipH="1">
            <a:off x="502919" y="411480"/>
            <a:ext cx="50400" cy="640080"/>
          </a:xfrm>
          <a:prstGeom prst="roundRect">
            <a:avLst>
              <a:gd name="adj" fmla="val 30953"/>
            </a:avLst>
          </a:prstGeom>
          <a:solidFill>
            <a:srgbClr val="4ADE80"/>
          </a:solidFill>
          <a:ln w="12700">
            <a:noFill/>
            <a:prstDash val="solid"/>
          </a:ln>
          <a:effectLst/>
        </p:spPr>
        <p:txBody>
          <a:bodyPr/>
          <a:lstStyle/>
          <a:p>
            <a:endParaRPr lang="pt-BR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B3348DC9-A22E-0164-01B7-12175CDEDF38}"/>
              </a:ext>
            </a:extLst>
          </p:cNvPr>
          <p:cNvSpPr/>
          <p:nvPr/>
        </p:nvSpPr>
        <p:spPr>
          <a:xfrm>
            <a:off x="594360" y="566928"/>
            <a:ext cx="5029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 err="1">
                <a:solidFill>
                  <a:srgbClr val="4ADE8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Integração</a:t>
            </a:r>
            <a:r>
              <a:rPr lang="en-US" sz="2400" b="1" dirty="0">
                <a:solidFill>
                  <a:srgbClr val="4ADE8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 com WhatsApp</a:t>
            </a:r>
            <a:endParaRPr lang="en-US" sz="2400" dirty="0"/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40CA950F-3308-2190-57A0-DB674BD002AD}"/>
              </a:ext>
            </a:extLst>
          </p:cNvPr>
          <p:cNvSpPr/>
          <p:nvPr/>
        </p:nvSpPr>
        <p:spPr>
          <a:xfrm>
            <a:off x="457200" y="1234440"/>
            <a:ext cx="457200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pt-BR" sz="1200" dirty="0">
                <a:solidFill>
                  <a:srgbClr val="A8A8B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API wa.me recebe o número e o texto da mensagem como parâmetros na URL. Como URLs não aceitam espaços ou quebras de linha, usamos URL </a:t>
            </a:r>
            <a:r>
              <a:rPr lang="pt-BR" sz="1200" dirty="0" err="1">
                <a:solidFill>
                  <a:srgbClr val="A8A8B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Encoding</a:t>
            </a:r>
            <a:r>
              <a:rPr lang="pt-BR" sz="1200" dirty="0">
                <a:solidFill>
                  <a:srgbClr val="A8A8B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: %20 representa espaço e %0A representa </a:t>
            </a:r>
            <a:r>
              <a:rPr lang="pt-BR" sz="1200" dirty="0" err="1">
                <a:solidFill>
                  <a:srgbClr val="A8A8B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Enter</a:t>
            </a:r>
            <a:r>
              <a:rPr lang="pt-BR" sz="1200" dirty="0">
                <a:solidFill>
                  <a:srgbClr val="A8A8B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O </a:t>
            </a:r>
            <a:r>
              <a:rPr lang="pt-BR" sz="1200" dirty="0" err="1">
                <a:solidFill>
                  <a:srgbClr val="4ADE80"/>
                </a:solidFill>
                <a:latin typeface="Courier New" panose="02070309020205020404" pitchFamily="49" charset="0"/>
                <a:ea typeface="Arial" pitchFamily="34" charset="-122"/>
                <a:cs typeface="Courier New" panose="02070309020205020404" pitchFamily="49" charset="0"/>
              </a:rPr>
              <a:t>forEach</a:t>
            </a:r>
            <a:r>
              <a:rPr lang="pt-BR" sz="1200" dirty="0">
                <a:solidFill>
                  <a:srgbClr val="A8A8B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constrói a mensagem concatenando cada item na URL.</a:t>
            </a:r>
            <a:endParaRPr lang="en-US" sz="1200" dirty="0">
              <a:solidFill>
                <a:srgbClr val="A8A8B3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7" name="Shape 5">
            <a:extLst>
              <a:ext uri="{FF2B5EF4-FFF2-40B4-BE49-F238E27FC236}">
                <a16:creationId xmlns:a16="http://schemas.microsoft.com/office/drawing/2014/main" id="{B3AFE2FB-CE60-7C00-B20A-86B6D6BC35C5}"/>
              </a:ext>
            </a:extLst>
          </p:cNvPr>
          <p:cNvSpPr/>
          <p:nvPr/>
        </p:nvSpPr>
        <p:spPr>
          <a:xfrm rot="16200000">
            <a:off x="-390206" y="3331402"/>
            <a:ext cx="1737362" cy="48896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4ADE80"/>
          </a:solidFill>
          <a:ln w="12700">
            <a:noFill/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9" name="Shape 7">
            <a:extLst>
              <a:ext uri="{FF2B5EF4-FFF2-40B4-BE49-F238E27FC236}">
                <a16:creationId xmlns:a16="http://schemas.microsoft.com/office/drawing/2014/main" id="{9A73E8C2-D700-4461-3F42-2C74820E21E8}"/>
              </a:ext>
            </a:extLst>
          </p:cNvPr>
          <p:cNvSpPr/>
          <p:nvPr/>
        </p:nvSpPr>
        <p:spPr>
          <a:xfrm>
            <a:off x="5394960" y="1051560"/>
            <a:ext cx="3291840" cy="822960"/>
          </a:xfrm>
          <a:prstGeom prst="roundRect">
            <a:avLst/>
          </a:prstGeom>
          <a:solidFill>
            <a:srgbClr val="1A1A20"/>
          </a:solidFill>
          <a:ln w="6350">
            <a:solidFill>
              <a:srgbClr val="2E2E38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0" name="Shape 8">
            <a:extLst>
              <a:ext uri="{FF2B5EF4-FFF2-40B4-BE49-F238E27FC236}">
                <a16:creationId xmlns:a16="http://schemas.microsoft.com/office/drawing/2014/main" id="{7C07EF27-EA24-A299-8D06-5C05B1CE64DB}"/>
              </a:ext>
            </a:extLst>
          </p:cNvPr>
          <p:cNvSpPr/>
          <p:nvPr/>
        </p:nvSpPr>
        <p:spPr>
          <a:xfrm>
            <a:off x="5532120" y="1216152"/>
            <a:ext cx="457200" cy="457200"/>
          </a:xfrm>
          <a:prstGeom prst="ellipse">
            <a:avLst/>
          </a:prstGeom>
          <a:solidFill>
            <a:srgbClr val="4ADE80">
              <a:alpha val="10000"/>
            </a:srgbClr>
          </a:solidFill>
          <a:ln w="6350">
            <a:solidFill>
              <a:srgbClr val="4ADE80">
                <a:alpha val="40000"/>
              </a:srgbClr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1" name="Text 9">
            <a:extLst>
              <a:ext uri="{FF2B5EF4-FFF2-40B4-BE49-F238E27FC236}">
                <a16:creationId xmlns:a16="http://schemas.microsoft.com/office/drawing/2014/main" id="{942B55A5-7631-CEB4-99D1-9B2444AD3CA4}"/>
              </a:ext>
            </a:extLst>
          </p:cNvPr>
          <p:cNvSpPr/>
          <p:nvPr/>
        </p:nvSpPr>
        <p:spPr>
          <a:xfrm>
            <a:off x="5532120" y="121615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endParaRPr lang="en-US" sz="1200" dirty="0"/>
          </a:p>
        </p:txBody>
      </p:sp>
      <p:sp>
        <p:nvSpPr>
          <p:cNvPr id="12" name="Text 10">
            <a:extLst>
              <a:ext uri="{FF2B5EF4-FFF2-40B4-BE49-F238E27FC236}">
                <a16:creationId xmlns:a16="http://schemas.microsoft.com/office/drawing/2014/main" id="{19037F2F-4CF4-0B67-AD5A-52B798EAFECE}"/>
              </a:ext>
            </a:extLst>
          </p:cNvPr>
          <p:cNvSpPr/>
          <p:nvPr/>
        </p:nvSpPr>
        <p:spPr>
          <a:xfrm>
            <a:off x="6080760" y="1143000"/>
            <a:ext cx="2468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E1E1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%20</a:t>
            </a:r>
          </a:p>
        </p:txBody>
      </p:sp>
      <p:sp>
        <p:nvSpPr>
          <p:cNvPr id="13" name="Text 11">
            <a:extLst>
              <a:ext uri="{FF2B5EF4-FFF2-40B4-BE49-F238E27FC236}">
                <a16:creationId xmlns:a16="http://schemas.microsoft.com/office/drawing/2014/main" id="{6BC69CD8-0EA4-CBB3-A42E-0886EBD0DF38}"/>
              </a:ext>
            </a:extLst>
          </p:cNvPr>
          <p:cNvSpPr/>
          <p:nvPr/>
        </p:nvSpPr>
        <p:spPr>
          <a:xfrm>
            <a:off x="6080760" y="1435608"/>
            <a:ext cx="246888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pt-BR" sz="900" dirty="0">
                <a:solidFill>
                  <a:srgbClr val="A8A8B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Espaço em branco codificado para uso em URLs</a:t>
            </a:r>
            <a:endParaRPr lang="en-US" sz="900" dirty="0"/>
          </a:p>
        </p:txBody>
      </p:sp>
      <p:sp>
        <p:nvSpPr>
          <p:cNvPr id="14" name="Shape 12">
            <a:extLst>
              <a:ext uri="{FF2B5EF4-FFF2-40B4-BE49-F238E27FC236}">
                <a16:creationId xmlns:a16="http://schemas.microsoft.com/office/drawing/2014/main" id="{3E3D80DE-B2FD-BF7E-5E68-4AFC7DCF96C8}"/>
              </a:ext>
            </a:extLst>
          </p:cNvPr>
          <p:cNvSpPr/>
          <p:nvPr/>
        </p:nvSpPr>
        <p:spPr>
          <a:xfrm>
            <a:off x="5394960" y="2103120"/>
            <a:ext cx="3291840" cy="822960"/>
          </a:xfrm>
          <a:prstGeom prst="roundRect">
            <a:avLst/>
          </a:prstGeom>
          <a:solidFill>
            <a:srgbClr val="1A1A20"/>
          </a:solidFill>
          <a:ln w="6350">
            <a:solidFill>
              <a:srgbClr val="2E2E38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5" name="Shape 13">
            <a:extLst>
              <a:ext uri="{FF2B5EF4-FFF2-40B4-BE49-F238E27FC236}">
                <a16:creationId xmlns:a16="http://schemas.microsoft.com/office/drawing/2014/main" id="{217E658D-A6A1-6A2B-CA73-2807089F8A32}"/>
              </a:ext>
            </a:extLst>
          </p:cNvPr>
          <p:cNvSpPr/>
          <p:nvPr/>
        </p:nvSpPr>
        <p:spPr>
          <a:xfrm>
            <a:off x="5532120" y="2267712"/>
            <a:ext cx="457200" cy="457200"/>
          </a:xfrm>
          <a:prstGeom prst="ellipse">
            <a:avLst/>
          </a:prstGeom>
          <a:solidFill>
            <a:srgbClr val="4ADE80">
              <a:alpha val="10000"/>
            </a:srgbClr>
          </a:solidFill>
          <a:ln w="6350">
            <a:solidFill>
              <a:srgbClr val="4ADE80">
                <a:alpha val="40000"/>
              </a:srgbClr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6" name="Text 14">
            <a:extLst>
              <a:ext uri="{FF2B5EF4-FFF2-40B4-BE49-F238E27FC236}">
                <a16:creationId xmlns:a16="http://schemas.microsoft.com/office/drawing/2014/main" id="{D93ED062-5D83-F86C-2A2C-85C01EDFD145}"/>
              </a:ext>
            </a:extLst>
          </p:cNvPr>
          <p:cNvSpPr/>
          <p:nvPr/>
        </p:nvSpPr>
        <p:spPr>
          <a:xfrm>
            <a:off x="5532120" y="226771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endParaRPr lang="en-US" sz="1200" dirty="0"/>
          </a:p>
        </p:txBody>
      </p:sp>
      <p:sp>
        <p:nvSpPr>
          <p:cNvPr id="17" name="Text 15">
            <a:extLst>
              <a:ext uri="{FF2B5EF4-FFF2-40B4-BE49-F238E27FC236}">
                <a16:creationId xmlns:a16="http://schemas.microsoft.com/office/drawing/2014/main" id="{BFFD7AF1-BF40-E45F-F5D6-3A0382BA6372}"/>
              </a:ext>
            </a:extLst>
          </p:cNvPr>
          <p:cNvSpPr/>
          <p:nvPr/>
        </p:nvSpPr>
        <p:spPr>
          <a:xfrm>
            <a:off x="6080760" y="2194560"/>
            <a:ext cx="2468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E1E1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%0A</a:t>
            </a:r>
            <a:endParaRPr lang="en-US" sz="1100" dirty="0"/>
          </a:p>
        </p:txBody>
      </p:sp>
      <p:sp>
        <p:nvSpPr>
          <p:cNvPr id="18" name="Text 16">
            <a:extLst>
              <a:ext uri="{FF2B5EF4-FFF2-40B4-BE49-F238E27FC236}">
                <a16:creationId xmlns:a16="http://schemas.microsoft.com/office/drawing/2014/main" id="{4C98B911-1969-E028-7BF0-657426B64D32}"/>
              </a:ext>
            </a:extLst>
          </p:cNvPr>
          <p:cNvSpPr/>
          <p:nvPr/>
        </p:nvSpPr>
        <p:spPr>
          <a:xfrm>
            <a:off x="6080760" y="2487168"/>
            <a:ext cx="246888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pt-BR" sz="900" dirty="0">
                <a:solidFill>
                  <a:srgbClr val="A8A8B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Quebra de linha (</a:t>
            </a:r>
            <a:r>
              <a:rPr lang="pt-BR" sz="900" dirty="0" err="1">
                <a:solidFill>
                  <a:srgbClr val="A8A8B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Enter</a:t>
            </a:r>
            <a:r>
              <a:rPr lang="pt-BR" sz="900" dirty="0">
                <a:solidFill>
                  <a:srgbClr val="A8A8B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 codificada para uso em URLs</a:t>
            </a:r>
            <a:endParaRPr lang="en-US" sz="900" dirty="0"/>
          </a:p>
        </p:txBody>
      </p:sp>
      <p:sp>
        <p:nvSpPr>
          <p:cNvPr id="19" name="Shape 17">
            <a:extLst>
              <a:ext uri="{FF2B5EF4-FFF2-40B4-BE49-F238E27FC236}">
                <a16:creationId xmlns:a16="http://schemas.microsoft.com/office/drawing/2014/main" id="{3EC0DB19-32DD-9CF9-31C3-D29B888BAA0F}"/>
              </a:ext>
            </a:extLst>
          </p:cNvPr>
          <p:cNvSpPr/>
          <p:nvPr/>
        </p:nvSpPr>
        <p:spPr>
          <a:xfrm>
            <a:off x="5394960" y="3154680"/>
            <a:ext cx="3291840" cy="822960"/>
          </a:xfrm>
          <a:prstGeom prst="roundRect">
            <a:avLst/>
          </a:prstGeom>
          <a:solidFill>
            <a:srgbClr val="1A1A20"/>
          </a:solidFill>
          <a:ln w="6350">
            <a:solidFill>
              <a:srgbClr val="2E2E38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20" name="Shape 18">
            <a:extLst>
              <a:ext uri="{FF2B5EF4-FFF2-40B4-BE49-F238E27FC236}">
                <a16:creationId xmlns:a16="http://schemas.microsoft.com/office/drawing/2014/main" id="{304972A5-7D2D-DC27-B250-B86936A417F7}"/>
              </a:ext>
            </a:extLst>
          </p:cNvPr>
          <p:cNvSpPr/>
          <p:nvPr/>
        </p:nvSpPr>
        <p:spPr>
          <a:xfrm>
            <a:off x="5532120" y="3319272"/>
            <a:ext cx="457200" cy="457200"/>
          </a:xfrm>
          <a:prstGeom prst="ellipse">
            <a:avLst/>
          </a:prstGeom>
          <a:solidFill>
            <a:srgbClr val="4ADE80">
              <a:alpha val="10000"/>
            </a:srgbClr>
          </a:solidFill>
          <a:ln w="6350">
            <a:solidFill>
              <a:srgbClr val="4ADE80">
                <a:alpha val="40000"/>
              </a:srgbClr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21" name="Text 19">
            <a:extLst>
              <a:ext uri="{FF2B5EF4-FFF2-40B4-BE49-F238E27FC236}">
                <a16:creationId xmlns:a16="http://schemas.microsoft.com/office/drawing/2014/main" id="{F068BF57-5338-C1EE-B40B-F455498B1957}"/>
              </a:ext>
            </a:extLst>
          </p:cNvPr>
          <p:cNvSpPr/>
          <p:nvPr/>
        </p:nvSpPr>
        <p:spPr>
          <a:xfrm>
            <a:off x="5532120" y="33192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endParaRPr lang="en-US" sz="1200" dirty="0"/>
          </a:p>
        </p:txBody>
      </p:sp>
      <p:sp>
        <p:nvSpPr>
          <p:cNvPr id="22" name="Text 20">
            <a:extLst>
              <a:ext uri="{FF2B5EF4-FFF2-40B4-BE49-F238E27FC236}">
                <a16:creationId xmlns:a16="http://schemas.microsoft.com/office/drawing/2014/main" id="{DA29D3DD-547D-EB06-137B-03BFBBA707FC}"/>
              </a:ext>
            </a:extLst>
          </p:cNvPr>
          <p:cNvSpPr/>
          <p:nvPr/>
        </p:nvSpPr>
        <p:spPr>
          <a:xfrm>
            <a:off x="6080760" y="3246120"/>
            <a:ext cx="2468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 err="1">
                <a:solidFill>
                  <a:srgbClr val="4ADE80"/>
                </a:solidFill>
                <a:latin typeface="Courier New" panose="02070309020205020404" pitchFamily="49" charset="0"/>
                <a:ea typeface="Arial" pitchFamily="34" charset="-122"/>
                <a:cs typeface="Courier New" panose="02070309020205020404" pitchFamily="49" charset="0"/>
              </a:rPr>
              <a:t>window.open</a:t>
            </a:r>
            <a:r>
              <a:rPr lang="en-US" sz="1100" b="1" dirty="0">
                <a:solidFill>
                  <a:srgbClr val="4ADE80"/>
                </a:solidFill>
                <a:latin typeface="Courier New" panose="02070309020205020404" pitchFamily="49" charset="0"/>
                <a:ea typeface="Arial" pitchFamily="34" charset="-122"/>
                <a:cs typeface="Courier New" panose="02070309020205020404" pitchFamily="49" charset="0"/>
              </a:rPr>
              <a:t>()</a:t>
            </a:r>
            <a:endParaRPr lang="en-US" sz="1100" dirty="0">
              <a:solidFill>
                <a:srgbClr val="4ADE8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23" name="Text 21">
            <a:extLst>
              <a:ext uri="{FF2B5EF4-FFF2-40B4-BE49-F238E27FC236}">
                <a16:creationId xmlns:a16="http://schemas.microsoft.com/office/drawing/2014/main" id="{CD632E05-F515-BD82-13FF-8F3D49466A1C}"/>
              </a:ext>
            </a:extLst>
          </p:cNvPr>
          <p:cNvSpPr/>
          <p:nvPr/>
        </p:nvSpPr>
        <p:spPr>
          <a:xfrm>
            <a:off x="6080760" y="3538728"/>
            <a:ext cx="246888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pt-BR" sz="900" dirty="0">
                <a:solidFill>
                  <a:srgbClr val="A8A8B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Abre a URL em uma nova guia do navegador</a:t>
            </a:r>
            <a:endParaRPr lang="en-US" sz="900" dirty="0"/>
          </a:p>
        </p:txBody>
      </p:sp>
      <p:pic>
        <p:nvPicPr>
          <p:cNvPr id="6" name="Imagem 5">
            <a:extLst>
              <a:ext uri="{FF2B5EF4-FFF2-40B4-BE49-F238E27FC236}">
                <a16:creationId xmlns:a16="http://schemas.microsoft.com/office/drawing/2014/main" id="{47355DEE-3272-220F-A293-C9E858AED062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7919" t="16533" r="7692" b="15919"/>
          <a:stretch>
            <a:fillRect/>
          </a:stretch>
        </p:blipFill>
        <p:spPr>
          <a:xfrm>
            <a:off x="504000" y="2487600"/>
            <a:ext cx="4448459" cy="17369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67371195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212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6400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pt-BR" sz="2400" b="1" noProof="0" dirty="0">
                <a:solidFill>
                  <a:srgbClr val="E1E1E6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Conclusão</a:t>
            </a:r>
            <a:endParaRPr lang="pt-BR" sz="2400" noProof="0" dirty="0"/>
          </a:p>
        </p:txBody>
      </p:sp>
      <p:sp>
        <p:nvSpPr>
          <p:cNvPr id="4" name="Shape 2"/>
          <p:cNvSpPr/>
          <p:nvPr/>
        </p:nvSpPr>
        <p:spPr>
          <a:xfrm>
            <a:off x="457200" y="868680"/>
            <a:ext cx="8229600" cy="0"/>
          </a:xfrm>
          <a:prstGeom prst="line">
            <a:avLst/>
          </a:prstGeom>
          <a:noFill/>
          <a:ln w="10160">
            <a:solidFill>
              <a:srgbClr val="1E1E28"/>
            </a:solidFill>
            <a:prstDash val="solid"/>
          </a:ln>
        </p:spPr>
        <p:txBody>
          <a:bodyPr/>
          <a:lstStyle/>
          <a:p>
            <a:endParaRPr lang="pt-BR" noProof="0" dirty="0"/>
          </a:p>
        </p:txBody>
      </p:sp>
      <p:sp>
        <p:nvSpPr>
          <p:cNvPr id="5" name="Shape 3"/>
          <p:cNvSpPr/>
          <p:nvPr/>
        </p:nvSpPr>
        <p:spPr>
          <a:xfrm>
            <a:off x="457200" y="1005840"/>
            <a:ext cx="4114800" cy="903600"/>
          </a:xfrm>
          <a:prstGeom prst="roundRect">
            <a:avLst/>
          </a:prstGeom>
          <a:solidFill>
            <a:srgbClr val="171720"/>
          </a:solidFill>
          <a:ln w="6350">
            <a:noFill/>
            <a:prstDash val="solid"/>
          </a:ln>
        </p:spPr>
        <p:txBody>
          <a:bodyPr/>
          <a:lstStyle/>
          <a:p>
            <a:endParaRPr lang="pt-BR" noProof="0" dirty="0"/>
          </a:p>
        </p:txBody>
      </p:sp>
      <p:sp>
        <p:nvSpPr>
          <p:cNvPr id="6" name="Shape 4"/>
          <p:cNvSpPr/>
          <p:nvPr/>
        </p:nvSpPr>
        <p:spPr>
          <a:xfrm>
            <a:off x="566928" y="1265616"/>
            <a:ext cx="384048" cy="384048"/>
          </a:xfrm>
          <a:prstGeom prst="ellipse">
            <a:avLst/>
          </a:prstGeom>
          <a:solidFill>
            <a:srgbClr val="4ADE80">
              <a:alpha val="10000"/>
            </a:srgbClr>
          </a:solidFill>
          <a:ln w="6350">
            <a:solidFill>
              <a:srgbClr val="4ADE80">
                <a:alpha val="40000"/>
              </a:srgbClr>
            </a:solidFill>
            <a:prstDash val="solid"/>
          </a:ln>
        </p:spPr>
        <p:txBody>
          <a:bodyPr/>
          <a:lstStyle/>
          <a:p>
            <a:endParaRPr lang="pt-BR" noProof="0" dirty="0"/>
          </a:p>
        </p:txBody>
      </p:sp>
      <p:sp>
        <p:nvSpPr>
          <p:cNvPr id="7" name="Text 5"/>
          <p:cNvSpPr/>
          <p:nvPr/>
        </p:nvSpPr>
        <p:spPr>
          <a:xfrm>
            <a:off x="566928" y="126561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pt-BR" sz="1000" noProof="0" dirty="0">
                <a:solidFill>
                  <a:srgbClr val="4ADE80"/>
                </a:solidFill>
              </a:rPr>
              <a:t>✓</a:t>
            </a:r>
            <a:endParaRPr lang="pt-BR" sz="1000" noProof="0" dirty="0"/>
          </a:p>
        </p:txBody>
      </p:sp>
      <p:sp>
        <p:nvSpPr>
          <p:cNvPr id="8" name="Text 6"/>
          <p:cNvSpPr/>
          <p:nvPr/>
        </p:nvSpPr>
        <p:spPr>
          <a:xfrm>
            <a:off x="1051560" y="1097280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pt-BR" sz="1200" b="1" noProof="0" dirty="0">
                <a:solidFill>
                  <a:srgbClr val="E1E1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Delegação de Eventos</a:t>
            </a:r>
            <a:endParaRPr lang="pt-BR" sz="1200" noProof="0" dirty="0"/>
          </a:p>
        </p:txBody>
      </p:sp>
      <p:sp>
        <p:nvSpPr>
          <p:cNvPr id="9" name="Text 7"/>
          <p:cNvSpPr/>
          <p:nvPr/>
        </p:nvSpPr>
        <p:spPr>
          <a:xfrm>
            <a:off x="1051560" y="1426464"/>
            <a:ext cx="3383280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pt-BR" sz="900" noProof="0" dirty="0">
                <a:solidFill>
                  <a:srgbClr val="A8A8B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ouvinte no pai captura eventos de filhos criados dinamicamente</a:t>
            </a:r>
            <a:endParaRPr lang="pt-BR" sz="900" noProof="0" dirty="0"/>
          </a:p>
        </p:txBody>
      </p:sp>
      <p:sp>
        <p:nvSpPr>
          <p:cNvPr id="10" name="Shape 8"/>
          <p:cNvSpPr/>
          <p:nvPr/>
        </p:nvSpPr>
        <p:spPr>
          <a:xfrm>
            <a:off x="4846320" y="1005840"/>
            <a:ext cx="4114800" cy="903600"/>
          </a:xfrm>
          <a:prstGeom prst="roundRect">
            <a:avLst/>
          </a:prstGeom>
          <a:solidFill>
            <a:srgbClr val="171720"/>
          </a:solidFill>
          <a:ln w="6350">
            <a:noFill/>
            <a:prstDash val="solid"/>
          </a:ln>
        </p:spPr>
        <p:txBody>
          <a:bodyPr/>
          <a:lstStyle/>
          <a:p>
            <a:endParaRPr lang="pt-BR" noProof="0" dirty="0"/>
          </a:p>
        </p:txBody>
      </p:sp>
      <p:sp>
        <p:nvSpPr>
          <p:cNvPr id="11" name="Shape 9"/>
          <p:cNvSpPr/>
          <p:nvPr/>
        </p:nvSpPr>
        <p:spPr>
          <a:xfrm>
            <a:off x="4956048" y="1265616"/>
            <a:ext cx="384048" cy="384048"/>
          </a:xfrm>
          <a:prstGeom prst="ellipse">
            <a:avLst/>
          </a:prstGeom>
          <a:solidFill>
            <a:srgbClr val="4ADE80">
              <a:alpha val="10000"/>
            </a:srgbClr>
          </a:solidFill>
          <a:ln w="6350">
            <a:solidFill>
              <a:srgbClr val="4ADE80">
                <a:alpha val="40000"/>
              </a:srgbClr>
            </a:solidFill>
            <a:prstDash val="solid"/>
          </a:ln>
        </p:spPr>
        <p:txBody>
          <a:bodyPr/>
          <a:lstStyle/>
          <a:p>
            <a:endParaRPr lang="pt-BR" noProof="0" dirty="0"/>
          </a:p>
        </p:txBody>
      </p:sp>
      <p:sp>
        <p:nvSpPr>
          <p:cNvPr id="12" name="Text 10"/>
          <p:cNvSpPr/>
          <p:nvPr/>
        </p:nvSpPr>
        <p:spPr>
          <a:xfrm>
            <a:off x="4956048" y="126561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pt-BR" sz="1000" noProof="0" dirty="0">
                <a:solidFill>
                  <a:srgbClr val="4ADE80"/>
                </a:solidFill>
              </a:rPr>
              <a:t>✓</a:t>
            </a:r>
            <a:endParaRPr lang="pt-BR" sz="1000" noProof="0" dirty="0"/>
          </a:p>
        </p:txBody>
      </p:sp>
      <p:sp>
        <p:nvSpPr>
          <p:cNvPr id="13" name="Text 11"/>
          <p:cNvSpPr/>
          <p:nvPr/>
        </p:nvSpPr>
        <p:spPr>
          <a:xfrm>
            <a:off x="5440680" y="1097280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pt-BR" sz="1200" b="1" noProof="0" dirty="0" err="1">
                <a:solidFill>
                  <a:srgbClr val="4ADE80"/>
                </a:solidFill>
                <a:latin typeface="Courier New" panose="02070309020205020404" pitchFamily="49" charset="0"/>
                <a:ea typeface="Arial" pitchFamily="34" charset="-122"/>
                <a:cs typeface="Courier New" panose="02070309020205020404" pitchFamily="49" charset="0"/>
              </a:rPr>
              <a:t>e.target</a:t>
            </a:r>
            <a:r>
              <a:rPr lang="pt-BR" sz="1200" b="1" noProof="0" dirty="0">
                <a:solidFill>
                  <a:srgbClr val="4ADE80"/>
                </a:solidFill>
                <a:latin typeface="Courier New" panose="02070309020205020404" pitchFamily="49" charset="0"/>
                <a:ea typeface="Arial" pitchFamily="34" charset="-122"/>
                <a:cs typeface="Courier New" panose="02070309020205020404" pitchFamily="49" charset="0"/>
              </a:rPr>
              <a:t> </a:t>
            </a:r>
            <a:r>
              <a:rPr lang="pt-BR" sz="1200" b="1" noProof="0" dirty="0">
                <a:solidFill>
                  <a:srgbClr val="E1E1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 </a:t>
            </a:r>
            <a:r>
              <a:rPr lang="pt-BR" sz="1200" b="1" dirty="0" err="1">
                <a:solidFill>
                  <a:srgbClr val="4ADE8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closest</a:t>
            </a:r>
            <a:r>
              <a:rPr lang="pt-BR" sz="1200" b="1" dirty="0">
                <a:solidFill>
                  <a:srgbClr val="4ADE8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</a:p>
        </p:txBody>
      </p:sp>
      <p:sp>
        <p:nvSpPr>
          <p:cNvPr id="14" name="Text 12"/>
          <p:cNvSpPr/>
          <p:nvPr/>
        </p:nvSpPr>
        <p:spPr>
          <a:xfrm>
            <a:off x="5440680" y="1426464"/>
            <a:ext cx="3383280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r>
              <a:rPr lang="pt-BR" sz="900" noProof="0" dirty="0">
                <a:solidFill>
                  <a:srgbClr val="A8A8B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identificam o elemento clicado e navegam até o item pai</a:t>
            </a:r>
            <a:endParaRPr lang="pt-BR" sz="900" noProof="0" dirty="0"/>
          </a:p>
        </p:txBody>
      </p:sp>
      <p:sp>
        <p:nvSpPr>
          <p:cNvPr id="15" name="Shape 13"/>
          <p:cNvSpPr/>
          <p:nvPr/>
        </p:nvSpPr>
        <p:spPr>
          <a:xfrm>
            <a:off x="457200" y="2046599"/>
            <a:ext cx="4114800" cy="903600"/>
          </a:xfrm>
          <a:prstGeom prst="roundRect">
            <a:avLst/>
          </a:prstGeom>
          <a:solidFill>
            <a:srgbClr val="171720"/>
          </a:solidFill>
          <a:ln w="6350">
            <a:noFill/>
            <a:prstDash val="solid"/>
          </a:ln>
        </p:spPr>
        <p:txBody>
          <a:bodyPr/>
          <a:lstStyle/>
          <a:p>
            <a:endParaRPr lang="pt-BR" noProof="0" dirty="0"/>
          </a:p>
        </p:txBody>
      </p:sp>
      <p:sp>
        <p:nvSpPr>
          <p:cNvPr id="16" name="Shape 14"/>
          <p:cNvSpPr/>
          <p:nvPr/>
        </p:nvSpPr>
        <p:spPr>
          <a:xfrm>
            <a:off x="566928" y="2308164"/>
            <a:ext cx="384048" cy="384048"/>
          </a:xfrm>
          <a:prstGeom prst="ellipse">
            <a:avLst/>
          </a:prstGeom>
          <a:solidFill>
            <a:srgbClr val="4ADE80">
              <a:alpha val="10000"/>
            </a:srgbClr>
          </a:solidFill>
          <a:ln w="6350">
            <a:solidFill>
              <a:srgbClr val="4ADE80">
                <a:alpha val="40000"/>
              </a:srgbClr>
            </a:solidFill>
            <a:prstDash val="solid"/>
          </a:ln>
        </p:spPr>
        <p:txBody>
          <a:bodyPr/>
          <a:lstStyle/>
          <a:p>
            <a:endParaRPr lang="pt-BR" noProof="0" dirty="0"/>
          </a:p>
        </p:txBody>
      </p:sp>
      <p:sp>
        <p:nvSpPr>
          <p:cNvPr id="17" name="Text 15"/>
          <p:cNvSpPr/>
          <p:nvPr/>
        </p:nvSpPr>
        <p:spPr>
          <a:xfrm>
            <a:off x="566928" y="230816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pt-BR" sz="1000" noProof="0" dirty="0">
                <a:solidFill>
                  <a:srgbClr val="4ADE80"/>
                </a:solidFill>
              </a:rPr>
              <a:t>✓</a:t>
            </a:r>
            <a:endParaRPr lang="pt-BR" sz="1000" noProof="0" dirty="0"/>
          </a:p>
        </p:txBody>
      </p:sp>
      <p:sp>
        <p:nvSpPr>
          <p:cNvPr id="18" name="Text 16"/>
          <p:cNvSpPr/>
          <p:nvPr/>
        </p:nvSpPr>
        <p:spPr>
          <a:xfrm>
            <a:off x="1051560" y="2138039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pt-BR" sz="1200" b="1" dirty="0" err="1">
                <a:solidFill>
                  <a:srgbClr val="4ADE8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map</a:t>
            </a:r>
            <a:r>
              <a:rPr lang="pt-BR" sz="1200" b="1" dirty="0">
                <a:solidFill>
                  <a:srgbClr val="4ADE8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</a:p>
        </p:txBody>
      </p:sp>
      <p:sp>
        <p:nvSpPr>
          <p:cNvPr id="19" name="Text 17"/>
          <p:cNvSpPr/>
          <p:nvPr/>
        </p:nvSpPr>
        <p:spPr>
          <a:xfrm>
            <a:off x="1051560" y="2467223"/>
            <a:ext cx="3383280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r>
              <a:rPr lang="pt-BR" sz="900" noProof="0" dirty="0">
                <a:solidFill>
                  <a:srgbClr val="A8A8B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transforma cada item do </a:t>
            </a:r>
            <a:r>
              <a:rPr lang="pt-BR" sz="900" noProof="0" dirty="0" err="1">
                <a:solidFill>
                  <a:srgbClr val="A8A8B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array</a:t>
            </a:r>
            <a:r>
              <a:rPr lang="pt-BR" sz="900" noProof="0" dirty="0">
                <a:solidFill>
                  <a:srgbClr val="A8A8B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mesclando dados do carrinho e do catálogo</a:t>
            </a:r>
            <a:endParaRPr lang="pt-BR" sz="900" noProof="0" dirty="0"/>
          </a:p>
        </p:txBody>
      </p:sp>
      <p:sp>
        <p:nvSpPr>
          <p:cNvPr id="20" name="Shape 18"/>
          <p:cNvSpPr/>
          <p:nvPr/>
        </p:nvSpPr>
        <p:spPr>
          <a:xfrm>
            <a:off x="4846320" y="2046599"/>
            <a:ext cx="4114800" cy="903600"/>
          </a:xfrm>
          <a:prstGeom prst="roundRect">
            <a:avLst/>
          </a:prstGeom>
          <a:solidFill>
            <a:srgbClr val="171720"/>
          </a:solidFill>
          <a:ln w="6350">
            <a:noFill/>
            <a:prstDash val="solid"/>
          </a:ln>
        </p:spPr>
        <p:txBody>
          <a:bodyPr/>
          <a:lstStyle/>
          <a:p>
            <a:endParaRPr lang="pt-BR" noProof="0" dirty="0"/>
          </a:p>
        </p:txBody>
      </p:sp>
      <p:sp>
        <p:nvSpPr>
          <p:cNvPr id="21" name="Shape 19"/>
          <p:cNvSpPr/>
          <p:nvPr/>
        </p:nvSpPr>
        <p:spPr>
          <a:xfrm>
            <a:off x="4956048" y="2308164"/>
            <a:ext cx="384048" cy="384048"/>
          </a:xfrm>
          <a:prstGeom prst="ellipse">
            <a:avLst/>
          </a:prstGeom>
          <a:solidFill>
            <a:srgbClr val="4ADE80">
              <a:alpha val="10000"/>
            </a:srgbClr>
          </a:solidFill>
          <a:ln w="6350">
            <a:solidFill>
              <a:srgbClr val="4ADE80">
                <a:alpha val="40000"/>
              </a:srgbClr>
            </a:solidFill>
            <a:prstDash val="solid"/>
          </a:ln>
        </p:spPr>
        <p:txBody>
          <a:bodyPr/>
          <a:lstStyle/>
          <a:p>
            <a:endParaRPr lang="pt-BR" noProof="0" dirty="0"/>
          </a:p>
        </p:txBody>
      </p:sp>
      <p:sp>
        <p:nvSpPr>
          <p:cNvPr id="22" name="Text 20"/>
          <p:cNvSpPr/>
          <p:nvPr/>
        </p:nvSpPr>
        <p:spPr>
          <a:xfrm>
            <a:off x="4956048" y="230816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pt-BR" sz="1000" noProof="0" dirty="0">
                <a:solidFill>
                  <a:srgbClr val="4ADE80"/>
                </a:solidFill>
              </a:rPr>
              <a:t>✓</a:t>
            </a:r>
            <a:endParaRPr lang="pt-BR" sz="1000" noProof="0" dirty="0"/>
          </a:p>
        </p:txBody>
      </p:sp>
      <p:sp>
        <p:nvSpPr>
          <p:cNvPr id="23" name="Text 21"/>
          <p:cNvSpPr/>
          <p:nvPr/>
        </p:nvSpPr>
        <p:spPr>
          <a:xfrm>
            <a:off x="5440680" y="2138039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pt-BR" sz="1200" b="1" dirty="0" err="1">
                <a:solidFill>
                  <a:srgbClr val="4ADE8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filter</a:t>
            </a:r>
            <a:r>
              <a:rPr lang="pt-BR" sz="1200" b="1" dirty="0">
                <a:solidFill>
                  <a:srgbClr val="4ADE8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() </a:t>
            </a:r>
            <a:r>
              <a:rPr lang="pt-BR" sz="1200" b="1" noProof="0" dirty="0">
                <a:solidFill>
                  <a:srgbClr val="E1E1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 </a:t>
            </a:r>
            <a:r>
              <a:rPr lang="pt-BR" sz="1200" b="1" dirty="0" err="1">
                <a:solidFill>
                  <a:srgbClr val="4ADE8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reduce</a:t>
            </a:r>
            <a:r>
              <a:rPr lang="pt-BR" sz="1200" b="1" dirty="0">
                <a:solidFill>
                  <a:srgbClr val="4ADE8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</a:p>
        </p:txBody>
      </p:sp>
      <p:sp>
        <p:nvSpPr>
          <p:cNvPr id="24" name="Text 22"/>
          <p:cNvSpPr/>
          <p:nvPr/>
        </p:nvSpPr>
        <p:spPr>
          <a:xfrm>
            <a:off x="5440680" y="2467223"/>
            <a:ext cx="3383280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r>
              <a:rPr lang="pt-BR" sz="900" noProof="0" dirty="0">
                <a:solidFill>
                  <a:srgbClr val="A8A8B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removem um item e totalizam o carrinho em uma linha cada</a:t>
            </a:r>
            <a:endParaRPr lang="pt-BR" sz="900" noProof="0" dirty="0"/>
          </a:p>
        </p:txBody>
      </p:sp>
      <p:sp>
        <p:nvSpPr>
          <p:cNvPr id="25" name="Shape 23"/>
          <p:cNvSpPr/>
          <p:nvPr/>
        </p:nvSpPr>
        <p:spPr>
          <a:xfrm>
            <a:off x="457200" y="3089236"/>
            <a:ext cx="4114800" cy="903600"/>
          </a:xfrm>
          <a:prstGeom prst="roundRect">
            <a:avLst/>
          </a:prstGeom>
          <a:solidFill>
            <a:srgbClr val="171720"/>
          </a:solidFill>
          <a:ln w="6350">
            <a:noFill/>
            <a:prstDash val="solid"/>
          </a:ln>
        </p:spPr>
        <p:txBody>
          <a:bodyPr/>
          <a:lstStyle/>
          <a:p>
            <a:endParaRPr lang="pt-BR" noProof="0" dirty="0"/>
          </a:p>
        </p:txBody>
      </p:sp>
      <p:sp>
        <p:nvSpPr>
          <p:cNvPr id="26" name="Shape 24"/>
          <p:cNvSpPr/>
          <p:nvPr/>
        </p:nvSpPr>
        <p:spPr>
          <a:xfrm>
            <a:off x="566928" y="3354412"/>
            <a:ext cx="384048" cy="384048"/>
          </a:xfrm>
          <a:prstGeom prst="ellipse">
            <a:avLst/>
          </a:prstGeom>
          <a:solidFill>
            <a:srgbClr val="4ADE80">
              <a:alpha val="10000"/>
            </a:srgbClr>
          </a:solidFill>
          <a:ln w="6350">
            <a:solidFill>
              <a:srgbClr val="4ADE80">
                <a:alpha val="40000"/>
              </a:srgbClr>
            </a:solidFill>
            <a:prstDash val="solid"/>
          </a:ln>
        </p:spPr>
        <p:txBody>
          <a:bodyPr/>
          <a:lstStyle/>
          <a:p>
            <a:endParaRPr lang="pt-BR" noProof="0" dirty="0"/>
          </a:p>
        </p:txBody>
      </p:sp>
      <p:sp>
        <p:nvSpPr>
          <p:cNvPr id="27" name="Text 25"/>
          <p:cNvSpPr/>
          <p:nvPr/>
        </p:nvSpPr>
        <p:spPr>
          <a:xfrm>
            <a:off x="566928" y="335441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pt-BR" sz="1000" noProof="0" dirty="0">
                <a:solidFill>
                  <a:srgbClr val="4ADE80"/>
                </a:solidFill>
              </a:rPr>
              <a:t>✓</a:t>
            </a:r>
            <a:endParaRPr lang="pt-BR" sz="1000" noProof="0" dirty="0"/>
          </a:p>
        </p:txBody>
      </p:sp>
      <p:sp>
        <p:nvSpPr>
          <p:cNvPr id="28" name="Text 26"/>
          <p:cNvSpPr/>
          <p:nvPr/>
        </p:nvSpPr>
        <p:spPr>
          <a:xfrm>
            <a:off x="1051560" y="3180676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pt-BR" sz="1200" b="1" dirty="0" err="1">
                <a:solidFill>
                  <a:srgbClr val="4ADE8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verificarCarrinhoVazio</a:t>
            </a:r>
            <a:endParaRPr lang="pt-BR" sz="1200" b="1" dirty="0">
              <a:solidFill>
                <a:srgbClr val="4ADE8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29" name="Text 27"/>
          <p:cNvSpPr/>
          <p:nvPr/>
        </p:nvSpPr>
        <p:spPr>
          <a:xfrm>
            <a:off x="1051560" y="3509860"/>
            <a:ext cx="3383280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r>
              <a:rPr lang="pt-BR" sz="900" noProof="0" dirty="0">
                <a:solidFill>
                  <a:srgbClr val="A8A8B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função central que sincroniza </a:t>
            </a:r>
            <a:r>
              <a:rPr lang="pt-BR" sz="900" noProof="0" dirty="0" err="1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localStorage</a:t>
            </a:r>
            <a:r>
              <a:rPr lang="pt-BR" sz="900" noProof="0" dirty="0">
                <a:solidFill>
                  <a:srgbClr val="A8A8B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com a interface</a:t>
            </a:r>
            <a:endParaRPr lang="pt-BR" sz="900" noProof="0" dirty="0"/>
          </a:p>
        </p:txBody>
      </p:sp>
      <p:sp>
        <p:nvSpPr>
          <p:cNvPr id="30" name="Shape 28"/>
          <p:cNvSpPr/>
          <p:nvPr/>
        </p:nvSpPr>
        <p:spPr>
          <a:xfrm>
            <a:off x="4846320" y="3089236"/>
            <a:ext cx="4114800" cy="903600"/>
          </a:xfrm>
          <a:prstGeom prst="roundRect">
            <a:avLst/>
          </a:prstGeom>
          <a:solidFill>
            <a:srgbClr val="171720"/>
          </a:solidFill>
          <a:ln w="6350">
            <a:noFill/>
            <a:prstDash val="solid"/>
          </a:ln>
        </p:spPr>
        <p:txBody>
          <a:bodyPr/>
          <a:lstStyle/>
          <a:p>
            <a:endParaRPr lang="pt-BR" noProof="0" dirty="0"/>
          </a:p>
        </p:txBody>
      </p:sp>
      <p:sp>
        <p:nvSpPr>
          <p:cNvPr id="31" name="Shape 29"/>
          <p:cNvSpPr/>
          <p:nvPr/>
        </p:nvSpPr>
        <p:spPr>
          <a:xfrm>
            <a:off x="4956048" y="3354412"/>
            <a:ext cx="384048" cy="384048"/>
          </a:xfrm>
          <a:prstGeom prst="ellipse">
            <a:avLst/>
          </a:prstGeom>
          <a:solidFill>
            <a:srgbClr val="4ADE80">
              <a:alpha val="10000"/>
            </a:srgbClr>
          </a:solidFill>
          <a:ln w="6350">
            <a:solidFill>
              <a:srgbClr val="4ADE80">
                <a:alpha val="40000"/>
              </a:srgbClr>
            </a:solidFill>
            <a:prstDash val="solid"/>
          </a:ln>
        </p:spPr>
        <p:txBody>
          <a:bodyPr/>
          <a:lstStyle/>
          <a:p>
            <a:endParaRPr lang="pt-BR" noProof="0" dirty="0"/>
          </a:p>
        </p:txBody>
      </p:sp>
      <p:sp>
        <p:nvSpPr>
          <p:cNvPr id="32" name="Text 30"/>
          <p:cNvSpPr/>
          <p:nvPr/>
        </p:nvSpPr>
        <p:spPr>
          <a:xfrm>
            <a:off x="4956048" y="335441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pt-BR" sz="1000" noProof="0" dirty="0">
                <a:solidFill>
                  <a:srgbClr val="4ADE80"/>
                </a:solidFill>
              </a:rPr>
              <a:t>✓</a:t>
            </a:r>
            <a:endParaRPr lang="pt-BR" sz="1000" noProof="0" dirty="0"/>
          </a:p>
        </p:txBody>
      </p:sp>
      <p:sp>
        <p:nvSpPr>
          <p:cNvPr id="33" name="Text 31"/>
          <p:cNvSpPr/>
          <p:nvPr/>
        </p:nvSpPr>
        <p:spPr>
          <a:xfrm>
            <a:off x="5440680" y="3180676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pt-BR" sz="1200" b="1" noProof="0" dirty="0">
                <a:solidFill>
                  <a:srgbClr val="E1E1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URL </a:t>
            </a:r>
            <a:r>
              <a:rPr lang="pt-BR" sz="1200" b="1" noProof="0" dirty="0" err="1">
                <a:solidFill>
                  <a:srgbClr val="E1E1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Encoding</a:t>
            </a:r>
            <a:endParaRPr lang="pt-BR" sz="1200" noProof="0" dirty="0"/>
          </a:p>
        </p:txBody>
      </p:sp>
      <p:sp>
        <p:nvSpPr>
          <p:cNvPr id="34" name="Text 32"/>
          <p:cNvSpPr/>
          <p:nvPr/>
        </p:nvSpPr>
        <p:spPr>
          <a:xfrm>
            <a:off x="5440680" y="3509860"/>
            <a:ext cx="3383280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r>
              <a:rPr lang="pt-BR" sz="900" noProof="0" dirty="0">
                <a:solidFill>
                  <a:srgbClr val="A8A8B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%20 e %0A codificam espaços e quebras de linha para integração externa</a:t>
            </a:r>
            <a:endParaRPr lang="pt-BR" sz="900" noProof="0" dirty="0"/>
          </a:p>
        </p:txBody>
      </p:sp>
      <p:sp>
        <p:nvSpPr>
          <p:cNvPr id="39" name="Shape 37"/>
          <p:cNvSpPr/>
          <p:nvPr/>
        </p:nvSpPr>
        <p:spPr>
          <a:xfrm>
            <a:off x="0" y="5097780"/>
            <a:ext cx="9144000" cy="45720"/>
          </a:xfrm>
          <a:prstGeom prst="rect">
            <a:avLst/>
          </a:prstGeom>
          <a:solidFill>
            <a:srgbClr val="1E1E28"/>
          </a:solidFill>
          <a:ln w="12700">
            <a:solidFill>
              <a:srgbClr val="1E1E28"/>
            </a:solidFill>
            <a:prstDash val="solid"/>
          </a:ln>
        </p:spPr>
        <p:txBody>
          <a:bodyPr/>
          <a:lstStyle/>
          <a:p>
            <a:endParaRPr lang="pt-BR" noProof="0" dirty="0"/>
          </a:p>
        </p:txBody>
      </p:sp>
      <p:sp>
        <p:nvSpPr>
          <p:cNvPr id="40" name="Shape 38"/>
          <p:cNvSpPr/>
          <p:nvPr/>
        </p:nvSpPr>
        <p:spPr>
          <a:xfrm>
            <a:off x="0" y="5097780"/>
            <a:ext cx="9144000" cy="45720"/>
          </a:xfrm>
          <a:prstGeom prst="rect">
            <a:avLst/>
          </a:prstGeom>
          <a:solidFill>
            <a:srgbClr val="4ADE80"/>
          </a:solidFill>
          <a:ln w="12700">
            <a:solidFill>
              <a:srgbClr val="4ADE80"/>
            </a:solidFill>
            <a:prstDash val="solid"/>
          </a:ln>
        </p:spPr>
        <p:txBody>
          <a:bodyPr/>
          <a:lstStyle/>
          <a:p>
            <a:endParaRPr lang="pt-BR" noProof="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Override1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4472C4"/>
    </a:accent1>
    <a:accent2>
      <a:srgbClr val="ED7D31"/>
    </a:accent2>
    <a:accent3>
      <a:srgbClr val="A5A5A5"/>
    </a:accent3>
    <a:accent4>
      <a:srgbClr val="FFC000"/>
    </a:accent4>
    <a:accent5>
      <a:srgbClr val="5B9BD5"/>
    </a:accent5>
    <a:accent6>
      <a:srgbClr val="70AD47"/>
    </a:accent6>
    <a:hlink>
      <a:srgbClr val="0563C1"/>
    </a:hlink>
    <a:folHlink>
      <a:srgbClr val="954F72"/>
    </a:folHlink>
  </a:clrScheme>
</a:themeOverride>
</file>

<file path=ppt/theme/themeOverride2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4472C4"/>
    </a:accent1>
    <a:accent2>
      <a:srgbClr val="ED7D31"/>
    </a:accent2>
    <a:accent3>
      <a:srgbClr val="A5A5A5"/>
    </a:accent3>
    <a:accent4>
      <a:srgbClr val="FFC000"/>
    </a:accent4>
    <a:accent5>
      <a:srgbClr val="5B9BD5"/>
    </a:accent5>
    <a:accent6>
      <a:srgbClr val="70AD47"/>
    </a:accent6>
    <a:hlink>
      <a:srgbClr val="0563C1"/>
    </a:hlink>
    <a:folHlink>
      <a:srgbClr val="954F72"/>
    </a:folHlink>
  </a:clrScheme>
</a:themeOverrid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168</TotalTime>
  <Words>494</Words>
  <Application>Microsoft Office PowerPoint</Application>
  <PresentationFormat>Apresentação na tela (16:9)</PresentationFormat>
  <Paragraphs>59</Paragraphs>
  <Slides>6</Slides>
  <Notes>6</Notes>
  <HiddenSlides>0</HiddenSlides>
  <MMClips>0</MMClips>
  <ScaleCrop>false</ScaleCrop>
  <HeadingPairs>
    <vt:vector size="6" baseType="variant">
      <vt:variant>
        <vt:lpstr>Fontes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6</vt:i4>
      </vt:variant>
    </vt:vector>
  </HeadingPairs>
  <TitlesOfParts>
    <vt:vector size="10" baseType="lpstr">
      <vt:lpstr>Arial</vt:lpstr>
      <vt:lpstr>Arial Black</vt:lpstr>
      <vt:lpstr>Courier New</vt:lpstr>
      <vt:lpstr>Office Theme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template</dc:title>
  <dc:creator>Vito Vito</dc:creator>
  <cp:lastModifiedBy>Vito Vito</cp:lastModifiedBy>
  <cp:revision>17</cp:revision>
  <dcterms:created xsi:type="dcterms:W3CDTF">2026-05-09T09:39:54Z</dcterms:created>
  <dcterms:modified xsi:type="dcterms:W3CDTF">2026-06-08T00:03:50Z</dcterms:modified>
</cp:coreProperties>
</file>