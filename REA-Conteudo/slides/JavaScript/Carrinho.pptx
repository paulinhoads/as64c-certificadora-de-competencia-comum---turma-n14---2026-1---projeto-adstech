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2" r:id="rId5"/>
    <p:sldId id="263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B10C-42F4-53C2-EE6A-461C7E89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C4F40-6FE6-56A0-B33F-FF1CEDE3F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A2E7D-E9B9-E254-82FC-D1EBDFA43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CE25B-EC69-651E-FD00-B8BC4A299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55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03  · JAVASCRIPT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r>
              <a:rPr lang="pt-BR" sz="4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do Carrinho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Delegação de eventos, </a:t>
            </a:r>
            <a:r>
              <a:rPr lang="pt-BR" sz="14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integração com WhatsApp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Delegação de Eventos</a:t>
            </a:r>
            <a:endParaRPr lang="pt-B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botões de excluir são criados dinamicamente — eles não existem quando a página carrega, então um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querySelectorAll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os encontraria. A solução é adicionar o ouvinte no container pai, que sempre existe. O clique "borbulha" até ele;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e.target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exatamente onde o clique aconteceu.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390206" y="3467864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e.target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ea typeface="Arial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 exato onde o clique aconteceu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classList.contains</a:t>
            </a: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()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 se o clique foi no botão correto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closest</a:t>
            </a: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()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Sobe na árvore HTML até encontrar o ancestral com o seletor</a:t>
            </a:r>
            <a:endParaRPr lang="pt-BR" sz="900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F6C838C-6B54-6A37-1D3A-46D9D4DB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51" t="14317" r="7602" b="14640"/>
          <a:stretch>
            <a:fillRect/>
          </a:stretch>
        </p:blipFill>
        <p:spPr>
          <a:xfrm>
            <a:off x="504001" y="2624181"/>
            <a:ext cx="3892922" cy="1736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Controle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cérebro da página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verificarCarrinhoVazio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chamada toda vez que a página carrega ou que o usuário faz uma alteração. Ela lê o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localStorage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confere se há itens e decide o que mostrar — escondendo a seção que não deve aparecer via </a:t>
            </a:r>
            <a:r>
              <a:rPr lang="pt-BR" sz="13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chamando </a:t>
            </a:r>
            <a:r>
              <a:rPr lang="pt-BR" sz="13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carregarCarrinho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quando há produtos. Antes de redesenhar, </a:t>
            </a:r>
            <a:r>
              <a:rPr lang="pt-BR" sz="13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limparTela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garante que os itens anteriores não se dupliquem.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B5C455F-15C7-6D34-372C-0D1D2D73810B}"/>
              </a:ext>
            </a:extLst>
          </p:cNvPr>
          <p:cNvSpPr/>
          <p:nvPr/>
        </p:nvSpPr>
        <p:spPr>
          <a:xfrm>
            <a:off x="2651758" y="3154680"/>
            <a:ext cx="610819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74436D1C-A40D-A89D-0FA2-FCDD52D2A385}"/>
              </a:ext>
            </a:extLst>
          </p:cNvPr>
          <p:cNvSpPr/>
          <p:nvPr/>
        </p:nvSpPr>
        <p:spPr>
          <a:xfrm>
            <a:off x="2731768" y="3154680"/>
            <a:ext cx="586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localStorage.getItem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()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Recupera o carrinho; "[]" como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fallback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se não existir</a:t>
            </a: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E3FFB05F-A26B-67F0-B121-85B8121CBC53}"/>
              </a:ext>
            </a:extLst>
          </p:cNvPr>
          <p:cNvSpPr/>
          <p:nvPr/>
        </p:nvSpPr>
        <p:spPr>
          <a:xfrm>
            <a:off x="2651758" y="3497404"/>
            <a:ext cx="610819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4C29EB6-CFAC-666F-DBD6-A649EB6A85EA}"/>
              </a:ext>
            </a:extLst>
          </p:cNvPr>
          <p:cNvSpPr/>
          <p:nvPr/>
        </p:nvSpPr>
        <p:spPr>
          <a:xfrm>
            <a:off x="2731769" y="3497404"/>
            <a:ext cx="53527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.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length</a:t>
            </a: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 === 0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Verifica se o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array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está vazio</a:t>
            </a: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CB8B6F9C-6C1F-CBDD-7FEE-922E83E2E719}"/>
              </a:ext>
            </a:extLst>
          </p:cNvPr>
          <p:cNvSpPr/>
          <p:nvPr/>
        </p:nvSpPr>
        <p:spPr>
          <a:xfrm>
            <a:off x="2651758" y="3840128"/>
            <a:ext cx="610819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9FB3CB7B-5249-1A05-9D1C-94B5674C1774}"/>
              </a:ext>
            </a:extLst>
          </p:cNvPr>
          <p:cNvSpPr/>
          <p:nvPr/>
        </p:nvSpPr>
        <p:spPr>
          <a:xfrm>
            <a:off x="2731768" y="3840128"/>
            <a:ext cx="4978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classList.add</a:t>
            </a: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("oculto")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Esconde a seção que não deve aparecer</a:t>
            </a: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21A68D80-2E28-DC2E-CA67-338863BB7CA9}"/>
              </a:ext>
            </a:extLst>
          </p:cNvPr>
          <p:cNvSpPr/>
          <p:nvPr/>
        </p:nvSpPr>
        <p:spPr>
          <a:xfrm>
            <a:off x="2651757" y="4182852"/>
            <a:ext cx="610819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F018BF92-43D1-C8A2-B348-9A2B011FB729}"/>
              </a:ext>
            </a:extLst>
          </p:cNvPr>
          <p:cNvSpPr/>
          <p:nvPr/>
        </p:nvSpPr>
        <p:spPr>
          <a:xfrm>
            <a:off x="2731768" y="4182852"/>
            <a:ext cx="515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limparTela</a:t>
            </a: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()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Limpa o HTML anterior antes de redesenhar os itens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Map, Filter e Reduce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39"/>
            <a:ext cx="4572000" cy="1185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métodos para transformar, filtrar e totalizar </a:t>
            </a:r>
            <a:r>
              <a:rPr lang="pt-BR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uma linha.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map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busca os detalhes completos de cada ID no catálogo e devolve um objeto mesclado com o spread </a:t>
            </a:r>
            <a:r>
              <a:rPr lang="pt-BR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...produto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um item sem mutar o original.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acumula o total da compra percorrendo o </a:t>
            </a:r>
            <a:r>
              <a:rPr lang="pt-BR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uma única vez.</a:t>
            </a:r>
            <a:endParaRPr lang="en-US" sz="12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 rot="16200000">
            <a:off x="-390206" y="3495994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20045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757205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757205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5845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map()</a:t>
            </a:r>
          </a:p>
        </p:txBody>
      </p:sp>
      <p:sp>
        <p:nvSpPr>
          <p:cNvPr id="13" name="Text 11"/>
          <p:cNvSpPr/>
          <p:nvPr/>
        </p:nvSpPr>
        <p:spPr>
          <a:xfrm>
            <a:off x="6305845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Percorre o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retorna um novo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20045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757205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757205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5845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filter()</a:t>
            </a:r>
          </a:p>
        </p:txBody>
      </p:sp>
      <p:sp>
        <p:nvSpPr>
          <p:cNvPr id="18" name="Text 16"/>
          <p:cNvSpPr/>
          <p:nvPr/>
        </p:nvSpPr>
        <p:spPr>
          <a:xfrm>
            <a:off x="6305845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 novo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apenas com os itens que passam na condição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0045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757205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757205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5845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reduce()</a:t>
            </a:r>
          </a:p>
        </p:txBody>
      </p:sp>
      <p:sp>
        <p:nvSpPr>
          <p:cNvPr id="23" name="Text 21"/>
          <p:cNvSpPr/>
          <p:nvPr/>
        </p:nvSpPr>
        <p:spPr>
          <a:xfrm>
            <a:off x="6305845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Reduz o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um único valor usando um acumulador</a:t>
            </a:r>
            <a:endParaRPr lang="en-US" sz="9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DDCF89-6DE8-C64B-A584-6C239C682E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00" t="15142" r="6500" b="15143"/>
          <a:stretch>
            <a:fillRect/>
          </a:stretch>
        </p:blipFill>
        <p:spPr>
          <a:xfrm>
            <a:off x="502919" y="2651761"/>
            <a:ext cx="5097816" cy="173735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42160-D3E2-C8B6-01C3-E66CF871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61047B-8F49-7AF2-E27A-E77EEF5310C3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348DC9-A22E-0164-01B7-12175CDEDF38}"/>
              </a:ext>
            </a:extLst>
          </p:cNvPr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Integração</a:t>
            </a:r>
            <a:r>
              <a:rPr lang="en-US" sz="2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com WhatsApp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CA950F-3308-2190-57A0-DB674BD002AD}"/>
              </a:ext>
            </a:extLst>
          </p:cNvPr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API wa.me recebe o número e o texto da mensagem como parâmetros na URL. Como URLs não aceitam espaços ou quebras de linha, usamos URL </a:t>
            </a:r>
            <a:r>
              <a:rPr lang="pt-BR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%20 representa espaço e %0A representa </a:t>
            </a:r>
            <a:r>
              <a:rPr lang="pt-BR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forEach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constrói a mensagem concatenando cada item na URL.</a:t>
            </a:r>
            <a:endParaRPr lang="en-US" sz="12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3AFE2FB-CE60-7C00-B20A-86B6D6BC35C5}"/>
              </a:ext>
            </a:extLst>
          </p:cNvPr>
          <p:cNvSpPr/>
          <p:nvPr/>
        </p:nvSpPr>
        <p:spPr>
          <a:xfrm rot="16200000">
            <a:off x="-390206" y="3331402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73E8C2-D700-4461-3F42-2C74820E21E8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C07EF27-EA24-A299-8D06-5C05B1CE64DB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42B55A5-7631-CEB4-99D1-9B2444AD3CA4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9037F2F-4CF4-0B67-AD5A-52B798EAFECE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%20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C69CD8-0EA4-CBB3-A42E-0886EBD0DF38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Espaço em branco codificado para uso em URLs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3D80DE-B2FD-BF7E-5E68-4AFC7DCF96C8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7E658D-A6A1-6A2B-CA73-2807089F8A32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3ED062-5D83-F86C-2A2C-85C01EDFD145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FFD7AF1-BF40-E45F-F5D6-3A0382BA6372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%0A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98B911-1969-E028-7BF0-657426B64D32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Quebra de linha (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codificada para uso em URLs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EC0DB19-32DD-9CF9-31C3-D29B888BAA0F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04972A5-7D2D-DC27-B250-B86936A417F7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068BF57-5338-C1EE-B40B-F455498B1957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A29D3DD-547D-EB06-137B-03BFBBA707FC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window.open</a:t>
            </a:r>
            <a:r>
              <a:rPr lang="en-US" sz="1100" b="1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()</a:t>
            </a:r>
            <a:endParaRPr lang="en-US" sz="110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D632E05-F515-BD82-13FF-8F3D49466A1C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Abre a URL em uma nova guia do navegador</a:t>
            </a:r>
            <a:endParaRPr lang="en-US" sz="9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7355DEE-3272-220F-A293-C9E858AED0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19" t="16533" r="7692" b="15919"/>
          <a:stretch>
            <a:fillRect/>
          </a:stretch>
        </p:blipFill>
        <p:spPr>
          <a:xfrm>
            <a:off x="504000" y="2487600"/>
            <a:ext cx="4448459" cy="17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71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pt-B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66928" y="1265616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26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Delegação de Eventos</a:t>
            </a:r>
            <a:endParaRPr lang="pt-B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ouvinte no pai captura eventos de filhos criados dinamicamente</a:t>
            </a:r>
            <a:endParaRPr lang="pt-B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4956048" y="1265616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126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e.target</a:t>
            </a: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 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closest</a:t>
            </a: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identificam o elemento clicado e navegam até o item pai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046599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566928" y="2308164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23081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138039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9" name="Text 17"/>
          <p:cNvSpPr/>
          <p:nvPr/>
        </p:nvSpPr>
        <p:spPr>
          <a:xfrm>
            <a:off x="1051560" y="2467223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 cada item do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mesclando dados do carrinho e do catálogo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046599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956048" y="2308164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956048" y="23081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138039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4" name="Text 22"/>
          <p:cNvSpPr/>
          <p:nvPr/>
        </p:nvSpPr>
        <p:spPr>
          <a:xfrm>
            <a:off x="5440680" y="2467223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removem um item e totalizam o carrinho em uma linha cada</a:t>
            </a:r>
            <a:endParaRPr lang="pt-BR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3089236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566928" y="3354412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354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31806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verificarCarrinhoVazio</a:t>
            </a:r>
            <a:endParaRPr lang="pt-BR" sz="12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51560" y="35098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central que sincroniza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 a interface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3089236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956048" y="3354412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56048" y="3354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31806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</a:t>
            </a: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pt-BR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5440680" y="35098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%20 e %0A codificam espaços e quebras de linha para integração externa</a:t>
            </a:r>
            <a:endParaRPr lang="pt-BR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516</Words>
  <Application>Microsoft Office PowerPoint</Application>
  <PresentationFormat>Apresentação na tela (16:9)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Vito Vito</dc:creator>
  <cp:lastModifiedBy>Vito Vito</cp:lastModifiedBy>
  <cp:revision>18</cp:revision>
  <dcterms:created xsi:type="dcterms:W3CDTF">2026-05-09T09:39:54Z</dcterms:created>
  <dcterms:modified xsi:type="dcterms:W3CDTF">2026-06-08T04:51:15Z</dcterms:modified>
</cp:coreProperties>
</file>