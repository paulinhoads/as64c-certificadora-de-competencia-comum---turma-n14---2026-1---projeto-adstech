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2" r:id="rId3"/>
    <p:sldId id="257" r:id="rId4"/>
    <p:sldId id="258" r:id="rId5"/>
    <p:sldId id="263" r:id="rId6"/>
    <p:sldId id="265" r:id="rId7"/>
    <p:sldId id="266" r:id="rId8"/>
    <p:sldId id="267" r:id="rId9"/>
    <p:sldId id="261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DE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020" autoAdjust="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613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E8FED-D38D-82BC-041C-059B5F0E4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0D243-9885-9A45-193D-38E1DC636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FF1F9A-F03F-A4D3-E4E4-195EFC81C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A3E18-1929-12CB-0562-61EBE0925A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38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8C665-4E28-ADCB-145B-246B6A892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784B86-9DC9-B751-EAD3-98E84CE07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D76BA1-9091-C99E-99C4-EBA41F710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7925B-3453-06DF-5574-D636652A14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73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12BC1-E0C8-2611-E311-13BFE72D2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BDAAB6-3CB7-E200-93DF-38FDC6EA3C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9546D4-53A5-3A26-684B-5086F653A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1549B-06A3-5878-E2D6-9089002969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54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3D90C-33D5-7920-0A75-2EF7B554C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4249C5-1797-4AB9-0C84-3B2079CC7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F63C3-0110-CFBD-0097-381485DAA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A10AA-9A76-E6C0-68EE-7206A8034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8398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E66D0616-E737-7D0E-0DDE-A82DD51AB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" y="0"/>
            <a:ext cx="9140557" cy="51435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3200400" y="914400"/>
            <a:ext cx="2743200" cy="310896"/>
          </a:xfrm>
          <a:prstGeom prst="roundRect">
            <a:avLst>
              <a:gd name="adj" fmla="val 14706"/>
            </a:avLst>
          </a:prstGeom>
          <a:solidFill>
            <a:srgbClr val="4ADE80">
              <a:alpha val="5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3200400" y="9144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8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03  ·  JAVASCRIPT</a:t>
            </a:r>
            <a:endParaRPr lang="pt-BR" sz="800" noProof="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40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Introdução ao </a:t>
            </a:r>
            <a:r>
              <a:rPr lang="pt-BR" sz="4000" b="1" noProof="0" dirty="0" err="1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</a:t>
            </a:r>
            <a:endParaRPr lang="pt-BR" sz="4000" noProof="0" dirty="0">
              <a:solidFill>
                <a:srgbClr val="4ADE8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37160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comportamento das páginas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D0B503-F4A7-206D-8D35-300FD6BA2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A84213-0872-2B41-AB1A-B6837D54D7D2}"/>
              </a:ext>
            </a:extLst>
          </p:cNvPr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F1F0F"/>
          </a:solidFill>
          <a:ln w="3810">
            <a:solidFill>
              <a:srgbClr val="4ADE8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9EC0A4C-3794-FD7C-311C-13D2D7172D7B}"/>
              </a:ext>
            </a:extLst>
          </p:cNvPr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4ADE80">
              <a:alpha val="4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01E9DE1-EB80-B292-3557-5EB9C5A41100}"/>
              </a:ext>
            </a:extLst>
          </p:cNvPr>
          <p:cNvSpPr/>
          <p:nvPr/>
        </p:nvSpPr>
        <p:spPr>
          <a:xfrm>
            <a:off x="91440" y="1645920"/>
            <a:ext cx="2103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400" b="1" noProof="0" dirty="0" err="1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</a:t>
            </a:r>
            <a:endParaRPr lang="pt-BR" sz="3000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61177C9-C28A-EC53-98AF-AAB331D436A6}"/>
              </a:ext>
            </a:extLst>
          </p:cNvPr>
          <p:cNvSpPr/>
          <p:nvPr/>
        </p:nvSpPr>
        <p:spPr>
          <a:xfrm>
            <a:off x="2651760" y="64008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é </a:t>
            </a:r>
            <a:r>
              <a:rPr lang="pt-BR" sz="2600" b="1" noProof="0" dirty="0" err="1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</a:t>
            </a: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pt-BR" sz="2600" noProof="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C544428-DEF5-2E3C-8D00-881E51D0A740}"/>
              </a:ext>
            </a:extLst>
          </p:cNvPr>
          <p:cNvSpPr/>
          <p:nvPr/>
        </p:nvSpPr>
        <p:spPr>
          <a:xfrm>
            <a:off x="2651760" y="1417320"/>
            <a:ext cx="45720" cy="155448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7451C90-D2D8-90A8-97E1-20D97FECDE23}"/>
              </a:ext>
            </a:extLst>
          </p:cNvPr>
          <p:cNvSpPr/>
          <p:nvPr/>
        </p:nvSpPr>
        <p:spPr>
          <a:xfrm>
            <a:off x="2816352" y="141732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3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é a linguagem de programação da web. Enquanto o HTML estrutura o conteúdo e o CSS define a aparência, o </a:t>
            </a:r>
            <a:r>
              <a:rPr lang="pt-BR" sz="13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r>
              <a:rPr lang="pt-BR" sz="13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controla o comportamento — o que acontece quando o usuário clica em um botão, digita em um campo ou adiciona um produto ao carrinho. Os três trabalham juntos para formar uma página completa e interativa.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011126E-5FA4-9F74-65A5-D1E0417405C3}"/>
              </a:ext>
            </a:extLst>
          </p:cNvPr>
          <p:cNvSpPr/>
          <p:nvPr/>
        </p:nvSpPr>
        <p:spPr>
          <a:xfrm>
            <a:off x="2651760" y="3154680"/>
            <a:ext cx="1165860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903786A-77AD-46A4-D68C-0D52E9F507FC}"/>
              </a:ext>
            </a:extLst>
          </p:cNvPr>
          <p:cNvSpPr/>
          <p:nvPr/>
        </p:nvSpPr>
        <p:spPr>
          <a:xfrm>
            <a:off x="2651760" y="3154680"/>
            <a:ext cx="11658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cs typeface="Courier New" pitchFamily="34" charset="-120"/>
              </a:rPr>
              <a:t>HTML → Estrutura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528F6AF-3D40-BD83-B71C-8A4724DEC0E9}"/>
              </a:ext>
            </a:extLst>
          </p:cNvPr>
          <p:cNvSpPr/>
          <p:nvPr/>
        </p:nvSpPr>
        <p:spPr>
          <a:xfrm>
            <a:off x="3968496" y="315468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32C9F32-329A-AFAF-0A34-D35877F1CDC8}"/>
              </a:ext>
            </a:extLst>
          </p:cNvPr>
          <p:cNvSpPr/>
          <p:nvPr/>
        </p:nvSpPr>
        <p:spPr>
          <a:xfrm>
            <a:off x="3968496" y="31546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 → Aparência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15D6590-1E5D-9C4A-54B8-9A05FBA5BD46}"/>
              </a:ext>
            </a:extLst>
          </p:cNvPr>
          <p:cNvSpPr/>
          <p:nvPr/>
        </p:nvSpPr>
        <p:spPr>
          <a:xfrm>
            <a:off x="5216652" y="3154680"/>
            <a:ext cx="1937004" cy="256032"/>
          </a:xfrm>
          <a:prstGeom prst="roundRect">
            <a:avLst>
              <a:gd name="adj" fmla="val 14286"/>
            </a:avLst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25F646F-2275-43D9-389C-4A9FE975A082}"/>
              </a:ext>
            </a:extLst>
          </p:cNvPr>
          <p:cNvSpPr/>
          <p:nvPr/>
        </p:nvSpPr>
        <p:spPr>
          <a:xfrm>
            <a:off x="5216652" y="3154680"/>
            <a:ext cx="19370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00" noProof="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Comportamento</a:t>
            </a:r>
          </a:p>
        </p:txBody>
      </p:sp>
    </p:spTree>
    <p:extLst>
      <p:ext uri="{BB962C8B-B14F-4D97-AF65-F5344CB8AC3E}">
        <p14:creationId xmlns:p14="http://schemas.microsoft.com/office/powerpoint/2010/main" val="2902298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502919" y="411480"/>
            <a:ext cx="50400" cy="640080"/>
          </a:xfrm>
          <a:prstGeom prst="roundRect">
            <a:avLst>
              <a:gd name="adj" fmla="val 30953"/>
            </a:avLst>
          </a:prstGeom>
          <a:solidFill>
            <a:srgbClr val="4ADE80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Variáveis</a:t>
            </a:r>
            <a:endParaRPr lang="pt-BR" sz="24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234439"/>
            <a:ext cx="4572000" cy="10789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 três formas de declarar variáveis. No desenvolvimento moderno usamos quase sempre </a:t>
            </a:r>
            <a:r>
              <a:rPr lang="pt-BR" sz="1300" noProof="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2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let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 regra prática: comece com </a:t>
            </a:r>
            <a:r>
              <a:rPr lang="pt-BR" sz="1300" noProof="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só troque para </a:t>
            </a:r>
            <a:r>
              <a:rPr lang="pt-BR" sz="1300" noProof="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precisar reatribuir o valor. O </a:t>
            </a:r>
            <a:r>
              <a:rPr lang="pt-BR" sz="1300" noProof="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 comportamentos inesperados e foi substituído pelos dois anteriores.</a:t>
            </a:r>
          </a:p>
        </p:txBody>
      </p:sp>
      <p:sp>
        <p:nvSpPr>
          <p:cNvPr id="7" name="Shape 5"/>
          <p:cNvSpPr/>
          <p:nvPr/>
        </p:nvSpPr>
        <p:spPr>
          <a:xfrm rot="16200000">
            <a:off x="-212725" y="2955810"/>
            <a:ext cx="1382400" cy="488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5394960" y="105156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5532120" y="121615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553212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6080760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</a:p>
        </p:txBody>
      </p:sp>
      <p:sp>
        <p:nvSpPr>
          <p:cNvPr id="13" name="Text 11"/>
          <p:cNvSpPr/>
          <p:nvPr/>
        </p:nvSpPr>
        <p:spPr>
          <a:xfrm>
            <a:off x="6080760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 antiga — comportamento imprevisível</a:t>
            </a:r>
            <a:endParaRPr lang="pt-BR" sz="900" noProof="0" dirty="0"/>
          </a:p>
        </p:txBody>
      </p:sp>
      <p:sp>
        <p:nvSpPr>
          <p:cNvPr id="14" name="Shape 12"/>
          <p:cNvSpPr/>
          <p:nvPr/>
        </p:nvSpPr>
        <p:spPr>
          <a:xfrm>
            <a:off x="5394960" y="210312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5532120" y="226771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55321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608076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endParaRPr lang="pt-BR" sz="1100" b="1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80760" y="2487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valor pode ser reatribuído</a:t>
            </a:r>
            <a:endParaRPr lang="pt-BR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5394960" y="315468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5532120" y="331927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553212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22" name="Text 20"/>
          <p:cNvSpPr/>
          <p:nvPr/>
        </p:nvSpPr>
        <p:spPr>
          <a:xfrm>
            <a:off x="6080760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endParaRPr lang="pt-BR" sz="1100" b="1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080760" y="3538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valor não pode ser reatribuído</a:t>
            </a:r>
            <a:endParaRPr lang="pt-BR" sz="900" noProof="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AFFD600-F2D4-2CD7-3416-DA077E1F47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35" t="20552" r="7033" b="19837"/>
          <a:stretch>
            <a:fillRect/>
          </a:stretch>
        </p:blipFill>
        <p:spPr>
          <a:xfrm>
            <a:off x="504508" y="2286000"/>
            <a:ext cx="4477383" cy="1382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800" kern="0" spc="4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COMPARATIVO</a:t>
            </a:r>
            <a:endParaRPr lang="pt-BR" sz="8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pt-BR" sz="2600" noProof="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pt-BR" sz="2600" b="1" noProof="0" dirty="0" err="1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r>
              <a:rPr lang="pt-BR" sz="26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pt-BR" sz="2600" noProof="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===</a:t>
            </a:r>
          </a:p>
        </p:txBody>
      </p:sp>
      <p:sp>
        <p:nvSpPr>
          <p:cNvPr id="4" name="Shape 2"/>
          <p:cNvSpPr/>
          <p:nvPr/>
        </p:nvSpPr>
        <p:spPr>
          <a:xfrm>
            <a:off x="2286000" y="1143000"/>
            <a:ext cx="4572000" cy="0"/>
          </a:xfrm>
          <a:prstGeom prst="line">
            <a:avLst/>
          </a:prstGeom>
          <a:noFill/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3931920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393192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pt-BR" sz="9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Igualdade com conversão</a:t>
            </a:r>
            <a:endParaRPr lang="pt-BR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208483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operador == compara valores convertendo os tipos automaticamente. Isso pode gerar resultados inesperados — 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string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número podem ser considerados iguais sem que você queira isso.</a:t>
            </a:r>
            <a:endParaRPr lang="pt-BR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Converte os tipos antes de comparar</a:t>
            </a:r>
            <a:endParaRPr lang="pt-BR" sz="1100" noProof="0" dirty="0"/>
          </a:p>
        </p:txBody>
      </p:sp>
      <p:sp>
        <p:nvSpPr>
          <p:cNvPr id="11" name="Text 9"/>
          <p:cNvSpPr/>
          <p:nvPr/>
        </p:nvSpPr>
        <p:spPr>
          <a:xfrm>
            <a:off x="548640" y="32826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"1" == 1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retorna </a:t>
            </a:r>
            <a:r>
              <a:rPr lang="pt-BR" sz="11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endParaRPr lang="pt-BR" sz="1100" noProof="0" dirty="0"/>
          </a:p>
        </p:txBody>
      </p:sp>
      <p:sp>
        <p:nvSpPr>
          <p:cNvPr id="12" name="Text 10"/>
          <p:cNvSpPr/>
          <p:nvPr/>
        </p:nvSpPr>
        <p:spPr>
          <a:xfrm>
            <a:off x="548640" y="3685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Comportamento imprevisível</a:t>
            </a:r>
            <a:endParaRPr lang="pt-BR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548640" y="40873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Courier New" pitchFamily="34" charset="-122"/>
                <a:cs typeface="Arial" pitchFamily="34" charset="-120"/>
              </a:rPr>
              <a:t>Evite usar no projeto</a:t>
            </a:r>
            <a:endParaRPr lang="pt-B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4800600" y="1325880"/>
            <a:ext cx="3931920" cy="3429000"/>
          </a:xfrm>
          <a:prstGeom prst="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4800600" y="1333500"/>
            <a:ext cx="3931920" cy="468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4A99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900" kern="0" spc="3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</a:t>
            </a:r>
            <a:endParaRPr lang="pt-BR" sz="900" noProof="0" dirty="0"/>
          </a:p>
        </p:txBody>
      </p:sp>
      <p:sp>
        <p:nvSpPr>
          <p:cNvPr id="17" name="Text 15"/>
          <p:cNvSpPr/>
          <p:nvPr/>
        </p:nvSpPr>
        <p:spPr>
          <a:xfrm>
            <a:off x="49377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Igualdade estrita</a:t>
            </a:r>
            <a:endParaRPr lang="pt-BR" sz="1600" noProof="0" dirty="0"/>
          </a:p>
        </p:txBody>
      </p:sp>
      <p:sp>
        <p:nvSpPr>
          <p:cNvPr id="18" name="Text 16"/>
          <p:cNvSpPr/>
          <p:nvPr/>
        </p:nvSpPr>
        <p:spPr>
          <a:xfrm>
            <a:off x="4937760" y="208483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operador === compara valor e tipo ao mesmo tempo, sem nenhuma conversão automática. É o operador correto para comparações seguras no </a:t>
            </a:r>
            <a:r>
              <a:rPr lang="pt-BR" sz="12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moderno.</a:t>
            </a:r>
            <a:endParaRPr lang="pt-BR" sz="1200" noProof="0" dirty="0"/>
          </a:p>
        </p:txBody>
      </p:sp>
      <p:sp>
        <p:nvSpPr>
          <p:cNvPr id="19" name="Text 17"/>
          <p:cNvSpPr/>
          <p:nvPr/>
        </p:nvSpPr>
        <p:spPr>
          <a:xfrm>
            <a:off x="493776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valor e tipo sem conversão</a:t>
            </a:r>
            <a:endParaRPr lang="pt-BR" sz="1100" noProof="0" dirty="0"/>
          </a:p>
        </p:txBody>
      </p:sp>
      <p:sp>
        <p:nvSpPr>
          <p:cNvPr id="20" name="Text 18"/>
          <p:cNvSpPr/>
          <p:nvPr/>
        </p:nvSpPr>
        <p:spPr>
          <a:xfrm>
            <a:off x="4937760" y="32826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"1" === 1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retorna false</a:t>
            </a:r>
            <a:endParaRPr lang="pt-BR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4937760" y="3685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Comportamento previsível</a:t>
            </a:r>
            <a:endParaRPr lang="pt-BR" sz="1100" noProof="0" dirty="0"/>
          </a:p>
        </p:txBody>
      </p:sp>
      <p:sp>
        <p:nvSpPr>
          <p:cNvPr id="22" name="Text 20"/>
          <p:cNvSpPr/>
          <p:nvPr/>
        </p:nvSpPr>
        <p:spPr>
          <a:xfrm>
            <a:off x="4937760" y="40873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B8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</a:t>
            </a:r>
            <a:r>
              <a:rPr lang="pt-BR" sz="11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Prefira sempre no projeto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502919" y="411480"/>
            <a:ext cx="50400" cy="640080"/>
          </a:xfrm>
          <a:prstGeom prst="roundRect">
            <a:avLst>
              <a:gd name="adj" fmla="val 30953"/>
            </a:avLst>
          </a:prstGeom>
          <a:solidFill>
            <a:srgbClr val="4ADE80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5669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1" noProof="0" dirty="0" err="1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Arrays</a:t>
            </a:r>
            <a:r>
              <a:rPr lang="pt-BR" sz="24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e Métodos</a:t>
            </a:r>
            <a:endParaRPr lang="pt-BR" sz="24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armazenam listas de valores. No projeto, vamos usá-los para guardar produtos, itens do carrinho e resultados de busca. Os métodos 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forEach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filter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são as ferramentas centrais para percorrer e filtrar essas listas — e vão aparecer em toda parte.</a:t>
            </a:r>
          </a:p>
        </p:txBody>
      </p:sp>
      <p:sp>
        <p:nvSpPr>
          <p:cNvPr id="7" name="Shape 5"/>
          <p:cNvSpPr/>
          <p:nvPr/>
        </p:nvSpPr>
        <p:spPr>
          <a:xfrm rot="16200000">
            <a:off x="-390206" y="3425201"/>
            <a:ext cx="1737362" cy="488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/>
          <p:cNvSpPr/>
          <p:nvPr/>
        </p:nvSpPr>
        <p:spPr>
          <a:xfrm>
            <a:off x="5394960" y="105156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5532120" y="121615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553212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2" name="Text 10"/>
          <p:cNvSpPr/>
          <p:nvPr/>
        </p:nvSpPr>
        <p:spPr>
          <a:xfrm>
            <a:off x="6080760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forEach</a:t>
            </a:r>
            <a:r>
              <a:rPr lang="pt-BR" sz="11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</p:txBody>
      </p:sp>
      <p:sp>
        <p:nvSpPr>
          <p:cNvPr id="13" name="Text 11"/>
          <p:cNvSpPr/>
          <p:nvPr/>
        </p:nvSpPr>
        <p:spPr>
          <a:xfrm>
            <a:off x="6080760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Percorre todos os itens do </a:t>
            </a:r>
            <a:r>
              <a:rPr lang="pt-BR" sz="900" noProof="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pt-BR" sz="900" noProof="0" dirty="0"/>
          </a:p>
        </p:txBody>
      </p:sp>
      <p:sp>
        <p:nvSpPr>
          <p:cNvPr id="14" name="Shape 12"/>
          <p:cNvSpPr/>
          <p:nvPr/>
        </p:nvSpPr>
        <p:spPr>
          <a:xfrm>
            <a:off x="5394960" y="210312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5532120" y="226771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55321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608076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</a:t>
            </a:r>
            <a:r>
              <a:rPr lang="pt-BR" sz="12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18" name="Text 16"/>
          <p:cNvSpPr/>
          <p:nvPr/>
        </p:nvSpPr>
        <p:spPr>
          <a:xfrm>
            <a:off x="6080760" y="2487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Retorna o primeiro item que satisfaz a condição</a:t>
            </a:r>
            <a:endParaRPr lang="pt-BR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5394960" y="315468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5532120" y="331927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553212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22" name="Text 20"/>
          <p:cNvSpPr/>
          <p:nvPr/>
        </p:nvSpPr>
        <p:spPr>
          <a:xfrm>
            <a:off x="6080760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filter</a:t>
            </a:r>
            <a:endParaRPr lang="pt-BR" sz="1100" b="1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080760" y="3538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Retorna novo </a:t>
            </a:r>
            <a:r>
              <a:rPr lang="pt-BR" sz="900" noProof="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 os itens que passam no filtro</a:t>
            </a:r>
            <a:endParaRPr lang="pt-BR" sz="900" noProof="0" dirty="0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5D0BAABB-0CE6-5384-4DE1-C01DB64A58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35" t="15300" r="7580" b="14742"/>
          <a:stretch>
            <a:fillRect/>
          </a:stretch>
        </p:blipFill>
        <p:spPr>
          <a:xfrm>
            <a:off x="502923" y="2586228"/>
            <a:ext cx="4347374" cy="173735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E7B4EE-A7F4-B7E2-730F-74E54A166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3A8F49D-30C1-8497-55AE-C7093CA72106}"/>
              </a:ext>
            </a:extLst>
          </p:cNvPr>
          <p:cNvSpPr/>
          <p:nvPr/>
        </p:nvSpPr>
        <p:spPr>
          <a:xfrm flipH="1">
            <a:off x="502919" y="411480"/>
            <a:ext cx="50400" cy="640080"/>
          </a:xfrm>
          <a:prstGeom prst="roundRect">
            <a:avLst>
              <a:gd name="adj" fmla="val 30953"/>
            </a:avLst>
          </a:prstGeom>
          <a:solidFill>
            <a:srgbClr val="4ADE80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37B43EC-E744-4181-69C6-7B4369A9D1FE}"/>
              </a:ext>
            </a:extLst>
          </p:cNvPr>
          <p:cNvSpPr/>
          <p:nvPr/>
        </p:nvSpPr>
        <p:spPr>
          <a:xfrm>
            <a:off x="594360" y="56692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Objetos, JSON e </a:t>
            </a:r>
            <a:r>
              <a:rPr lang="pt-BR" sz="2400" b="1" noProof="0" dirty="0" err="1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localStorage</a:t>
            </a:r>
            <a:endParaRPr lang="pt-BR" sz="2400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28AC348-4701-7C8D-9377-F203A482ECA4}"/>
              </a:ext>
            </a:extLst>
          </p:cNvPr>
          <p:cNvSpPr/>
          <p:nvPr/>
        </p:nvSpPr>
        <p:spPr>
          <a:xfrm>
            <a:off x="457200" y="1234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Objetos armazenam dados em pares de chave e valor — é como vamos representar cada produto. Como o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localStorage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só aceita 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strings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usamos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JSON.stringify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converter antes de salvar e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JSON.parse</a:t>
            </a:r>
            <a:r>
              <a:rPr lang="pt-BR" sz="1200" dirty="0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recuperar os dados de volta como objeto.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A6CAD52-5AFA-6D7F-1FB9-F439A556C0E8}"/>
              </a:ext>
            </a:extLst>
          </p:cNvPr>
          <p:cNvSpPr/>
          <p:nvPr/>
        </p:nvSpPr>
        <p:spPr>
          <a:xfrm rot="16200000">
            <a:off x="-192925" y="3117201"/>
            <a:ext cx="1342800" cy="488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E36D6BA-6C80-51D0-0CEB-9530AFD31EED}"/>
              </a:ext>
            </a:extLst>
          </p:cNvPr>
          <p:cNvSpPr/>
          <p:nvPr/>
        </p:nvSpPr>
        <p:spPr>
          <a:xfrm>
            <a:off x="5394960" y="105156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99E2BF5-78A9-8A30-4A7B-7703F787D50B}"/>
              </a:ext>
            </a:extLst>
          </p:cNvPr>
          <p:cNvSpPr/>
          <p:nvPr/>
        </p:nvSpPr>
        <p:spPr>
          <a:xfrm>
            <a:off x="5532120" y="121615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9E9F755-37AD-884D-0988-970E2475F9F8}"/>
              </a:ext>
            </a:extLst>
          </p:cNvPr>
          <p:cNvSpPr/>
          <p:nvPr/>
        </p:nvSpPr>
        <p:spPr>
          <a:xfrm>
            <a:off x="553212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8CF178B-3E17-5BEC-1858-434AC68FC5B3}"/>
              </a:ext>
            </a:extLst>
          </p:cNvPr>
          <p:cNvSpPr/>
          <p:nvPr/>
        </p:nvSpPr>
        <p:spPr>
          <a:xfrm>
            <a:off x="6080760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 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9B63866-5790-27FC-0D96-99042FC1BC22}"/>
              </a:ext>
            </a:extLst>
          </p:cNvPr>
          <p:cNvSpPr/>
          <p:nvPr/>
        </p:nvSpPr>
        <p:spPr>
          <a:xfrm>
            <a:off x="6080760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 em pares chave-valor</a:t>
            </a:r>
            <a:endParaRPr lang="pt-BR" sz="900" noProof="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221890D-0DF1-8452-2CA3-280DBE872CDA}"/>
              </a:ext>
            </a:extLst>
          </p:cNvPr>
          <p:cNvSpPr/>
          <p:nvPr/>
        </p:nvSpPr>
        <p:spPr>
          <a:xfrm>
            <a:off x="5394960" y="210312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419DBB8-63A1-5418-61BB-D70190A08A06}"/>
              </a:ext>
            </a:extLst>
          </p:cNvPr>
          <p:cNvSpPr/>
          <p:nvPr/>
        </p:nvSpPr>
        <p:spPr>
          <a:xfrm>
            <a:off x="5532120" y="226771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0BE9FC4-8048-5DF6-8D8A-7FE409C273C0}"/>
              </a:ext>
            </a:extLst>
          </p:cNvPr>
          <p:cNvSpPr/>
          <p:nvPr/>
        </p:nvSpPr>
        <p:spPr>
          <a:xfrm>
            <a:off x="55321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4A9FBCB-C272-AE19-6C86-50138E1D484C}"/>
              </a:ext>
            </a:extLst>
          </p:cNvPr>
          <p:cNvSpPr/>
          <p:nvPr/>
        </p:nvSpPr>
        <p:spPr>
          <a:xfrm>
            <a:off x="608076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JSON.stringify</a:t>
            </a:r>
            <a:endParaRPr lang="pt-BR" sz="1100" noProof="0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C6DDD70-70D2-1D92-9D09-4BE3F7FCBDFE}"/>
              </a:ext>
            </a:extLst>
          </p:cNvPr>
          <p:cNvSpPr/>
          <p:nvPr/>
        </p:nvSpPr>
        <p:spPr>
          <a:xfrm>
            <a:off x="6080760" y="2487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Converte objeto em </a:t>
            </a:r>
            <a:r>
              <a:rPr lang="pt-BR" sz="900" noProof="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para salvar</a:t>
            </a:r>
            <a:endParaRPr lang="pt-BR" sz="900" noProof="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6CA1498-ED3D-2AE9-39DC-3E08C45DB5A6}"/>
              </a:ext>
            </a:extLst>
          </p:cNvPr>
          <p:cNvSpPr/>
          <p:nvPr/>
        </p:nvSpPr>
        <p:spPr>
          <a:xfrm>
            <a:off x="5394960" y="315468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2044368-72FB-7785-39F9-60A162943FC9}"/>
              </a:ext>
            </a:extLst>
          </p:cNvPr>
          <p:cNvSpPr/>
          <p:nvPr/>
        </p:nvSpPr>
        <p:spPr>
          <a:xfrm>
            <a:off x="5532120" y="331927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13F24F8-D00F-CD41-B874-FF498A276532}"/>
              </a:ext>
            </a:extLst>
          </p:cNvPr>
          <p:cNvSpPr/>
          <p:nvPr/>
        </p:nvSpPr>
        <p:spPr>
          <a:xfrm>
            <a:off x="553212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D2DEAAE-F44F-DD44-72E4-859FFFD08031}"/>
              </a:ext>
            </a:extLst>
          </p:cNvPr>
          <p:cNvSpPr/>
          <p:nvPr/>
        </p:nvSpPr>
        <p:spPr>
          <a:xfrm>
            <a:off x="6080760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JSON.parse</a:t>
            </a:r>
            <a:endParaRPr lang="pt-BR" sz="1100" noProof="0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670ECAA-FBB7-E229-C539-843DA444196E}"/>
              </a:ext>
            </a:extLst>
          </p:cNvPr>
          <p:cNvSpPr/>
          <p:nvPr/>
        </p:nvSpPr>
        <p:spPr>
          <a:xfrm>
            <a:off x="6080760" y="3538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Converte </a:t>
            </a:r>
            <a:r>
              <a:rPr lang="pt-BR" sz="900" noProof="0" dirty="0" err="1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 volta em objeto</a:t>
            </a:r>
            <a:endParaRPr lang="pt-BR" sz="900" noProof="0" dirty="0"/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70F3D1D8-50BD-D722-1649-971333B3DA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00" t="17522" r="6500" b="17519"/>
          <a:stretch>
            <a:fillRect/>
          </a:stretch>
        </p:blipFill>
        <p:spPr>
          <a:xfrm>
            <a:off x="502919" y="2468881"/>
            <a:ext cx="4631389" cy="134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752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5A45AA-A242-2164-7215-41B4BCB65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m 23">
            <a:extLst>
              <a:ext uri="{FF2B5EF4-FFF2-40B4-BE49-F238E27FC236}">
                <a16:creationId xmlns:a16="http://schemas.microsoft.com/office/drawing/2014/main" id="{F4387940-7CC4-E0C1-407B-D2144EA3F3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51" t="14199" r="8153" b="14666"/>
          <a:stretch>
            <a:fillRect/>
          </a:stretch>
        </p:blipFill>
        <p:spPr>
          <a:xfrm>
            <a:off x="504001" y="2491200"/>
            <a:ext cx="3843210" cy="1744217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5789BC60-169C-4074-6657-7DA855A60605}"/>
              </a:ext>
            </a:extLst>
          </p:cNvPr>
          <p:cNvSpPr/>
          <p:nvPr/>
        </p:nvSpPr>
        <p:spPr>
          <a:xfrm flipH="1">
            <a:off x="502919" y="411480"/>
            <a:ext cx="50400" cy="640080"/>
          </a:xfrm>
          <a:prstGeom prst="roundRect">
            <a:avLst>
              <a:gd name="adj" fmla="val 30953"/>
            </a:avLst>
          </a:prstGeom>
          <a:solidFill>
            <a:srgbClr val="4ADE80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969AFF3-911A-F913-D6E0-31CA38325BBB}"/>
              </a:ext>
            </a:extLst>
          </p:cNvPr>
          <p:cNvSpPr/>
          <p:nvPr/>
        </p:nvSpPr>
        <p:spPr>
          <a:xfrm>
            <a:off x="594360" y="5669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</a:t>
            </a:r>
            <a:endParaRPr lang="pt-BR" sz="2400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B015BE6-B380-320D-0630-34786EDA3A75}"/>
              </a:ext>
            </a:extLst>
          </p:cNvPr>
          <p:cNvSpPr/>
          <p:nvPr/>
        </p:nvSpPr>
        <p:spPr>
          <a:xfrm>
            <a:off x="457200" y="12344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é a representação do HTML como uma árvore de objetos que o 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JavaScript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pode acessar e modificar. Com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querySelector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selecionamos elementos; com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textContent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classList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os modificamos; com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createElement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pt-BR" sz="1200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appendChild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criamos novos elementos na página dinamicamente.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AFCD392-C0C1-3C67-782C-54DF453A5C41}"/>
              </a:ext>
            </a:extLst>
          </p:cNvPr>
          <p:cNvSpPr/>
          <p:nvPr/>
        </p:nvSpPr>
        <p:spPr>
          <a:xfrm rot="16200000">
            <a:off x="-390206" y="3335973"/>
            <a:ext cx="1737362" cy="488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D3F3FFE-40ED-E100-2914-674D2F597F1B}"/>
              </a:ext>
            </a:extLst>
          </p:cNvPr>
          <p:cNvSpPr/>
          <p:nvPr/>
        </p:nvSpPr>
        <p:spPr>
          <a:xfrm>
            <a:off x="5394960" y="105156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F121284-7637-806F-D0F9-76D8DE4F844A}"/>
              </a:ext>
            </a:extLst>
          </p:cNvPr>
          <p:cNvSpPr/>
          <p:nvPr/>
        </p:nvSpPr>
        <p:spPr>
          <a:xfrm>
            <a:off x="5532120" y="121615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A7F21E0-0CED-F556-51C5-3CFA93521B64}"/>
              </a:ext>
            </a:extLst>
          </p:cNvPr>
          <p:cNvSpPr/>
          <p:nvPr/>
        </p:nvSpPr>
        <p:spPr>
          <a:xfrm>
            <a:off x="553212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70AEFE4-3CAF-6531-DDB7-2B6D38F203B2}"/>
              </a:ext>
            </a:extLst>
          </p:cNvPr>
          <p:cNvSpPr/>
          <p:nvPr/>
        </p:nvSpPr>
        <p:spPr>
          <a:xfrm>
            <a:off x="6080760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querySelector</a:t>
            </a:r>
            <a:endParaRPr lang="pt-BR" sz="1100" b="1" noProof="0" dirty="0">
              <a:solidFill>
                <a:srgbClr val="4ADE80"/>
              </a:solidFill>
              <a:latin typeface="Courier New" panose="02070309020205020404" pitchFamily="49" charset="0"/>
              <a:ea typeface="Arial" pitchFamily="34" charset="-122"/>
              <a:cs typeface="Courier New" panose="02070309020205020404" pitchFamily="49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30F900C-CDAA-00EC-6FAA-14074D787F24}"/>
              </a:ext>
            </a:extLst>
          </p:cNvPr>
          <p:cNvSpPr/>
          <p:nvPr/>
        </p:nvSpPr>
        <p:spPr>
          <a:xfrm>
            <a:off x="6080760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Seleciona elemento pelo seletor CSS</a:t>
            </a:r>
            <a:endParaRPr lang="pt-BR" sz="900" noProof="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A4AF1CD-8EC5-4A5E-8F7C-3A16E6AE3EB1}"/>
              </a:ext>
            </a:extLst>
          </p:cNvPr>
          <p:cNvSpPr/>
          <p:nvPr/>
        </p:nvSpPr>
        <p:spPr>
          <a:xfrm>
            <a:off x="5394960" y="210312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7C930D0-A1B6-2B90-8A8B-36259D1FE419}"/>
              </a:ext>
            </a:extLst>
          </p:cNvPr>
          <p:cNvSpPr/>
          <p:nvPr/>
        </p:nvSpPr>
        <p:spPr>
          <a:xfrm>
            <a:off x="5532120" y="226771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F9C7F29-95C8-0327-8BF8-2F974659A9B4}"/>
              </a:ext>
            </a:extLst>
          </p:cNvPr>
          <p:cNvSpPr/>
          <p:nvPr/>
        </p:nvSpPr>
        <p:spPr>
          <a:xfrm>
            <a:off x="55321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DFFA017-815E-ADC7-C178-FEAE48FCBC3D}"/>
              </a:ext>
            </a:extLst>
          </p:cNvPr>
          <p:cNvSpPr/>
          <p:nvPr/>
        </p:nvSpPr>
        <p:spPr>
          <a:xfrm>
            <a:off x="608076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textContent</a:t>
            </a:r>
            <a:r>
              <a:rPr lang="pt-BR" sz="11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r>
              <a:rPr lang="pt-BR" sz="11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innerHTML</a:t>
            </a:r>
            <a:endParaRPr lang="pt-BR" sz="1100" b="1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A0679BA-C18B-114B-F952-8D63A7D73DD9}"/>
              </a:ext>
            </a:extLst>
          </p:cNvPr>
          <p:cNvSpPr/>
          <p:nvPr/>
        </p:nvSpPr>
        <p:spPr>
          <a:xfrm>
            <a:off x="6080760" y="2487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Lê ou altera o conteúdo do elemento</a:t>
            </a:r>
            <a:endParaRPr lang="pt-BR" sz="900" noProof="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371B843-247E-46EA-3B0F-671DF91571CA}"/>
              </a:ext>
            </a:extLst>
          </p:cNvPr>
          <p:cNvSpPr/>
          <p:nvPr/>
        </p:nvSpPr>
        <p:spPr>
          <a:xfrm>
            <a:off x="5394960" y="315468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7AD2AA5-2C45-0DBD-88D4-213F704F7953}"/>
              </a:ext>
            </a:extLst>
          </p:cNvPr>
          <p:cNvSpPr/>
          <p:nvPr/>
        </p:nvSpPr>
        <p:spPr>
          <a:xfrm>
            <a:off x="5532120" y="331927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1927793-79D6-3B1D-DFD8-6E243D38F113}"/>
              </a:ext>
            </a:extLst>
          </p:cNvPr>
          <p:cNvSpPr/>
          <p:nvPr/>
        </p:nvSpPr>
        <p:spPr>
          <a:xfrm>
            <a:off x="553212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A82A9DF-DAD6-1696-6F11-FD743C300337}"/>
              </a:ext>
            </a:extLst>
          </p:cNvPr>
          <p:cNvSpPr/>
          <p:nvPr/>
        </p:nvSpPr>
        <p:spPr>
          <a:xfrm>
            <a:off x="6080760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classList</a:t>
            </a:r>
            <a:r>
              <a:rPr lang="pt-BR" sz="11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pt-BR" sz="1100" noProof="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B5F83D1-3DE0-E7A3-EDB8-93298572E7CA}"/>
              </a:ext>
            </a:extLst>
          </p:cNvPr>
          <p:cNvSpPr/>
          <p:nvPr/>
        </p:nvSpPr>
        <p:spPr>
          <a:xfrm>
            <a:off x="6080760" y="3538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Adiciona, remove ou verifica classes</a:t>
            </a:r>
            <a:endParaRPr lang="pt-BR" sz="900" noProof="0" dirty="0"/>
          </a:p>
        </p:txBody>
      </p:sp>
    </p:spTree>
    <p:extLst>
      <p:ext uri="{BB962C8B-B14F-4D97-AF65-F5344CB8AC3E}">
        <p14:creationId xmlns:p14="http://schemas.microsoft.com/office/powerpoint/2010/main" val="2673118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09F20-14F7-7E9F-3DDD-BC2E37BA5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4C5251A8-3E51-7AB2-5B90-B717950DD9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03" t="14558" r="7809" b="14637"/>
          <a:stretch>
            <a:fillRect/>
          </a:stretch>
        </p:blipFill>
        <p:spPr>
          <a:xfrm>
            <a:off x="504000" y="2419200"/>
            <a:ext cx="4061164" cy="1736893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3ACB53BC-C13B-86CA-A8F1-89DBEDCB8227}"/>
              </a:ext>
            </a:extLst>
          </p:cNvPr>
          <p:cNvSpPr/>
          <p:nvPr/>
        </p:nvSpPr>
        <p:spPr>
          <a:xfrm flipH="1">
            <a:off x="502919" y="411480"/>
            <a:ext cx="50400" cy="640080"/>
          </a:xfrm>
          <a:prstGeom prst="roundRect">
            <a:avLst>
              <a:gd name="adj" fmla="val 30953"/>
            </a:avLst>
          </a:prstGeom>
          <a:solidFill>
            <a:srgbClr val="4ADE80"/>
          </a:solidFill>
          <a:ln w="12700">
            <a:noFill/>
            <a:prstDash val="solid"/>
          </a:ln>
          <a:effectLst/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3FDCE2-54E4-985E-3C0F-269E2E148D52}"/>
              </a:ext>
            </a:extLst>
          </p:cNvPr>
          <p:cNvSpPr/>
          <p:nvPr/>
        </p:nvSpPr>
        <p:spPr>
          <a:xfrm>
            <a:off x="594360" y="5669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Eventos</a:t>
            </a:r>
            <a:endParaRPr lang="pt-BR" sz="2400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CB16274-BB4A-C3A2-057D-0E7164D0838E}"/>
              </a:ext>
            </a:extLst>
          </p:cNvPr>
          <p:cNvSpPr/>
          <p:nvPr/>
        </p:nvSpPr>
        <p:spPr>
          <a:xfrm>
            <a:off x="457200" y="1234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são ações do usuário que o </a:t>
            </a:r>
            <a:r>
              <a:rPr lang="pt-BR" sz="1200" noProof="0" dirty="0" err="1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detecta e reage. O 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addEventListener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recebe o tipo do evento e a função que será executada. O </a:t>
            </a:r>
            <a:r>
              <a:rPr lang="pt-BR" sz="1200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DOMContentLoaded</a:t>
            </a:r>
            <a:r>
              <a:rPr lang="pt-BR" sz="1200" noProof="0" dirty="0">
                <a:solidFill>
                  <a:srgbClr val="A8A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garante que o código só rode depois que todo o HTML estiver completamente carregado.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76EDEB7-B54E-63D5-DBEF-B5B02FF84423}"/>
              </a:ext>
            </a:extLst>
          </p:cNvPr>
          <p:cNvSpPr/>
          <p:nvPr/>
        </p:nvSpPr>
        <p:spPr>
          <a:xfrm rot="16200000">
            <a:off x="-390206" y="3262967"/>
            <a:ext cx="1737362" cy="488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ADE80"/>
          </a:solidFill>
          <a:ln w="1270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15F3AA0-BA98-9591-1FB8-E6089F123185}"/>
              </a:ext>
            </a:extLst>
          </p:cNvPr>
          <p:cNvSpPr/>
          <p:nvPr/>
        </p:nvSpPr>
        <p:spPr>
          <a:xfrm>
            <a:off x="5394960" y="105156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2AC6063-AC89-1867-F445-C7B1C435B4C4}"/>
              </a:ext>
            </a:extLst>
          </p:cNvPr>
          <p:cNvSpPr/>
          <p:nvPr/>
        </p:nvSpPr>
        <p:spPr>
          <a:xfrm>
            <a:off x="5532120" y="121615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1CF7F30-0844-747F-E9CE-E91C7D62C9F4}"/>
              </a:ext>
            </a:extLst>
          </p:cNvPr>
          <p:cNvSpPr/>
          <p:nvPr/>
        </p:nvSpPr>
        <p:spPr>
          <a:xfrm>
            <a:off x="553212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67F48D9-EDC0-6CAA-72B6-9200EFAC73D7}"/>
              </a:ext>
            </a:extLst>
          </p:cNvPr>
          <p:cNvSpPr/>
          <p:nvPr/>
        </p:nvSpPr>
        <p:spPr>
          <a:xfrm>
            <a:off x="6080760" y="1143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click</a:t>
            </a:r>
            <a:r>
              <a:rPr lang="pt-BR" sz="11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CC3F046-B58E-B5AD-26B6-5684154F8EA6}"/>
              </a:ext>
            </a:extLst>
          </p:cNvPr>
          <p:cNvSpPr/>
          <p:nvPr/>
        </p:nvSpPr>
        <p:spPr>
          <a:xfrm>
            <a:off x="6080760" y="1435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Clique do mouse em um elemento</a:t>
            </a:r>
            <a:endParaRPr lang="pt-BR" sz="900" noProof="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9284A95-D3C3-4E7C-0266-A683D2C26C19}"/>
              </a:ext>
            </a:extLst>
          </p:cNvPr>
          <p:cNvSpPr/>
          <p:nvPr/>
        </p:nvSpPr>
        <p:spPr>
          <a:xfrm>
            <a:off x="5394960" y="210312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A32F2DA-55F0-58A2-1E67-B81E8DDA383F}"/>
              </a:ext>
            </a:extLst>
          </p:cNvPr>
          <p:cNvSpPr/>
          <p:nvPr/>
        </p:nvSpPr>
        <p:spPr>
          <a:xfrm>
            <a:off x="5532120" y="226771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01E4595-F05F-E5BF-5717-93D450AF233B}"/>
              </a:ext>
            </a:extLst>
          </p:cNvPr>
          <p:cNvSpPr/>
          <p:nvPr/>
        </p:nvSpPr>
        <p:spPr>
          <a:xfrm>
            <a:off x="55321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9E327AE-9969-8AC7-5B98-2262AAF51870}"/>
              </a:ext>
            </a:extLst>
          </p:cNvPr>
          <p:cNvSpPr/>
          <p:nvPr/>
        </p:nvSpPr>
        <p:spPr>
          <a:xfrm>
            <a:off x="608076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keyup</a:t>
            </a:r>
            <a:r>
              <a:rPr lang="pt-BR" sz="11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pt-BR" sz="1100" noProof="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647DF4C-DC01-41AD-A185-FC5FF9D04612}"/>
              </a:ext>
            </a:extLst>
          </p:cNvPr>
          <p:cNvSpPr/>
          <p:nvPr/>
        </p:nvSpPr>
        <p:spPr>
          <a:xfrm>
            <a:off x="6080760" y="2487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Tecla solta — usado na busca em tempo real</a:t>
            </a:r>
            <a:endParaRPr lang="pt-BR" sz="900" noProof="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5127A46-6E01-9ECA-AE1C-579E0C6E03B7}"/>
              </a:ext>
            </a:extLst>
          </p:cNvPr>
          <p:cNvSpPr/>
          <p:nvPr/>
        </p:nvSpPr>
        <p:spPr>
          <a:xfrm>
            <a:off x="5394960" y="3154680"/>
            <a:ext cx="3291840" cy="822960"/>
          </a:xfrm>
          <a:prstGeom prst="roundRect">
            <a:avLst/>
          </a:prstGeom>
          <a:solidFill>
            <a:srgbClr val="1A1A20"/>
          </a:solidFill>
          <a:ln w="635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CB6CFE0-8589-D0CE-765E-F3EE71528971}"/>
              </a:ext>
            </a:extLst>
          </p:cNvPr>
          <p:cNvSpPr/>
          <p:nvPr/>
        </p:nvSpPr>
        <p:spPr>
          <a:xfrm>
            <a:off x="5532120" y="3319272"/>
            <a:ext cx="457200" cy="457200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778DF0D-4FD8-9B78-0034-3E0FBCA07B2D}"/>
              </a:ext>
            </a:extLst>
          </p:cNvPr>
          <p:cNvSpPr/>
          <p:nvPr/>
        </p:nvSpPr>
        <p:spPr>
          <a:xfrm>
            <a:off x="5532120" y="3319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pt-BR" sz="1200" noProof="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EDEC078-7015-623D-B4A6-7B2B356C5225}"/>
              </a:ext>
            </a:extLst>
          </p:cNvPr>
          <p:cNvSpPr/>
          <p:nvPr/>
        </p:nvSpPr>
        <p:spPr>
          <a:xfrm>
            <a:off x="6080760" y="3246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00" b="1" dirty="0" err="1">
                <a:solidFill>
                  <a:srgbClr val="4ADE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DOMContentLoaded</a:t>
            </a:r>
            <a:r>
              <a:rPr lang="pt-BR" sz="11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pt-BR" sz="1100" noProof="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161489F-5E46-6851-9BC3-93326EEC289C}"/>
              </a:ext>
            </a:extLst>
          </p:cNvPr>
          <p:cNvSpPr/>
          <p:nvPr/>
        </p:nvSpPr>
        <p:spPr>
          <a:xfrm>
            <a:off x="6080760" y="3538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completamente carregado</a:t>
            </a:r>
            <a:endParaRPr lang="pt-BR" sz="900" noProof="0" dirty="0"/>
          </a:p>
        </p:txBody>
      </p:sp>
    </p:spTree>
    <p:extLst>
      <p:ext uri="{BB962C8B-B14F-4D97-AF65-F5344CB8AC3E}">
        <p14:creationId xmlns:p14="http://schemas.microsoft.com/office/powerpoint/2010/main" val="1831913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E1E1E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Conclusão</a:t>
            </a:r>
            <a:endParaRPr lang="pt-BR" sz="24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0160">
            <a:solidFill>
              <a:srgbClr val="1E1E2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566928" y="116128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56692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8" name="Text 6"/>
          <p:cNvSpPr/>
          <p:nvPr/>
        </p:nvSpPr>
        <p:spPr>
          <a:xfrm>
            <a:off x="1051560" y="1097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</a:t>
            </a:r>
            <a:r>
              <a:rPr lang="pt-BR" sz="1200" b="1" noProof="0" dirty="0" err="1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pt-BR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1051560" y="14264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Comportamento e interatividade da página</a:t>
            </a:r>
            <a:endParaRPr lang="pt-BR" sz="900" noProof="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4956048" y="116128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495604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13" name="Text 11"/>
          <p:cNvSpPr/>
          <p:nvPr/>
        </p:nvSpPr>
        <p:spPr>
          <a:xfrm>
            <a:off x="5440680" y="1097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1200" b="1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Variáveis</a:t>
            </a:r>
            <a:endParaRPr lang="pt-BR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5440680" y="14264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 err="1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 </a:t>
            </a:r>
            <a:r>
              <a:rPr lang="pt-BR" sz="90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let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lugar do </a:t>
            </a:r>
            <a:r>
              <a:rPr lang="pt-BR" sz="900" dirty="0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var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" y="196596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566928" y="212140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56692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105156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 err="1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</a:t>
            </a: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Métodos</a:t>
            </a:r>
          </a:p>
        </p:txBody>
      </p:sp>
      <p:sp>
        <p:nvSpPr>
          <p:cNvPr id="19" name="Text 17"/>
          <p:cNvSpPr/>
          <p:nvPr/>
        </p:nvSpPr>
        <p:spPr>
          <a:xfrm>
            <a:off x="1051560" y="238658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forEach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pt-BR" sz="90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find</a:t>
            </a:r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 </a:t>
            </a:r>
            <a:r>
              <a:rPr lang="pt-BR" sz="900" dirty="0" err="1">
                <a:solidFill>
                  <a:srgbClr val="4ADE80"/>
                </a:solidFill>
                <a:latin typeface="Courier New" pitchFamily="34" charset="0"/>
                <a:cs typeface="Courier New" pitchFamily="34" charset="-120"/>
              </a:rPr>
              <a:t>filter</a:t>
            </a:r>
            <a:endParaRPr lang="pt-BR" sz="900" dirty="0">
              <a:solidFill>
                <a:srgbClr val="4ADE80"/>
              </a:solidFill>
              <a:latin typeface="Courier New" pitchFamily="34" charset="0"/>
              <a:cs typeface="Courier New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46320" y="196596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9"/>
          <p:cNvSpPr/>
          <p:nvPr/>
        </p:nvSpPr>
        <p:spPr>
          <a:xfrm>
            <a:off x="4956048" y="212140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4956048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23" name="Text 21"/>
          <p:cNvSpPr/>
          <p:nvPr/>
        </p:nvSpPr>
        <p:spPr>
          <a:xfrm>
            <a:off x="544068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Objetos, JSON e </a:t>
            </a:r>
            <a:r>
              <a:rPr lang="pt-BR" sz="1200" b="1" noProof="0" dirty="0" err="1">
                <a:solidFill>
                  <a:srgbClr val="4ADE80"/>
                </a:solidFill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localStorage</a:t>
            </a:r>
            <a:endParaRPr lang="pt-BR" sz="1200" noProof="0" dirty="0">
              <a:solidFill>
                <a:srgbClr val="4ADE8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40680" y="238658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 estruturados e persistência</a:t>
            </a:r>
            <a:endParaRPr lang="pt-BR" sz="900" noProof="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Shape 24"/>
          <p:cNvSpPr/>
          <p:nvPr/>
        </p:nvSpPr>
        <p:spPr>
          <a:xfrm>
            <a:off x="566928" y="308152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566928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28" name="Text 26"/>
          <p:cNvSpPr/>
          <p:nvPr/>
        </p:nvSpPr>
        <p:spPr>
          <a:xfrm>
            <a:off x="105156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dirty="0">
                <a:solidFill>
                  <a:srgbClr val="E1E1E6"/>
                </a:solidFill>
                <a:latin typeface="Arial" pitchFamily="34" charset="0"/>
                <a:cs typeface="Arial" pitchFamily="34" charset="-120"/>
              </a:rPr>
              <a:t>DOM</a:t>
            </a:r>
            <a:endParaRPr lang="pt-BR" sz="1200" noProof="0" dirty="0"/>
          </a:p>
        </p:txBody>
      </p:sp>
      <p:sp>
        <p:nvSpPr>
          <p:cNvPr id="29" name="Text 27"/>
          <p:cNvSpPr/>
          <p:nvPr/>
        </p:nvSpPr>
        <p:spPr>
          <a:xfrm>
            <a:off x="1051560" y="33467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Selecionar, modificar e criar elementos HTML</a:t>
            </a:r>
            <a:endParaRPr lang="pt-BR" sz="900" noProof="0" dirty="0"/>
          </a:p>
        </p:txBody>
      </p:sp>
      <p:sp>
        <p:nvSpPr>
          <p:cNvPr id="30" name="Shape 28"/>
          <p:cNvSpPr/>
          <p:nvPr/>
        </p:nvSpPr>
        <p:spPr>
          <a:xfrm>
            <a:off x="4846320" y="2926080"/>
            <a:ext cx="4114800" cy="777240"/>
          </a:xfrm>
          <a:prstGeom prst="roundRect">
            <a:avLst/>
          </a:prstGeom>
          <a:solidFill>
            <a:srgbClr val="171720"/>
          </a:solidFill>
          <a:ln w="6350">
            <a:noFill/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Shape 29"/>
          <p:cNvSpPr/>
          <p:nvPr/>
        </p:nvSpPr>
        <p:spPr>
          <a:xfrm>
            <a:off x="4956048" y="3081528"/>
            <a:ext cx="384048" cy="384048"/>
          </a:xfrm>
          <a:prstGeom prst="ellipse">
            <a:avLst/>
          </a:prstGeom>
          <a:solidFill>
            <a:srgbClr val="4ADE80">
              <a:alpha val="10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Text 30"/>
          <p:cNvSpPr/>
          <p:nvPr/>
        </p:nvSpPr>
        <p:spPr>
          <a:xfrm>
            <a:off x="4956048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noProof="0" dirty="0">
                <a:solidFill>
                  <a:srgbClr val="4ADE80"/>
                </a:solidFill>
              </a:rPr>
              <a:t>✓</a:t>
            </a:r>
            <a:endParaRPr lang="pt-BR" sz="1000" noProof="0" dirty="0"/>
          </a:p>
        </p:txBody>
      </p:sp>
      <p:sp>
        <p:nvSpPr>
          <p:cNvPr id="33" name="Text 31"/>
          <p:cNvSpPr/>
          <p:nvPr/>
        </p:nvSpPr>
        <p:spPr>
          <a:xfrm>
            <a:off x="544068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E1E1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</a:t>
            </a:r>
            <a:endParaRPr lang="pt-BR" sz="1200" noProof="0" dirty="0"/>
          </a:p>
        </p:txBody>
      </p:sp>
      <p:sp>
        <p:nvSpPr>
          <p:cNvPr id="34" name="Text 32"/>
          <p:cNvSpPr/>
          <p:nvPr/>
        </p:nvSpPr>
        <p:spPr>
          <a:xfrm>
            <a:off x="5440680" y="33467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900" noProof="0" dirty="0">
                <a:solidFill>
                  <a:srgbClr val="A8A8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Reagir às ações do usuário</a:t>
            </a:r>
            <a:endParaRPr lang="pt-BR" sz="900" noProof="0" dirty="0"/>
          </a:p>
        </p:txBody>
      </p:sp>
      <p:sp>
        <p:nvSpPr>
          <p:cNvPr id="39" name="Shape 3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0" name="Shape 3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Words>618</Words>
  <Application>Microsoft Office PowerPoint</Application>
  <PresentationFormat>Apresentação na tela (16:9)</PresentationFormat>
  <Paragraphs>93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creator>Vito Vito</dc:creator>
  <cp:lastModifiedBy>Vito Vito</cp:lastModifiedBy>
  <cp:revision>20</cp:revision>
  <dcterms:created xsi:type="dcterms:W3CDTF">2026-05-09T09:39:54Z</dcterms:created>
  <dcterms:modified xsi:type="dcterms:W3CDTF">2026-06-07T19:19:09Z</dcterms:modified>
</cp:coreProperties>
</file>