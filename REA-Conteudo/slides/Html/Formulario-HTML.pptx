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8" r:id="rId4"/>
    <p:sldId id="265" r:id="rId5"/>
    <p:sldId id="266" r:id="rId6"/>
    <p:sldId id="262" r:id="rId7"/>
    <p:sldId id="269" r:id="rId8"/>
    <p:sldId id="270" r:id="rId9"/>
    <p:sldId id="264" r:id="rId10"/>
    <p:sldId id="271" r:id="rId11"/>
    <p:sldId id="268" r:id="rId12"/>
    <p:sldId id="272" r:id="rId13"/>
    <p:sldId id="273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45"/>
    <a:srgbClr val="0267B0"/>
    <a:srgbClr val="A40000"/>
    <a:srgbClr val="FF1515"/>
    <a:srgbClr val="61ECFB"/>
    <a:srgbClr val="8B0768"/>
    <a:srgbClr val="836496"/>
    <a:srgbClr val="F00A93"/>
    <a:srgbClr val="FCD2E4"/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gor Silva" userId="4900a7dd34babdab" providerId="LiveId" clId="{1286FEAC-5013-4C0B-A2EC-0EC2017EF166}"/>
    <pc:docChg chg="modSld">
      <pc:chgData name="Higor Silva" userId="4900a7dd34babdab" providerId="LiveId" clId="{1286FEAC-5013-4C0B-A2EC-0EC2017EF166}" dt="2026-06-08T14:26:04.062" v="26" actId="1037"/>
      <pc:docMkLst>
        <pc:docMk/>
      </pc:docMkLst>
      <pc:sldChg chg="modSp mod">
        <pc:chgData name="Higor Silva" userId="4900a7dd34babdab" providerId="LiveId" clId="{1286FEAC-5013-4C0B-A2EC-0EC2017EF166}" dt="2026-06-08T14:26:04.062" v="26" actId="1037"/>
        <pc:sldMkLst>
          <pc:docMk/>
          <pc:sldMk cId="3197465058" sldId="273"/>
        </pc:sldMkLst>
        <pc:spChg chg="mod">
          <ac:chgData name="Higor Silva" userId="4900a7dd34babdab" providerId="LiveId" clId="{1286FEAC-5013-4C0B-A2EC-0EC2017EF166}" dt="2026-06-08T14:25:44.630" v="2" actId="20577"/>
          <ac:spMkLst>
            <pc:docMk/>
            <pc:sldMk cId="3197465058" sldId="273"/>
            <ac:spMk id="10" creationId="{73DEB959-D40E-ABC3-142F-302BB8DA8087}"/>
          </ac:spMkLst>
        </pc:spChg>
        <pc:spChg chg="mod">
          <ac:chgData name="Higor Silva" userId="4900a7dd34babdab" providerId="LiveId" clId="{1286FEAC-5013-4C0B-A2EC-0EC2017EF166}" dt="2026-06-08T14:26:04.062" v="26" actId="1037"/>
          <ac:spMkLst>
            <pc:docMk/>
            <pc:sldMk cId="3197465058" sldId="273"/>
            <ac:spMk id="15" creationId="{38B27A83-BDBD-4915-8A0C-AAD57BF9207F}"/>
          </ac:spMkLst>
        </pc:spChg>
        <pc:spChg chg="mod">
          <ac:chgData name="Higor Silva" userId="4900a7dd34babdab" providerId="LiveId" clId="{1286FEAC-5013-4C0B-A2EC-0EC2017EF166}" dt="2026-06-08T14:26:04.062" v="26" actId="1037"/>
          <ac:spMkLst>
            <pc:docMk/>
            <pc:sldMk cId="3197465058" sldId="273"/>
            <ac:spMk id="16" creationId="{CF0238ED-8D87-4824-ADD6-9085D15B47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98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9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9AAE-DAE2-E356-4247-FF570913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2437-3373-6C0E-7A56-55C6ECA0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F06A0-AB38-6537-2096-2F6DAEE3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7288-C66A-A51D-0F63-16C2DF8CC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93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99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C15E-0253-750C-5DA5-28CFFB03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91AC7-D8E1-6D1F-1ABB-E780CD142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1C03B-A882-A9EC-6CA4-3E31E61B0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43797-EE45-1B19-744B-D47F0A2A5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151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B6D4-6C28-2F16-16B4-C0F6214F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5BB24-DF0D-BDD1-09AD-87685F450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2B6F2-3E95-9A3F-3858-E4E9C1344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69C97-77C7-5A0D-E8A6-DB9FE906E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509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DB37-3144-1CD2-D62F-42E4D5C0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B53E6-EAC9-CB59-4BEE-1497A6CFC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58710-0023-AC84-BB86-B17016782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1A16A-460E-E895-74EB-73EF6FE34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43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E0D1-F618-2B36-2FBA-A8D32170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C365B-8106-7BAC-FAF2-A88EA99DE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3CB98-4115-E7E9-9A31-5FB339CCF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3009-B5CD-5CF4-A2C7-8DF300E14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89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AC71-7045-1655-4999-E98DCF32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F5DBD-A85F-844A-7D3D-FDE274B66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DBCA6-AB0F-3B01-7AA2-10797BE14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B98A3-7DF3-011E-911D-41BBEA4B7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75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 ·  HTML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721" y="1463040"/>
            <a:ext cx="914227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4ADE80"/>
                </a:solidFill>
                <a:latin typeface="Arial Black" pitchFamily="34" charset="0"/>
              </a:rPr>
              <a:t>Formulário e Cadastro de Produtos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Estruturando a coleta de dados e interatividade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faremos hoje?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19"/>
            <a:ext cx="45720" cy="2431199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19"/>
            <a:ext cx="5943600" cy="2431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 são a principal forma de coletar dados do usuário em aplicações web. Entender como estruturá-los corretamente é essencial antes de criarmos qualquer lógica em JavaScript.</a:t>
            </a:r>
          </a:p>
          <a:p>
            <a:pPr marL="0" indent="0">
              <a:buNone/>
            </a:pPr>
            <a:endParaRPr lang="pt-BR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da tag </a:t>
            </a:r>
          </a:p>
          <a:p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             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             (Acessibilidade)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Validações nativas do HTML</a:t>
            </a:r>
          </a:p>
        </p:txBody>
      </p:sp>
      <p:sp>
        <p:nvSpPr>
          <p:cNvPr id="10" name="Shape 8"/>
          <p:cNvSpPr/>
          <p:nvPr/>
        </p:nvSpPr>
        <p:spPr>
          <a:xfrm>
            <a:off x="4023360" y="2492319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023360" y="2492319"/>
            <a:ext cx="548640" cy="174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&lt;form&gt;</a:t>
            </a: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362F163-EC7B-4F81-9334-17E0A5E587B5}"/>
              </a:ext>
            </a:extLst>
          </p:cNvPr>
          <p:cNvSpPr/>
          <p:nvPr/>
        </p:nvSpPr>
        <p:spPr>
          <a:xfrm>
            <a:off x="3854146" y="2870091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41395B6-36C8-4457-A978-E55FCA53DB33}"/>
              </a:ext>
            </a:extLst>
          </p:cNvPr>
          <p:cNvSpPr/>
          <p:nvPr/>
        </p:nvSpPr>
        <p:spPr>
          <a:xfrm>
            <a:off x="3854146" y="2880139"/>
            <a:ext cx="548640" cy="164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&lt;input&gt;</a:t>
            </a: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52F53136-2D45-4650-85A9-BB70779C87C3}"/>
              </a:ext>
            </a:extLst>
          </p:cNvPr>
          <p:cNvSpPr/>
          <p:nvPr/>
        </p:nvSpPr>
        <p:spPr>
          <a:xfrm>
            <a:off x="4601742" y="2880139"/>
            <a:ext cx="838837" cy="17755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9500E7E-4DBB-4930-8EE7-E44E62AA8028}"/>
              </a:ext>
            </a:extLst>
          </p:cNvPr>
          <p:cNvSpPr/>
          <p:nvPr/>
        </p:nvSpPr>
        <p:spPr>
          <a:xfrm>
            <a:off x="4611790" y="2883133"/>
            <a:ext cx="838837" cy="17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&lt;textarea&gt;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E6593095-9F2C-4B2D-8EAD-1D8526FFBD7C}"/>
              </a:ext>
            </a:extLst>
          </p:cNvPr>
          <p:cNvSpPr/>
          <p:nvPr/>
        </p:nvSpPr>
        <p:spPr>
          <a:xfrm>
            <a:off x="3749040" y="3262908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4F95299-8EB6-45B8-AE11-CEBDA805BAC3}"/>
              </a:ext>
            </a:extLst>
          </p:cNvPr>
          <p:cNvSpPr/>
          <p:nvPr/>
        </p:nvSpPr>
        <p:spPr>
          <a:xfrm>
            <a:off x="3749040" y="3272956"/>
            <a:ext cx="548640" cy="164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&lt;label&gt;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CONFIGURAÇÕES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Estrutura e Head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5310554" cy="1641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DOCTYPE</a:t>
            </a:r>
            <a:r>
              <a:rPr lang="pt-BR" sz="1200" noProof="0" dirty="0">
                <a:solidFill>
                  <a:srgbClr val="FF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"pt-BR"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charset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"UTF-8"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/&gt;</a:t>
            </a:r>
          </a:p>
          <a:p>
            <a:pPr algn="just"/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"viewport"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"width=device-width, initial-scale=1.0"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/&gt;</a:t>
            </a:r>
          </a:p>
          <a:p>
            <a:pPr algn="just"/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Produto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pt-BR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CONEXÃO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Conectando o CSS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325880"/>
            <a:ext cx="8380828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333500"/>
            <a:ext cx="838082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2" y="1362900"/>
            <a:ext cx="8380827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552659" y="1654620"/>
            <a:ext cx="8042701" cy="425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de código referente a importação: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078676F-662D-4338-AFD6-87BBC65B91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813539"/>
            <a:ext cx="5416062" cy="6631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12EAB7-836D-44EE-AF39-03D64994FBB0}"/>
              </a:ext>
            </a:extLst>
          </p:cNvPr>
          <p:cNvSpPr txBox="1"/>
          <p:nvPr/>
        </p:nvSpPr>
        <p:spPr>
          <a:xfrm>
            <a:off x="659172" y="2975857"/>
            <a:ext cx="5416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&lt;link rel="stylesheet" href="style.css"&gt;</a:t>
            </a:r>
            <a:endParaRPr lang="pt-B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C71EF2C-388B-438E-92B3-0D14349319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2659" y="2038468"/>
            <a:ext cx="5416062" cy="66319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4EA0E6-D7D3-45CF-8D16-B1EEBD8D7A4A}"/>
              </a:ext>
            </a:extLst>
          </p:cNvPr>
          <p:cNvSpPr txBox="1"/>
          <p:nvPr/>
        </p:nvSpPr>
        <p:spPr>
          <a:xfrm>
            <a:off x="431576" y="2200786"/>
            <a:ext cx="5667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&lt;link rel="stylesheet" href=“../global.css"&gt;</a:t>
            </a:r>
            <a:endParaRPr lang="pt-B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E2C843B-EB12-47EF-8D8F-6E9D7082A5CB}"/>
              </a:ext>
            </a:extLst>
          </p:cNvPr>
          <p:cNvSpPr/>
          <p:nvPr/>
        </p:nvSpPr>
        <p:spPr>
          <a:xfrm>
            <a:off x="552659" y="3487857"/>
            <a:ext cx="8042701" cy="81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de importação importa!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global.css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antes. Isso garante que os estilos globais sejam aplicados primeiro, e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possa sobrescrevê-los quando necessário. </a:t>
            </a:r>
          </a:p>
          <a:p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700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Cabeçalho da Aplicação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066796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227900"/>
            <a:ext cx="4372708" cy="3753674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181100"/>
            <a:ext cx="437270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3" y="1286700"/>
            <a:ext cx="4372708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HEADER</a:t>
            </a:r>
            <a:endParaRPr lang="pt-BR" sz="9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49A77E-F167-4BBF-A2D4-95A7683FE367}"/>
              </a:ext>
            </a:extLst>
          </p:cNvPr>
          <p:cNvSpPr/>
          <p:nvPr/>
        </p:nvSpPr>
        <p:spPr>
          <a:xfrm>
            <a:off x="351692" y="1589850"/>
            <a:ext cx="4220308" cy="3374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"header-container"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"nav-menu"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"nav-item"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"../vitrine/"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"nav-link"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"nav-item"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"#"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"nav-link"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Produtos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"nav-item"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"../carrinho/"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"nav-link"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...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pt-BR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2C454E-F905-4E55-A20E-272E161382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72990" y="1196337"/>
            <a:ext cx="3976467" cy="37536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3BE2AC-CCEB-4B3C-8763-B703AAD8186F}"/>
              </a:ext>
            </a:extLst>
          </p:cNvPr>
          <p:cNvSpPr txBox="1"/>
          <p:nvPr/>
        </p:nvSpPr>
        <p:spPr>
          <a:xfrm>
            <a:off x="4983523" y="2120654"/>
            <a:ext cx="37604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Repare em dois detalhes importantes:</a:t>
            </a:r>
          </a:p>
          <a:p>
            <a:endParaRPr lang="pt-BR" sz="1400" b="0" i="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link "Cadastrar Produtos" aponta para # — isso indica que estamos na página atual</a:t>
            </a:r>
          </a:p>
          <a:p>
            <a:endParaRPr lang="pt-BR" sz="1400" b="0" i="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 página não possui a barra de pesquisa, apenas o ícone do carrinho;</a:t>
            </a:r>
          </a:p>
          <a:p>
            <a:pPr marL="342900" indent="-342900">
              <a:buFont typeface="+mj-lt"/>
              <a:buAutoNum type="arabicPeriod"/>
            </a:pPr>
            <a:endParaRPr lang="pt-BR" sz="1400" b="0" i="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Isso faz sentido: em uma página de cadastro, a busca não é necessária.</a:t>
            </a:r>
            <a:endParaRPr lang="pt-B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07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E9191-75D4-A0CA-7462-50E6B057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0EE3FA-0B46-AAA7-7902-2B06E2040C76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716985-BAEB-7ED1-BBD2-364E04683E1D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1710C5-216D-45C9-BAB2-681860D3E505}"/>
              </a:ext>
            </a:extLst>
          </p:cNvPr>
          <p:cNvSpPr/>
          <p:nvPr/>
        </p:nvSpPr>
        <p:spPr>
          <a:xfrm>
            <a:off x="0" y="16459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Conteúdo</a:t>
            </a:r>
          </a:p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Principal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92A1A4-DA92-9AC8-B223-2B385D5E8305}"/>
              </a:ext>
            </a:extLst>
          </p:cNvPr>
          <p:cNvSpPr/>
          <p:nvPr/>
        </p:nvSpPr>
        <p:spPr>
          <a:xfrm>
            <a:off x="2594610" y="344805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Tag main e títulos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503BDE-9711-BB9E-6C35-85D8D64F0779}"/>
              </a:ext>
            </a:extLst>
          </p:cNvPr>
          <p:cNvSpPr/>
          <p:nvPr/>
        </p:nvSpPr>
        <p:spPr>
          <a:xfrm>
            <a:off x="2594610" y="1171574"/>
            <a:ext cx="49088" cy="3165855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790E2C-D399-855F-F834-F85F0314B947}"/>
              </a:ext>
            </a:extLst>
          </p:cNvPr>
          <p:cNvSpPr/>
          <p:nvPr/>
        </p:nvSpPr>
        <p:spPr>
          <a:xfrm>
            <a:off x="2689147" y="116205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Estiliza todos os elementos do A tag &lt;main&gt; guarda o conteúdo central. A </a:t>
            </a:r>
            <a:r>
              <a:rPr kumimoji="0" lang="pt-BR" altLang="pt-BR" sz="1400" b="1" i="1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&lt;div class="form-container"&gt;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será usada pelo CSS para centralizar tudo. O &lt;h1&gt; dita a hierarquia visual 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lembre-se: apenas um &lt;h1&gt; por página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D1D1D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09E59549-4253-452B-B034-8F9B841E08E6}"/>
              </a:ext>
            </a:extLst>
          </p:cNvPr>
          <p:cNvSpPr/>
          <p:nvPr/>
        </p:nvSpPr>
        <p:spPr>
          <a:xfrm>
            <a:off x="2769138" y="2155380"/>
            <a:ext cx="5863609" cy="218205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C449BF26-DEE6-4963-91AE-08CD7A8CF46E}"/>
              </a:ext>
            </a:extLst>
          </p:cNvPr>
          <p:cNvSpPr/>
          <p:nvPr/>
        </p:nvSpPr>
        <p:spPr>
          <a:xfrm>
            <a:off x="2769138" y="2108580"/>
            <a:ext cx="5863609" cy="45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DD410B5E-1CAE-4F78-BF74-D64C97622B10}"/>
              </a:ext>
            </a:extLst>
          </p:cNvPr>
          <p:cNvSpPr/>
          <p:nvPr/>
        </p:nvSpPr>
        <p:spPr>
          <a:xfrm>
            <a:off x="2769139" y="2214181"/>
            <a:ext cx="5863609" cy="164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HEADER</a:t>
            </a:r>
            <a:endParaRPr lang="pt-BR" sz="9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8E292DDA-EF8B-46E5-84BC-E6688079D6F2}"/>
              </a:ext>
            </a:extLst>
          </p:cNvPr>
          <p:cNvSpPr/>
          <p:nvPr/>
        </p:nvSpPr>
        <p:spPr>
          <a:xfrm>
            <a:off x="2769137" y="2517330"/>
            <a:ext cx="5989049" cy="950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“form-container"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Produtos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pt-BR" sz="12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4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FORMULÁRIO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Coração do Formulário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325880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857376" y="2084832"/>
            <a:ext cx="5257800" cy="53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onsubmit</a:t>
            </a:r>
            <a:r>
              <a:rPr lang="pt-BR" sz="1200" noProof="0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pt-BR" sz="1200" noProof="0" dirty="0">
                <a:solidFill>
                  <a:srgbClr val="F5F9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salvarProduto</a:t>
            </a:r>
            <a:r>
              <a:rPr lang="pt-BR" sz="1200" noProof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r>
              <a:rPr lang="pt-BR" sz="1200" noProof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pt-BR" sz="12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 </a:t>
            </a:r>
            <a:r>
              <a:rPr lang="pt-BR" sz="12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“form=produto"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</a:t>
            </a:r>
            <a:r>
              <a:rPr lang="pt-BR" sz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F7F26A65-B096-4FF4-9BEC-D67DED769161}"/>
              </a:ext>
            </a:extLst>
          </p:cNvPr>
          <p:cNvSpPr/>
          <p:nvPr/>
        </p:nvSpPr>
        <p:spPr>
          <a:xfrm>
            <a:off x="884254" y="2894879"/>
            <a:ext cx="7264960" cy="16905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onsubmit: 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do HTML que dispara quando o usuário tenta enviar o formulário. Aqui, ele chamará nosso futuro JavaScript.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</a:t>
            </a: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Argumento passado para que o JavaScript possa impedir o recarregamento (refresh) padrão da página.</a:t>
            </a: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60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4D813-9932-B313-2CA0-F7702E8D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AF3486-FEE6-8D8B-8AFE-6D88FB824747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FORMULÁRIO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16620-3CE2-A683-7650-C34AB8D0E431}"/>
              </a:ext>
            </a:extLst>
          </p:cNvPr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O Padrão de Entrada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CF6B90-ECD1-E17F-D417-EA3E6A946BFC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FAE8559-ECBF-0AFC-6E0F-41AD107C4AA3}"/>
              </a:ext>
            </a:extLst>
          </p:cNvPr>
          <p:cNvSpPr/>
          <p:nvPr/>
        </p:nvSpPr>
        <p:spPr>
          <a:xfrm>
            <a:off x="884254" y="1349819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F41D3C-2430-C2F4-524B-E17FC2260F6D}"/>
              </a:ext>
            </a:extLst>
          </p:cNvPr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02B0F0-620F-E2C7-644B-48E01A0C390E}"/>
              </a:ext>
            </a:extLst>
          </p:cNvPr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1BEDF9-B222-E10B-C16A-5FE079A70DDA}"/>
              </a:ext>
            </a:extLst>
          </p:cNvPr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F0AC0F-1A3C-51A2-1A09-056A269D0C9F}"/>
              </a:ext>
            </a:extLst>
          </p:cNvPr>
          <p:cNvSpPr/>
          <p:nvPr/>
        </p:nvSpPr>
        <p:spPr>
          <a:xfrm>
            <a:off x="1857376" y="1980478"/>
            <a:ext cx="5257800" cy="1244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“input-group"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“nome"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Produto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type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“text“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d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“nome“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name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“nome“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required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9AB1C7CD-6D9A-AF9E-49FE-544C548DE62A}"/>
              </a:ext>
            </a:extLst>
          </p:cNvPr>
          <p:cNvSpPr/>
          <p:nvPr/>
        </p:nvSpPr>
        <p:spPr>
          <a:xfrm>
            <a:off x="884254" y="3224967"/>
            <a:ext cx="7264960" cy="1360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</a:t>
            </a:r>
          </a:p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atributo for do             deve ser exatamente igual ao atributo id do            . Isso vincula o texto à caixa de digitação, melhorando a acessibilidade.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3153739-13D4-967E-9CC0-D291310427F8}"/>
              </a:ext>
            </a:extLst>
          </p:cNvPr>
          <p:cNvSpPr/>
          <p:nvPr/>
        </p:nvSpPr>
        <p:spPr>
          <a:xfrm>
            <a:off x="2300068" y="3829375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0C26892-F2EC-C1F8-442F-65EAC9128CE6}"/>
              </a:ext>
            </a:extLst>
          </p:cNvPr>
          <p:cNvSpPr/>
          <p:nvPr/>
        </p:nvSpPr>
        <p:spPr>
          <a:xfrm>
            <a:off x="2300068" y="3839423"/>
            <a:ext cx="548640" cy="164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</a:t>
            </a:r>
            <a:r>
              <a:rPr lang="pt-BR" sz="10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label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&gt;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65B5DE4-5A77-EBA7-B6D7-50F56B57E6FA}"/>
              </a:ext>
            </a:extLst>
          </p:cNvPr>
          <p:cNvSpPr/>
          <p:nvPr/>
        </p:nvSpPr>
        <p:spPr>
          <a:xfrm>
            <a:off x="6337496" y="3827699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4A7BC4B-AC50-AFF2-16CD-CA9282AEA725}"/>
              </a:ext>
            </a:extLst>
          </p:cNvPr>
          <p:cNvSpPr/>
          <p:nvPr/>
        </p:nvSpPr>
        <p:spPr>
          <a:xfrm>
            <a:off x="6337496" y="3837747"/>
            <a:ext cx="548640" cy="164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</a:t>
            </a:r>
            <a:r>
              <a:rPr lang="pt-BR" sz="10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input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8944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5C0AB-B5F1-7863-3471-0C385502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85D49-AF2D-4336-0772-099F6B8A7081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35BD29-0917-2836-0DCE-714772673210}"/>
              </a:ext>
            </a:extLst>
          </p:cNvPr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</a:t>
            </a: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edade de Entradas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39621B-1F9F-1284-8DB3-006936BAF893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66506A-9B1D-9FC1-8F76-D51E8B8C27FD}"/>
              </a:ext>
            </a:extLst>
          </p:cNvPr>
          <p:cNvSpPr/>
          <p:nvPr/>
        </p:nvSpPr>
        <p:spPr>
          <a:xfrm>
            <a:off x="460718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399835-C448-ACBA-48EA-FD19D352B685}"/>
              </a:ext>
            </a:extLst>
          </p:cNvPr>
          <p:cNvSpPr/>
          <p:nvPr/>
        </p:nvSpPr>
        <p:spPr>
          <a:xfrm>
            <a:off x="460718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AFC111-CD4D-D2CC-B7B5-142E1872FC99}"/>
              </a:ext>
            </a:extLst>
          </p:cNvPr>
          <p:cNvSpPr/>
          <p:nvPr/>
        </p:nvSpPr>
        <p:spPr>
          <a:xfrm>
            <a:off x="569303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F9A764-F7A5-CB6F-93BA-8251F67911B4}"/>
              </a:ext>
            </a:extLst>
          </p:cNvPr>
          <p:cNvSpPr/>
          <p:nvPr/>
        </p:nvSpPr>
        <p:spPr>
          <a:xfrm>
            <a:off x="569303" y="1641306"/>
            <a:ext cx="2533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Texto</a:t>
            </a:r>
            <a:endParaRPr lang="pt-BR" sz="16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5A0622-3F00-9227-EDE1-138B4197ECAE}"/>
              </a:ext>
            </a:extLst>
          </p:cNvPr>
          <p:cNvSpPr/>
          <p:nvPr/>
        </p:nvSpPr>
        <p:spPr>
          <a:xfrm>
            <a:off x="569303" y="3057771"/>
            <a:ext cx="2462285" cy="436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letras e números. Ideal para o nome do produto.</a:t>
            </a:r>
            <a:endParaRPr lang="pt-BR" sz="1200" noProof="0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D32852B-4C8C-4BAC-9E16-0133E05BEB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86448" y="2094377"/>
            <a:ext cx="2255227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1FFB52-37F1-4922-B86C-111DD959E3A9}"/>
              </a:ext>
            </a:extLst>
          </p:cNvPr>
          <p:cNvSpPr txBox="1"/>
          <p:nvPr/>
        </p:nvSpPr>
        <p:spPr>
          <a:xfrm>
            <a:off x="586448" y="2201097"/>
            <a:ext cx="2255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&lt;input type="text"&gt; 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DA1C455-5D1F-7649-198C-F9C6D57C0A90}"/>
              </a:ext>
            </a:extLst>
          </p:cNvPr>
          <p:cNvSpPr/>
          <p:nvPr/>
        </p:nvSpPr>
        <p:spPr>
          <a:xfrm>
            <a:off x="3228683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D33A9D1-738C-C0DB-D73E-4CC0129D85E6}"/>
              </a:ext>
            </a:extLst>
          </p:cNvPr>
          <p:cNvSpPr/>
          <p:nvPr/>
        </p:nvSpPr>
        <p:spPr>
          <a:xfrm>
            <a:off x="3228683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C62D033-50F4-465A-C4AC-8461A25AEABB}"/>
              </a:ext>
            </a:extLst>
          </p:cNvPr>
          <p:cNvSpPr/>
          <p:nvPr/>
        </p:nvSpPr>
        <p:spPr>
          <a:xfrm>
            <a:off x="3337268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endParaRPr lang="pt-BR" sz="900" noProof="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B10D07A-7A95-8E1F-5ED0-AEA9DCCF2B7A}"/>
              </a:ext>
            </a:extLst>
          </p:cNvPr>
          <p:cNvSpPr/>
          <p:nvPr/>
        </p:nvSpPr>
        <p:spPr>
          <a:xfrm>
            <a:off x="3337268" y="1641306"/>
            <a:ext cx="2550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</a:t>
            </a:r>
            <a:endParaRPr lang="pt-BR" sz="1600" noProof="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6EC44A1-8211-DA10-6A95-3A5D9DED5118}"/>
              </a:ext>
            </a:extLst>
          </p:cNvPr>
          <p:cNvSpPr/>
          <p:nvPr/>
        </p:nvSpPr>
        <p:spPr>
          <a:xfrm>
            <a:off x="3337268" y="3057772"/>
            <a:ext cx="2459356" cy="602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letras. O ‘</a:t>
            </a:r>
            <a:r>
              <a:rPr lang="pt-BR" sz="12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step’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permite casas decimais (ideal para preço).</a:t>
            </a:r>
            <a:endParaRPr lang="pt-BR" sz="1200" noProof="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3D1F9CD-439B-B37F-1171-958602C946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37268" y="2094377"/>
            <a:ext cx="2459356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BA59BD3-DBC7-3347-C37D-8F73A1DD4474}"/>
              </a:ext>
            </a:extLst>
          </p:cNvPr>
          <p:cNvSpPr txBox="1"/>
          <p:nvPr/>
        </p:nvSpPr>
        <p:spPr>
          <a:xfrm>
            <a:off x="3337268" y="2201097"/>
            <a:ext cx="2459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&lt;input type="number" step="0.01"&gt;</a:t>
            </a:r>
            <a:endParaRPr lang="pt-BR" sz="1200" b="0" i="0" dirty="0">
              <a:solidFill>
                <a:srgbClr val="00F2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DC2BC24-B75F-33F0-1CE8-A10205C80E21}"/>
              </a:ext>
            </a:extLst>
          </p:cNvPr>
          <p:cNvSpPr/>
          <p:nvPr/>
        </p:nvSpPr>
        <p:spPr>
          <a:xfrm>
            <a:off x="6013793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64CD399E-66CF-6DE8-1E07-A6E11CAC955B}"/>
              </a:ext>
            </a:extLst>
          </p:cNvPr>
          <p:cNvSpPr/>
          <p:nvPr/>
        </p:nvSpPr>
        <p:spPr>
          <a:xfrm>
            <a:off x="6013793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264931B-159D-0B69-B7DA-76695EBBE730}"/>
              </a:ext>
            </a:extLst>
          </p:cNvPr>
          <p:cNvSpPr/>
          <p:nvPr/>
        </p:nvSpPr>
        <p:spPr>
          <a:xfrm>
            <a:off x="6122378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pt-BR" sz="900" noProof="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F6C9638-B0DE-249B-7893-DEB2A5C0C51A}"/>
              </a:ext>
            </a:extLst>
          </p:cNvPr>
          <p:cNvSpPr/>
          <p:nvPr/>
        </p:nvSpPr>
        <p:spPr>
          <a:xfrm>
            <a:off x="6122378" y="1641306"/>
            <a:ext cx="2550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URL</a:t>
            </a:r>
            <a:endParaRPr lang="pt-BR" sz="1600" noProof="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9F83199-42E4-E6EF-83EC-2808369CE645}"/>
              </a:ext>
            </a:extLst>
          </p:cNvPr>
          <p:cNvSpPr/>
          <p:nvPr/>
        </p:nvSpPr>
        <p:spPr>
          <a:xfrm>
            <a:off x="6122378" y="3057771"/>
            <a:ext cx="2452319" cy="803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navegador valida automaticamente se o que foi digitado tem formato de link (http://...).</a:t>
            </a:r>
            <a:endParaRPr lang="pt-BR" sz="1200" noProof="0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670C2B5-5904-E6B6-FC55-9F62249BDA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139523" y="2094377"/>
            <a:ext cx="2255227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C613657-2575-3D11-E7C9-BDCD28BC7EB4}"/>
              </a:ext>
            </a:extLst>
          </p:cNvPr>
          <p:cNvSpPr txBox="1"/>
          <p:nvPr/>
        </p:nvSpPr>
        <p:spPr>
          <a:xfrm>
            <a:off x="6139523" y="2201097"/>
            <a:ext cx="2255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&lt;input type="url"&gt;</a:t>
            </a:r>
          </a:p>
        </p:txBody>
      </p:sp>
    </p:spTree>
    <p:extLst>
      <p:ext uri="{BB962C8B-B14F-4D97-AF65-F5344CB8AC3E}">
        <p14:creationId xmlns:p14="http://schemas.microsoft.com/office/powerpoint/2010/main" val="373310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B482E-C7F9-D1DF-43E2-AA3493F1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D6FC34-28A5-DB27-0BCD-2D275EFBD335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224626-C59C-CBD5-2B94-964A48570709}"/>
              </a:ext>
            </a:extLst>
          </p:cNvPr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Atributos Essenciais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5C5B29-B56F-5E9E-7B36-E5275318A9D5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2F1C6D-1F38-3B55-B007-0A429BE95974}"/>
              </a:ext>
            </a:extLst>
          </p:cNvPr>
          <p:cNvSpPr/>
          <p:nvPr/>
        </p:nvSpPr>
        <p:spPr>
          <a:xfrm>
            <a:off x="460718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424887-B670-7CB7-7DAC-61171D873917}"/>
              </a:ext>
            </a:extLst>
          </p:cNvPr>
          <p:cNvSpPr/>
          <p:nvPr/>
        </p:nvSpPr>
        <p:spPr>
          <a:xfrm>
            <a:off x="460718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2FBCC1-786D-AC6C-A904-02AEF5507917}"/>
              </a:ext>
            </a:extLst>
          </p:cNvPr>
          <p:cNvSpPr/>
          <p:nvPr/>
        </p:nvSpPr>
        <p:spPr>
          <a:xfrm>
            <a:off x="569303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0B84CC-F27F-3F9A-5923-44DABAC9952F}"/>
              </a:ext>
            </a:extLst>
          </p:cNvPr>
          <p:cNvSpPr/>
          <p:nvPr/>
        </p:nvSpPr>
        <p:spPr>
          <a:xfrm>
            <a:off x="569303" y="1641306"/>
            <a:ext cx="25336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Required</a:t>
            </a:r>
            <a:endParaRPr lang="pt-BR" sz="16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BC6084-CB02-E951-B667-9F2C30DE05A1}"/>
              </a:ext>
            </a:extLst>
          </p:cNvPr>
          <p:cNvSpPr/>
          <p:nvPr/>
        </p:nvSpPr>
        <p:spPr>
          <a:xfrm>
            <a:off x="569303" y="3057771"/>
            <a:ext cx="2462285" cy="942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nativa do HTML. Impede o envio se estiver vazio e exibe uma mensagem de erro sem precisar de código JavaScript.</a:t>
            </a:r>
            <a:endParaRPr lang="pt-BR" sz="1200" noProof="0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8EFEB35-9A13-55D2-340C-8A38FE6F95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86448" y="2094377"/>
            <a:ext cx="2255227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DF42F38-F77C-B9CF-2E41-96125E2D6B06}"/>
              </a:ext>
            </a:extLst>
          </p:cNvPr>
          <p:cNvSpPr txBox="1"/>
          <p:nvPr/>
        </p:nvSpPr>
        <p:spPr>
          <a:xfrm>
            <a:off x="586448" y="2236267"/>
            <a:ext cx="2255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required 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949E7EBD-025E-C164-CE4F-FD8B52198E16}"/>
              </a:ext>
            </a:extLst>
          </p:cNvPr>
          <p:cNvSpPr/>
          <p:nvPr/>
        </p:nvSpPr>
        <p:spPr>
          <a:xfrm>
            <a:off x="3228683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AA0355B-BDC3-664B-046E-7FD2B8BEF191}"/>
              </a:ext>
            </a:extLst>
          </p:cNvPr>
          <p:cNvSpPr/>
          <p:nvPr/>
        </p:nvSpPr>
        <p:spPr>
          <a:xfrm>
            <a:off x="3228683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8873D6A-A8D3-201F-2436-73BD7DF6E657}"/>
              </a:ext>
            </a:extLst>
          </p:cNvPr>
          <p:cNvSpPr/>
          <p:nvPr/>
        </p:nvSpPr>
        <p:spPr>
          <a:xfrm>
            <a:off x="3337268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pt-BR" sz="900" noProof="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8E035BE3-213E-B7E1-8735-8BA619CC78BC}"/>
              </a:ext>
            </a:extLst>
          </p:cNvPr>
          <p:cNvSpPr/>
          <p:nvPr/>
        </p:nvSpPr>
        <p:spPr>
          <a:xfrm>
            <a:off x="3337268" y="1641306"/>
            <a:ext cx="2550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pt-BR" sz="1600" noProof="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D9F76BC-F7DE-B3D0-8902-8A7D2D96F4C7}"/>
              </a:ext>
            </a:extLst>
          </p:cNvPr>
          <p:cNvSpPr/>
          <p:nvPr/>
        </p:nvSpPr>
        <p:spPr>
          <a:xfrm>
            <a:off x="3337268" y="3057772"/>
            <a:ext cx="2459356" cy="602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a informação na hora de enviar para o servidor.</a:t>
            </a:r>
            <a:endParaRPr lang="pt-BR" sz="1200" noProof="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34440EE-B2E0-55FE-CDA8-F6DD2AD76C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37268" y="2094377"/>
            <a:ext cx="2459356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670F8DF-895A-5D38-433F-0CD080901475}"/>
              </a:ext>
            </a:extLst>
          </p:cNvPr>
          <p:cNvSpPr txBox="1"/>
          <p:nvPr/>
        </p:nvSpPr>
        <p:spPr>
          <a:xfrm>
            <a:off x="3337268" y="2243301"/>
            <a:ext cx="2459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name</a:t>
            </a:r>
            <a:endParaRPr lang="pt-BR" sz="1200" b="0" i="0" dirty="0">
              <a:solidFill>
                <a:srgbClr val="00F2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982FA9EA-43CC-53B2-9CBA-3DED51B06CEC}"/>
              </a:ext>
            </a:extLst>
          </p:cNvPr>
          <p:cNvSpPr/>
          <p:nvPr/>
        </p:nvSpPr>
        <p:spPr>
          <a:xfrm>
            <a:off x="6013793" y="1325879"/>
            <a:ext cx="2659380" cy="3636646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F777D35C-DDBE-1B06-1BBF-854CA9111532}"/>
              </a:ext>
            </a:extLst>
          </p:cNvPr>
          <p:cNvSpPr/>
          <p:nvPr/>
        </p:nvSpPr>
        <p:spPr>
          <a:xfrm>
            <a:off x="6013793" y="1325880"/>
            <a:ext cx="265938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3C7A4645-755F-14CE-959A-76C7C342D5DB}"/>
              </a:ext>
            </a:extLst>
          </p:cNvPr>
          <p:cNvSpPr/>
          <p:nvPr/>
        </p:nvSpPr>
        <p:spPr>
          <a:xfrm>
            <a:off x="6122378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ID</a:t>
            </a:r>
            <a:endParaRPr lang="pt-BR" sz="900" noProof="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65218104-8204-AD6C-8C3A-5DED21DDD439}"/>
              </a:ext>
            </a:extLst>
          </p:cNvPr>
          <p:cNvSpPr/>
          <p:nvPr/>
        </p:nvSpPr>
        <p:spPr>
          <a:xfrm>
            <a:off x="6122378" y="1641306"/>
            <a:ext cx="2550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Id</a:t>
            </a:r>
            <a:endParaRPr lang="pt-BR" sz="1600" noProof="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4A1F57F-ADA1-AAB4-6E4B-75E74ED3CDCA}"/>
              </a:ext>
            </a:extLst>
          </p:cNvPr>
          <p:cNvSpPr/>
          <p:nvPr/>
        </p:nvSpPr>
        <p:spPr>
          <a:xfrm>
            <a:off x="6122378" y="3057771"/>
            <a:ext cx="2452319" cy="803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o elemento na tela para ser modificado pelo CSS ou JavaScript.</a:t>
            </a:r>
            <a:endParaRPr lang="pt-BR" sz="1200" noProof="0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57ED495-56A2-9B75-6761-C3E3155170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139523" y="2094377"/>
            <a:ext cx="2255227" cy="6022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9165EEA-FBDF-31D0-6229-126BF7C946FB}"/>
              </a:ext>
            </a:extLst>
          </p:cNvPr>
          <p:cNvSpPr txBox="1"/>
          <p:nvPr/>
        </p:nvSpPr>
        <p:spPr>
          <a:xfrm>
            <a:off x="6139523" y="2236267"/>
            <a:ext cx="2255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i="0" dirty="0">
                <a:solidFill>
                  <a:srgbClr val="00F2FF"/>
                </a:solidFill>
                <a:effectLst/>
                <a:latin typeface="Courier New" panose="02070309020205020404" pitchFamily="49" charset="0"/>
              </a:rP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399231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48640"/>
            <a:ext cx="83762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A tag 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325880"/>
            <a:ext cx="8380828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333500"/>
            <a:ext cx="838082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552659" y="1440722"/>
            <a:ext cx="8042701" cy="778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Usada quando o usuário precisa digitar parágrafos inteiros (como a descrição do produto).</a:t>
            </a:r>
            <a:endParaRPr lang="pt-BR" sz="1400" b="1" i="1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078676F-662D-4338-AFD6-87BBC65B91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1708" y="3052203"/>
            <a:ext cx="7932211" cy="7860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12EAB7-836D-44EE-AF39-03D64994FBB0}"/>
              </a:ext>
            </a:extLst>
          </p:cNvPr>
          <p:cNvSpPr txBox="1"/>
          <p:nvPr/>
        </p:nvSpPr>
        <p:spPr>
          <a:xfrm>
            <a:off x="567730" y="3278826"/>
            <a:ext cx="7888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61ECFB"/>
                </a:solidFill>
                <a:latin typeface="Courier New" panose="02070309020205020404" pitchFamily="49" charset="0"/>
              </a:rPr>
              <a:t>&lt;textarea id="descricao" name="descricao" rows="4" required&gt;&lt;/textarea&gt;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5CD959C-3AF9-4815-8197-8ED4C6BC683C}"/>
              </a:ext>
            </a:extLst>
          </p:cNvPr>
          <p:cNvSpPr/>
          <p:nvPr/>
        </p:nvSpPr>
        <p:spPr>
          <a:xfrm>
            <a:off x="582524" y="1951595"/>
            <a:ext cx="20654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b="1" dirty="0">
                <a:solidFill>
                  <a:srgbClr val="E1E1E6"/>
                </a:solidFill>
                <a:latin typeface="Arial Black" pitchFamily="34" charset="0"/>
              </a:rPr>
              <a:t>Destaques:</a:t>
            </a:r>
            <a:endParaRPr lang="pt-BR" noProof="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D2B617F2-F68C-40AD-9315-2F40434FB50C}"/>
              </a:ext>
            </a:extLst>
          </p:cNvPr>
          <p:cNvSpPr/>
          <p:nvPr/>
        </p:nvSpPr>
        <p:spPr>
          <a:xfrm>
            <a:off x="582525" y="2340755"/>
            <a:ext cx="7793760" cy="583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Diferente do </a:t>
            </a:r>
            <a:r>
              <a:rPr lang="pt-BR" sz="1400" b="1" i="1" dirty="0">
                <a:solidFill>
                  <a:srgbClr val="D1D1D1"/>
                </a:solidFill>
                <a:effectLst/>
                <a:latin typeface="Inter"/>
              </a:rPr>
              <a:t>input</a:t>
            </a:r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, ela precisa de uma tag de fechamento </a:t>
            </a:r>
            <a:r>
              <a:rPr lang="pt-BR" sz="1400" b="1" i="1" dirty="0">
                <a:solidFill>
                  <a:srgbClr val="D1D1D1"/>
                </a:solidFill>
                <a:effectLst/>
                <a:latin typeface="Inter"/>
              </a:rPr>
              <a:t>&lt;/textarea&gt;</a:t>
            </a:r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. O atributo </a:t>
            </a:r>
            <a:r>
              <a:rPr lang="pt-BR" sz="1400" b="0" i="1" dirty="0">
                <a:solidFill>
                  <a:srgbClr val="D1D1D1"/>
                </a:solidFill>
                <a:effectLst/>
                <a:latin typeface="Inter"/>
              </a:rPr>
              <a:t>rows="4" </a:t>
            </a:r>
            <a:r>
              <a:rPr lang="pt-BR" sz="1400" b="0" i="0" dirty="0">
                <a:solidFill>
                  <a:srgbClr val="D1D1D1"/>
                </a:solidFill>
                <a:effectLst/>
                <a:latin typeface="Inter"/>
              </a:rPr>
              <a:t>define a altura inicial na tela.</a:t>
            </a: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6978F3B7-5ECB-A85F-3278-0C571C3577EB}"/>
              </a:ext>
            </a:extLst>
          </p:cNvPr>
          <p:cNvSpPr/>
          <p:nvPr/>
        </p:nvSpPr>
        <p:spPr>
          <a:xfrm>
            <a:off x="4726744" y="652562"/>
            <a:ext cx="1561514" cy="363358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CC04BE7A-E3B6-9D8A-0137-4650688A6B4E}"/>
              </a:ext>
            </a:extLst>
          </p:cNvPr>
          <p:cNvSpPr/>
          <p:nvPr/>
        </p:nvSpPr>
        <p:spPr>
          <a:xfrm>
            <a:off x="4726744" y="657766"/>
            <a:ext cx="1561514" cy="323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20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&lt;textarea&gt;</a:t>
            </a:r>
          </a:p>
        </p:txBody>
      </p:sp>
    </p:spTree>
    <p:extLst>
      <p:ext uri="{BB962C8B-B14F-4D97-AF65-F5344CB8AC3E}">
        <p14:creationId xmlns:p14="http://schemas.microsoft.com/office/powerpoint/2010/main" val="104685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B065D-0F84-9E81-07A1-6097150D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9DE7FB-7341-8CDD-7794-67639D5E0F10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ENVIO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558B7F-87D1-9FB2-EF5A-512AF4D1B5F2}"/>
              </a:ext>
            </a:extLst>
          </p:cNvPr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Submit e Notificações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EFEB21-993D-F2E3-CFE6-29EECA08BEF6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104536-4A22-4BEC-651C-6E4EA0520D9E}"/>
              </a:ext>
            </a:extLst>
          </p:cNvPr>
          <p:cNvSpPr/>
          <p:nvPr/>
        </p:nvSpPr>
        <p:spPr>
          <a:xfrm>
            <a:off x="884254" y="1349819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040DF7-680F-13CE-4208-9A8DAAB83707}"/>
              </a:ext>
            </a:extLst>
          </p:cNvPr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8D1EE5-99B0-4DEB-7287-6DC2FC5F7A11}"/>
              </a:ext>
            </a:extLst>
          </p:cNvPr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B9CD8B-293C-988B-A86F-EC56299FCA12}"/>
              </a:ext>
            </a:extLst>
          </p:cNvPr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D7D8E9-8493-D948-F887-443614613DBC}"/>
              </a:ext>
            </a:extLst>
          </p:cNvPr>
          <p:cNvSpPr/>
          <p:nvPr/>
        </p:nvSpPr>
        <p:spPr>
          <a:xfrm>
            <a:off x="1857376" y="1980478"/>
            <a:ext cx="5257800" cy="1244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“submit“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“btn-submit"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“toast"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salvo com sucesso!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E7BAB9EF-AED2-882B-88FD-080BE8408789}"/>
              </a:ext>
            </a:extLst>
          </p:cNvPr>
          <p:cNvSpPr/>
          <p:nvPr/>
        </p:nvSpPr>
        <p:spPr>
          <a:xfrm>
            <a:off x="884254" y="3487533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Principal: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                            no botão transforma o clique no gatilho que ativa o formulário inteiro. O elemento             ficará escondido pelo CSS e aparecerá com JavaScript para dar um feedback de sucesso ao usuário.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8168F21-D77A-66EC-15B1-2A28D04978FA}"/>
              </a:ext>
            </a:extLst>
          </p:cNvPr>
          <p:cNvSpPr/>
          <p:nvPr/>
        </p:nvSpPr>
        <p:spPr>
          <a:xfrm>
            <a:off x="1160578" y="3853293"/>
            <a:ext cx="1280167" cy="160688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99363A-9F5E-BA8C-A19B-464DB1D5EFED}"/>
              </a:ext>
            </a:extLst>
          </p:cNvPr>
          <p:cNvSpPr/>
          <p:nvPr/>
        </p:nvSpPr>
        <p:spPr>
          <a:xfrm rot="10800000" flipV="1">
            <a:off x="1160577" y="3853293"/>
            <a:ext cx="1336438" cy="14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</a:t>
            </a:r>
            <a:r>
              <a:rPr lang="pt-BR" sz="10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type="submit"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&gt;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9ECA22E-0F10-1F47-68FE-1AAD8DDB17FE}"/>
              </a:ext>
            </a:extLst>
          </p:cNvPr>
          <p:cNvSpPr/>
          <p:nvPr/>
        </p:nvSpPr>
        <p:spPr>
          <a:xfrm>
            <a:off x="1920240" y="4060105"/>
            <a:ext cx="54864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F691171-098F-4B92-D296-07231EF9638A}"/>
              </a:ext>
            </a:extLst>
          </p:cNvPr>
          <p:cNvSpPr/>
          <p:nvPr/>
        </p:nvSpPr>
        <p:spPr>
          <a:xfrm>
            <a:off x="1920240" y="4070153"/>
            <a:ext cx="548640" cy="164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.toast</a:t>
            </a:r>
          </a:p>
        </p:txBody>
      </p:sp>
    </p:spTree>
    <p:extLst>
      <p:ext uri="{BB962C8B-B14F-4D97-AF65-F5344CB8AC3E}">
        <p14:creationId xmlns:p14="http://schemas.microsoft.com/office/powerpoint/2010/main" val="378100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849C7-B67C-85E8-731B-6506AF51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03F491-BC37-B709-44B2-7D2759356A39}"/>
              </a:ext>
            </a:extLst>
          </p:cNvPr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ENVIO</a:t>
            </a:r>
            <a:endParaRPr lang="pt-BR" sz="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749FE5-0A04-A7FF-06F4-3B2F0E9BC448}"/>
              </a:ext>
            </a:extLst>
          </p:cNvPr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</a:rPr>
              <a:t>Conectando ao JavaScript</a:t>
            </a:r>
            <a:endParaRPr lang="pt-BR" sz="2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655095-7EDC-531C-FDE0-911EE72F6027}"/>
              </a:ext>
            </a:extLst>
          </p:cNvPr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EFCCEA-A75F-E430-C2E1-8E9E64176C1E}"/>
              </a:ext>
            </a:extLst>
          </p:cNvPr>
          <p:cNvSpPr/>
          <p:nvPr/>
        </p:nvSpPr>
        <p:spPr>
          <a:xfrm>
            <a:off x="884254" y="1349819"/>
            <a:ext cx="7264959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B3243AE-8FB1-A47E-E307-C519A63F5FF4}"/>
              </a:ext>
            </a:extLst>
          </p:cNvPr>
          <p:cNvSpPr/>
          <p:nvPr/>
        </p:nvSpPr>
        <p:spPr>
          <a:xfrm>
            <a:off x="884254" y="1325880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6A136E-7C40-DDA5-7330-ED8F9B519609}"/>
              </a:ext>
            </a:extLst>
          </p:cNvPr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pt-BR" sz="9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5F5E49-E3EA-0D90-571E-5EC588704E2B}"/>
              </a:ext>
            </a:extLst>
          </p:cNvPr>
          <p:cNvSpPr/>
          <p:nvPr/>
        </p:nvSpPr>
        <p:spPr>
          <a:xfrm>
            <a:off x="910385" y="170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579761-E923-DC1C-6BEC-EFA7FC29CF18}"/>
              </a:ext>
            </a:extLst>
          </p:cNvPr>
          <p:cNvSpPr/>
          <p:nvPr/>
        </p:nvSpPr>
        <p:spPr>
          <a:xfrm>
            <a:off x="1857376" y="2230734"/>
            <a:ext cx="5257800" cy="1256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&amp;copy; 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| E-commerce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</a:t>
            </a:r>
            <a:r>
              <a:rPr lang="pt-BR" sz="1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r>
              <a:rPr lang="pt-B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pt-BR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“script.js"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</a:t>
            </a:r>
            <a:r>
              <a:rPr lang="pt-BR" sz="1200" dirty="0">
                <a:solidFill>
                  <a:srgbClr val="026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</a:p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73DEB959-D40E-ABC3-142F-302BB8DA8087}"/>
              </a:ext>
            </a:extLst>
          </p:cNvPr>
          <p:cNvSpPr/>
          <p:nvPr/>
        </p:nvSpPr>
        <p:spPr>
          <a:xfrm>
            <a:off x="884254" y="3487533"/>
            <a:ext cx="7264960" cy="1097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b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arquivo          é importado no final do documento (logo antes de fechar o            .</a:t>
            </a:r>
          </a:p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garante que todo o HTML do formulário já tenha sido carregado pelo navegador antes do script tentar manipulá-lo.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13074E4-EDA2-CC1C-E52A-69171BBD6B1B}"/>
              </a:ext>
            </a:extLst>
          </p:cNvPr>
          <p:cNvSpPr/>
          <p:nvPr/>
        </p:nvSpPr>
        <p:spPr>
          <a:xfrm>
            <a:off x="1799664" y="3849090"/>
            <a:ext cx="365760" cy="184606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F692191-9E64-930D-904A-0F45A71CB4A3}"/>
              </a:ext>
            </a:extLst>
          </p:cNvPr>
          <p:cNvSpPr/>
          <p:nvPr/>
        </p:nvSpPr>
        <p:spPr>
          <a:xfrm>
            <a:off x="1799664" y="3839042"/>
            <a:ext cx="365760" cy="184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0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.js</a:t>
            </a:r>
            <a:endParaRPr lang="pt-BR" sz="1000" noProof="0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8B27A83-BDBD-4915-8A0C-AAD57BF9207F}"/>
              </a:ext>
            </a:extLst>
          </p:cNvPr>
          <p:cNvSpPr/>
          <p:nvPr/>
        </p:nvSpPr>
        <p:spPr>
          <a:xfrm>
            <a:off x="6880046" y="3849090"/>
            <a:ext cx="505494" cy="15579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F0238ED-8D87-4824-ADD6-9085D15B47B9}"/>
              </a:ext>
            </a:extLst>
          </p:cNvPr>
          <p:cNvSpPr/>
          <p:nvPr/>
        </p:nvSpPr>
        <p:spPr>
          <a:xfrm>
            <a:off x="6880046" y="3849090"/>
            <a:ext cx="505494" cy="14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0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&lt;body&gt;</a:t>
            </a:r>
            <a:endParaRPr lang="pt-BR" sz="1000" noProof="0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7465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481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</a:t>
            </a:r>
          </a:p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E</a:t>
            </a:r>
          </a:p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</a:rPr>
              <a:t>Desafio</a:t>
            </a:r>
            <a:endParaRPr lang="pt-BR" sz="30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 flipH="1">
            <a:off x="2662976" y="1076287"/>
            <a:ext cx="45719" cy="2460734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E57B18-E019-4736-9547-8A6E407F53CE}"/>
              </a:ext>
            </a:extLst>
          </p:cNvPr>
          <p:cNvSpPr txBox="1"/>
          <p:nvPr/>
        </p:nvSpPr>
        <p:spPr>
          <a:xfrm>
            <a:off x="2775372" y="992283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Exercício Prático</a:t>
            </a:r>
            <a:endParaRPr lang="pt-BR" sz="2600" noProof="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B6DEED-F2A3-40A7-BB9E-AA0A7BF7FB49}"/>
              </a:ext>
            </a:extLst>
          </p:cNvPr>
          <p:cNvSpPr txBox="1"/>
          <p:nvPr/>
        </p:nvSpPr>
        <p:spPr>
          <a:xfrm>
            <a:off x="2708696" y="2633766"/>
            <a:ext cx="61539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um campo "Categoria" (texto).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um campo "Quantidade em estoque" (número).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o campo da URL da imagem opcional (remover o required).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um botão que limpa todos os campos.</a:t>
            </a:r>
          </a:p>
          <a:p>
            <a:pPr marL="342900" indent="-342900">
              <a:buFont typeface="+mj-lt"/>
              <a:buAutoNum type="arabicPeriod"/>
            </a:pP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B8DAA4-164B-4C91-A7B0-DE279F731CB9}"/>
              </a:ext>
            </a:extLst>
          </p:cNvPr>
          <p:cNvSpPr txBox="1"/>
          <p:nvPr/>
        </p:nvSpPr>
        <p:spPr>
          <a:xfrm>
            <a:off x="2775372" y="1615501"/>
            <a:ext cx="4893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Criamos a base com form, inputs, labels e textareas, além de aplicar validação nativa</a:t>
            </a:r>
            <a:r>
              <a:rPr lang="pt-BR" sz="1400" dirty="0">
                <a:solidFill>
                  <a:srgbClr val="A8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1400" dirty="0">
              <a:solidFill>
                <a:srgbClr val="A8A8B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b="1" dirty="0">
                <a:solidFill>
                  <a:srgbClr val="A8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Missão do Aluno: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1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2405</TotalTime>
  <Words>1065</Words>
  <Application>Microsoft Office PowerPoint</Application>
  <PresentationFormat>Apresentação na tela (16:9)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Black</vt:lpstr>
      <vt:lpstr>Calibri</vt:lpstr>
      <vt:lpstr>Courier New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Higor Claro</dc:creator>
  <cp:lastModifiedBy>Higor  Claro</cp:lastModifiedBy>
  <cp:revision>33</cp:revision>
  <dcterms:created xsi:type="dcterms:W3CDTF">2026-05-09T09:39:54Z</dcterms:created>
  <dcterms:modified xsi:type="dcterms:W3CDTF">2026-06-08T14:26:09Z</dcterms:modified>
</cp:coreProperties>
</file>