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9" r:id="rId3"/>
    <p:sldId id="262" r:id="rId4"/>
    <p:sldId id="263" r:id="rId5"/>
    <p:sldId id="258" r:id="rId6"/>
    <p:sldId id="264" r:id="rId7"/>
    <p:sldId id="261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ADE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3613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39AAE-DAE2-E356-4247-FF5709131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5A2437-3373-6C0E-7A56-55C6ECA0DB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2F06A0-AB38-6537-2096-2F6DAEE377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577288-C66A-A51D-0F63-16C2DF8CC3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9343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3C670-D1C3-A649-613F-1573B3333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8CB4A7-F576-B8C7-2EE5-412ADB045C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25CBAF-F7DE-181D-D07B-47F3C7A1F3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A9C7B2-D28B-B8FB-3361-A396EC3001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7334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FB6D4-6C28-2F16-16B4-C0F6214F3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35BB24-DF0D-BDD1-09AD-87685F4509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02B6F2-3E95-9A3F-3858-E4E9C13449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D69C97-77C7-5A0D-E8A6-DB9FE906E5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5095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E66D0616-E737-7D0E-0DDE-A82DD51AB1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1" y="0"/>
            <a:ext cx="9140557" cy="5143500"/>
          </a:xfrm>
          <a:prstGeom prst="rect">
            <a:avLst/>
          </a:prstGeom>
        </p:spPr>
      </p:pic>
      <p:sp>
        <p:nvSpPr>
          <p:cNvPr id="3" name="Shape 1"/>
          <p:cNvSpPr/>
          <p:nvPr/>
        </p:nvSpPr>
        <p:spPr>
          <a:xfrm>
            <a:off x="3200400" y="914400"/>
            <a:ext cx="2743200" cy="310896"/>
          </a:xfrm>
          <a:prstGeom prst="roundRect">
            <a:avLst>
              <a:gd name="adj" fmla="val 14706"/>
            </a:avLst>
          </a:prstGeom>
          <a:solidFill>
            <a:srgbClr val="4ADE80">
              <a:alpha val="5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" name="Text 2"/>
          <p:cNvSpPr/>
          <p:nvPr/>
        </p:nvSpPr>
        <p:spPr>
          <a:xfrm>
            <a:off x="3200400" y="9144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800" kern="0" spc="3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MÓDULO 01  ·  HTML</a:t>
            </a:r>
            <a:endParaRPr lang="pt-BR" sz="800" noProof="0" dirty="0"/>
          </a:p>
        </p:txBody>
      </p:sp>
      <p:sp>
        <p:nvSpPr>
          <p:cNvPr id="5" name="Text 3"/>
          <p:cNvSpPr/>
          <p:nvPr/>
        </p:nvSpPr>
        <p:spPr>
          <a:xfrm>
            <a:off x="1097280" y="1463040"/>
            <a:ext cx="6949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4000" b="1" noProof="0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Introdução ao HTML</a:t>
            </a:r>
            <a:endParaRPr lang="pt-BR" sz="4000" noProof="0" dirty="0">
              <a:solidFill>
                <a:srgbClr val="4ADE8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1371600" y="35661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4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esqueleto de toda página web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0F1F0F"/>
          </a:solidFill>
          <a:ln w="3810">
            <a:solidFill>
              <a:srgbClr val="4ADE8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4ADE80">
              <a:alpha val="4000"/>
            </a:srgbClr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91440" y="1645920"/>
            <a:ext cx="2103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3000" b="1" noProof="0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HTML</a:t>
            </a:r>
            <a:endParaRPr lang="pt-BR" sz="3000" noProof="0" dirty="0"/>
          </a:p>
        </p:txBody>
      </p:sp>
      <p:sp>
        <p:nvSpPr>
          <p:cNvPr id="7" name="Text 5"/>
          <p:cNvSpPr/>
          <p:nvPr/>
        </p:nvSpPr>
        <p:spPr>
          <a:xfrm>
            <a:off x="2651760" y="640080"/>
            <a:ext cx="6126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E1E1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que é HTML?</a:t>
            </a:r>
            <a:endParaRPr lang="pt-BR" sz="2600" noProof="0" dirty="0"/>
          </a:p>
        </p:txBody>
      </p:sp>
      <p:sp>
        <p:nvSpPr>
          <p:cNvPr id="8" name="Shape 6"/>
          <p:cNvSpPr/>
          <p:nvPr/>
        </p:nvSpPr>
        <p:spPr>
          <a:xfrm>
            <a:off x="2651760" y="1417320"/>
            <a:ext cx="45720" cy="1554480"/>
          </a:xfrm>
          <a:prstGeom prst="rect">
            <a:avLst/>
          </a:prstGeom>
          <a:solidFill>
            <a:srgbClr val="2E2E38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Text 7"/>
          <p:cNvSpPr/>
          <p:nvPr/>
        </p:nvSpPr>
        <p:spPr>
          <a:xfrm>
            <a:off x="2816352" y="1417320"/>
            <a:ext cx="5943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13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r>
              <a:rPr lang="pt-BR" sz="13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TML significa </a:t>
            </a:r>
            <a:r>
              <a:rPr lang="pt-BR" sz="1300" b="1" noProof="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HyperText</a:t>
            </a:r>
            <a:r>
              <a:rPr lang="pt-BR" sz="1300" b="1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Markup </a:t>
            </a:r>
            <a:r>
              <a:rPr lang="pt-BR" sz="1300" b="1" noProof="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r>
              <a:rPr lang="pt-BR" sz="13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em português, Linguagem de Marcação de Hipertexto.</a:t>
            </a:r>
          </a:p>
          <a:p>
            <a:pPr marL="0" indent="0">
              <a:buNone/>
            </a:pPr>
            <a:endParaRPr lang="pt-BR" sz="1300" noProof="0" dirty="0">
              <a:solidFill>
                <a:srgbClr val="A8A8B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pt-BR" sz="13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é uma linguagem de programação. Você não vai escrever lógica, condições ou loops em HTML. O que o HTML faz é </a:t>
            </a:r>
            <a:r>
              <a:rPr lang="pt-BR" sz="1300" b="1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estruturar o conteúdo</a:t>
            </a:r>
            <a:r>
              <a:rPr lang="pt-BR" sz="13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uma página web: diz ao navegador o que é um título, o que é um parágrafo, o que é uma imagem, o que é um link.</a:t>
            </a:r>
          </a:p>
        </p:txBody>
      </p:sp>
      <p:sp>
        <p:nvSpPr>
          <p:cNvPr id="10" name="Shape 8"/>
          <p:cNvSpPr/>
          <p:nvPr/>
        </p:nvSpPr>
        <p:spPr>
          <a:xfrm>
            <a:off x="2651760" y="3154680"/>
            <a:ext cx="1097280" cy="256032"/>
          </a:xfrm>
          <a:prstGeom prst="roundRect">
            <a:avLst>
              <a:gd name="adj" fmla="val 14286"/>
            </a:avLst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9"/>
          <p:cNvSpPr/>
          <p:nvPr/>
        </p:nvSpPr>
        <p:spPr>
          <a:xfrm>
            <a:off x="2651760" y="31546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cs typeface="Courier New" pitchFamily="34" charset="-120"/>
              </a:rPr>
              <a:t>Estrutura</a:t>
            </a:r>
          </a:p>
        </p:txBody>
      </p:sp>
      <p:sp>
        <p:nvSpPr>
          <p:cNvPr id="12" name="Shape 10"/>
          <p:cNvSpPr/>
          <p:nvPr/>
        </p:nvSpPr>
        <p:spPr>
          <a:xfrm>
            <a:off x="3858768" y="3154680"/>
            <a:ext cx="1097280" cy="256032"/>
          </a:xfrm>
          <a:prstGeom prst="roundRect">
            <a:avLst>
              <a:gd name="adj" fmla="val 14286"/>
            </a:avLst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Text 11"/>
          <p:cNvSpPr/>
          <p:nvPr/>
        </p:nvSpPr>
        <p:spPr>
          <a:xfrm>
            <a:off x="3858768" y="31546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Conteúdo</a:t>
            </a:r>
          </a:p>
        </p:txBody>
      </p:sp>
      <p:sp>
        <p:nvSpPr>
          <p:cNvPr id="14" name="Shape 12"/>
          <p:cNvSpPr/>
          <p:nvPr/>
        </p:nvSpPr>
        <p:spPr>
          <a:xfrm>
            <a:off x="5065776" y="3154680"/>
            <a:ext cx="1098000" cy="256032"/>
          </a:xfrm>
          <a:prstGeom prst="roundRect">
            <a:avLst>
              <a:gd name="adj" fmla="val 14286"/>
            </a:avLst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Text 13"/>
          <p:cNvSpPr/>
          <p:nvPr/>
        </p:nvSpPr>
        <p:spPr>
          <a:xfrm>
            <a:off x="5065775" y="3154680"/>
            <a:ext cx="10979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Navegador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EE9191-75D4-A0CA-7462-50E6B0574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C0EE3FA-0B46-AAA7-7902-2B06E2040C76}"/>
              </a:ext>
            </a:extLst>
          </p:cNvPr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0F1F0F"/>
          </a:solidFill>
          <a:ln w="3810">
            <a:solidFill>
              <a:srgbClr val="4ADE8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E716985-BAEB-7ED1-BBD2-364E04683E1D}"/>
              </a:ext>
            </a:extLst>
          </p:cNvPr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4ADE80">
              <a:alpha val="4000"/>
            </a:srgbClr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81710C5-216D-45C9-BAB2-681860D3E505}"/>
              </a:ext>
            </a:extLst>
          </p:cNvPr>
          <p:cNvSpPr/>
          <p:nvPr/>
        </p:nvSpPr>
        <p:spPr>
          <a:xfrm>
            <a:off x="91440" y="1645920"/>
            <a:ext cx="2103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3000" b="1" noProof="0" dirty="0" err="1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Tags</a:t>
            </a:r>
            <a:endParaRPr lang="pt-BR" sz="3000" noProof="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292A1A4-DA92-9AC8-B223-2B385D5E8305}"/>
              </a:ext>
            </a:extLst>
          </p:cNvPr>
          <p:cNvSpPr/>
          <p:nvPr/>
        </p:nvSpPr>
        <p:spPr>
          <a:xfrm>
            <a:off x="2651760" y="640080"/>
            <a:ext cx="6126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600" b="1" noProof="0" dirty="0" err="1">
                <a:solidFill>
                  <a:srgbClr val="E1E1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Tags</a:t>
            </a:r>
            <a:r>
              <a:rPr lang="pt-BR" sz="2600" b="1" noProof="0" dirty="0">
                <a:solidFill>
                  <a:srgbClr val="E1E1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e Atributos</a:t>
            </a:r>
            <a:endParaRPr lang="pt-BR" sz="2600" noProof="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C2503BDE-9711-BB9E-6C35-85D8D64F0779}"/>
              </a:ext>
            </a:extLst>
          </p:cNvPr>
          <p:cNvSpPr/>
          <p:nvPr/>
        </p:nvSpPr>
        <p:spPr>
          <a:xfrm>
            <a:off x="2642347" y="1417320"/>
            <a:ext cx="46800" cy="1955054"/>
          </a:xfrm>
          <a:prstGeom prst="rect">
            <a:avLst/>
          </a:prstGeom>
          <a:solidFill>
            <a:srgbClr val="2E2E38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2790E2C-D399-855F-F834-F85F0314B947}"/>
              </a:ext>
            </a:extLst>
          </p:cNvPr>
          <p:cNvSpPr/>
          <p:nvPr/>
        </p:nvSpPr>
        <p:spPr>
          <a:xfrm>
            <a:off x="2816352" y="1417320"/>
            <a:ext cx="5943600" cy="19550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13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</a:t>
            </a:r>
            <a:r>
              <a:rPr lang="pt-BR" sz="1300" noProof="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tags</a:t>
            </a:r>
            <a:r>
              <a:rPr lang="pt-BR" sz="13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são os blocos de construção do HTML, representadas por elementos entre sinais de </a:t>
            </a:r>
            <a:r>
              <a:rPr lang="pt-BR" sz="1300" noProof="0" dirty="0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&lt;</a:t>
            </a:r>
            <a:r>
              <a:rPr lang="pt-BR" sz="13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</a:t>
            </a:r>
            <a:r>
              <a:rPr lang="pt-BR" sz="1300" noProof="0" dirty="0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&gt;</a:t>
            </a:r>
            <a:r>
              <a:rPr lang="pt-BR" sz="13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Elas funcionam como etiquetas que dizem ao navegador a função de cada parte do conteúdo, geralmente possuindo uma abertura e um fechamento para envolver a informação.</a:t>
            </a:r>
          </a:p>
          <a:p>
            <a:pPr marL="0" indent="0">
              <a:buNone/>
            </a:pPr>
            <a:endParaRPr lang="pt-BR" sz="1300" noProof="0" dirty="0">
              <a:solidFill>
                <a:srgbClr val="A8A8B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pt-BR" sz="13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refinar esses elementos, utilizamos os atributos. Eles são inseridos dentro da </a:t>
            </a:r>
            <a:r>
              <a:rPr lang="pt-BR" sz="1300" noProof="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</a:t>
            </a:r>
            <a:r>
              <a:rPr lang="pt-BR" sz="13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abertura para fornecer informações adicionais ou configurações específicas — como o destino de um link ou o caminho de uma imagem — seguindo sempre a estrutura padrão </a:t>
            </a:r>
            <a:r>
              <a:rPr lang="pt-BR" sz="1300" noProof="0" dirty="0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nome="valor"</a:t>
            </a:r>
            <a:r>
              <a:rPr lang="pt-BR" sz="13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A769A8E3-81BC-8062-0FE0-FE51E416C13C}"/>
              </a:ext>
            </a:extLst>
          </p:cNvPr>
          <p:cNvSpPr/>
          <p:nvPr/>
        </p:nvSpPr>
        <p:spPr>
          <a:xfrm>
            <a:off x="2651759" y="3498629"/>
            <a:ext cx="1265899" cy="256032"/>
          </a:xfrm>
          <a:prstGeom prst="roundRect">
            <a:avLst>
              <a:gd name="adj" fmla="val 14286"/>
            </a:avLst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5F12775-B74A-D6AD-2B97-BE23CBAA69C5}"/>
              </a:ext>
            </a:extLst>
          </p:cNvPr>
          <p:cNvSpPr/>
          <p:nvPr/>
        </p:nvSpPr>
        <p:spPr>
          <a:xfrm>
            <a:off x="2651759" y="3498629"/>
            <a:ext cx="12658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pt-BR" sz="900" dirty="0" err="1">
                <a:solidFill>
                  <a:srgbClr val="A8A8B3"/>
                </a:solidFill>
                <a:latin typeface="Courier New" pitchFamily="34" charset="0"/>
                <a:cs typeface="Courier New" pitchFamily="34" charset="-120"/>
              </a:rPr>
              <a:t>tag</a:t>
            </a:r>
            <a:r>
              <a:rPr lang="pt-BR" sz="900" dirty="0">
                <a:solidFill>
                  <a:srgbClr val="A8A8B3"/>
                </a:solidFill>
                <a:latin typeface="Courier New" pitchFamily="34" charset="0"/>
                <a:cs typeface="Courier New" pitchFamily="34" charset="-120"/>
              </a:rPr>
              <a:t> de abertura</a:t>
            </a: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52150311-5AF5-C0FD-DD87-51E1BC0FC3CA}"/>
              </a:ext>
            </a:extLst>
          </p:cNvPr>
          <p:cNvSpPr/>
          <p:nvPr/>
        </p:nvSpPr>
        <p:spPr>
          <a:xfrm>
            <a:off x="4027385" y="3498629"/>
            <a:ext cx="1401129" cy="256032"/>
          </a:xfrm>
          <a:prstGeom prst="roundRect">
            <a:avLst>
              <a:gd name="adj" fmla="val 14286"/>
            </a:avLst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24CDB2D-97F9-2777-C3AE-26D2A5881679}"/>
              </a:ext>
            </a:extLst>
          </p:cNvPr>
          <p:cNvSpPr/>
          <p:nvPr/>
        </p:nvSpPr>
        <p:spPr>
          <a:xfrm>
            <a:off x="4027385" y="3498629"/>
            <a:ext cx="14011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noProof="0" dirty="0" err="1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</a:t>
            </a: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 fechamento</a:t>
            </a: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30FD5A95-A81F-0B2A-3D12-E596679F5791}"/>
              </a:ext>
            </a:extLst>
          </p:cNvPr>
          <p:cNvSpPr/>
          <p:nvPr/>
        </p:nvSpPr>
        <p:spPr>
          <a:xfrm>
            <a:off x="5538241" y="3498629"/>
            <a:ext cx="1338684" cy="256032"/>
          </a:xfrm>
          <a:prstGeom prst="roundRect">
            <a:avLst>
              <a:gd name="adj" fmla="val 14286"/>
            </a:avLst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7BEDC58-4A10-0B5D-DC63-7A033DC1643F}"/>
              </a:ext>
            </a:extLst>
          </p:cNvPr>
          <p:cNvSpPr/>
          <p:nvPr/>
        </p:nvSpPr>
        <p:spPr>
          <a:xfrm>
            <a:off x="5538241" y="3498629"/>
            <a:ext cx="13386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dirty="0" err="1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</a:t>
            </a:r>
            <a:r>
              <a:rPr lang="pt-BR" sz="90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sem fechamento</a:t>
            </a:r>
            <a:endParaRPr lang="pt-BR" sz="900" noProof="0" dirty="0">
              <a:solidFill>
                <a:srgbClr val="A8A8B3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C071F46F-36F3-8FD7-1781-E27A55855131}"/>
              </a:ext>
            </a:extLst>
          </p:cNvPr>
          <p:cNvSpPr/>
          <p:nvPr/>
        </p:nvSpPr>
        <p:spPr>
          <a:xfrm>
            <a:off x="6986652" y="3498629"/>
            <a:ext cx="1181405" cy="256032"/>
          </a:xfrm>
          <a:prstGeom prst="roundRect">
            <a:avLst>
              <a:gd name="adj" fmla="val 14286"/>
            </a:avLst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CF3761AD-5883-DC84-C92F-D5575FC538C7}"/>
              </a:ext>
            </a:extLst>
          </p:cNvPr>
          <p:cNvSpPr/>
          <p:nvPr/>
        </p:nvSpPr>
        <p:spPr>
          <a:xfrm>
            <a:off x="6986652" y="3498629"/>
            <a:ext cx="11814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atributo</a:t>
            </a:r>
          </a:p>
        </p:txBody>
      </p:sp>
    </p:spTree>
    <p:extLst>
      <p:ext uri="{BB962C8B-B14F-4D97-AF65-F5344CB8AC3E}">
        <p14:creationId xmlns:p14="http://schemas.microsoft.com/office/powerpoint/2010/main" val="2779444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50139D-4316-8689-BF13-B1537738B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62F4D69-FD79-3878-A9FB-2F693EE8B086}"/>
              </a:ext>
            </a:extLst>
          </p:cNvPr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0F1F0F"/>
          </a:solidFill>
          <a:ln w="3810">
            <a:solidFill>
              <a:srgbClr val="4ADE8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CAF9ED0-BB63-69D9-489E-2F613247ECB4}"/>
              </a:ext>
            </a:extLst>
          </p:cNvPr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4ADE80">
              <a:alpha val="4000"/>
            </a:srgbClr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8C27C0B-4544-5434-E99C-52DA6128D127}"/>
              </a:ext>
            </a:extLst>
          </p:cNvPr>
          <p:cNvSpPr/>
          <p:nvPr/>
        </p:nvSpPr>
        <p:spPr>
          <a:xfrm>
            <a:off x="0" y="164592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3000" b="1" noProof="0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Estrutura</a:t>
            </a:r>
            <a:endParaRPr lang="pt-BR" sz="3000" noProof="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40153BF-D1E1-F56E-1A28-68759F7E8F9C}"/>
              </a:ext>
            </a:extLst>
          </p:cNvPr>
          <p:cNvSpPr/>
          <p:nvPr/>
        </p:nvSpPr>
        <p:spPr>
          <a:xfrm>
            <a:off x="2651760" y="640080"/>
            <a:ext cx="6126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E1E1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Estrutura do Documento</a:t>
            </a:r>
            <a:endParaRPr lang="pt-BR" sz="2600" noProof="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2417E69C-2518-A202-8A64-D3D6BBED6CB8}"/>
              </a:ext>
            </a:extLst>
          </p:cNvPr>
          <p:cNvSpPr/>
          <p:nvPr/>
        </p:nvSpPr>
        <p:spPr>
          <a:xfrm>
            <a:off x="2645838" y="1417319"/>
            <a:ext cx="46800" cy="2349337"/>
          </a:xfrm>
          <a:prstGeom prst="rect">
            <a:avLst/>
          </a:prstGeom>
          <a:solidFill>
            <a:srgbClr val="2E2E38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9144C76-7115-10B5-0FE9-A5553005B623}"/>
              </a:ext>
            </a:extLst>
          </p:cNvPr>
          <p:cNvSpPr/>
          <p:nvPr/>
        </p:nvSpPr>
        <p:spPr>
          <a:xfrm>
            <a:off x="2816352" y="1417319"/>
            <a:ext cx="5943600" cy="23493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13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arquivo HTML segue uma estrutura padrão obrigatória que organiza as informações para o navegador. Começamos sempre com o </a:t>
            </a:r>
          </a:p>
          <a:p>
            <a:pPr marL="0" indent="0">
              <a:buNone/>
            </a:pPr>
            <a:r>
              <a:rPr lang="pt-BR" sz="1300" noProof="0" dirty="0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&lt;!DOCTYPE </a:t>
            </a:r>
            <a:r>
              <a:rPr lang="pt-BR" sz="1300" noProof="0" dirty="0" err="1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html</a:t>
            </a:r>
            <a:r>
              <a:rPr lang="pt-BR" sz="1300" noProof="0" dirty="0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&gt;</a:t>
            </a:r>
            <a:r>
              <a:rPr lang="pt-BR" sz="13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que sinaliza o uso da versão HTML5, seguido pela </a:t>
            </a:r>
            <a:r>
              <a:rPr lang="pt-BR" sz="1300" noProof="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</a:t>
            </a:r>
            <a:r>
              <a:rPr lang="pt-BR" sz="13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pt-BR" sz="1300" noProof="0" dirty="0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&lt;</a:t>
            </a:r>
            <a:r>
              <a:rPr lang="pt-BR" sz="1300" noProof="0" dirty="0" err="1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html</a:t>
            </a:r>
            <a:r>
              <a:rPr lang="pt-BR" sz="1300" noProof="0" dirty="0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&gt;</a:t>
            </a:r>
            <a:r>
              <a:rPr lang="pt-BR" sz="13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que funciona como o elemento raiz que envolve todo o conteúdo da página.</a:t>
            </a:r>
          </a:p>
          <a:p>
            <a:pPr marL="0" indent="0">
              <a:buNone/>
            </a:pPr>
            <a:endParaRPr lang="pt-BR" sz="1300" dirty="0">
              <a:solidFill>
                <a:srgbClr val="A8A8B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pt-BR" sz="13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Internamente, o documento é dividido em dois blocos fundamentais: o </a:t>
            </a:r>
            <a:r>
              <a:rPr lang="pt-BR" sz="1300" noProof="0" dirty="0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&lt;</a:t>
            </a:r>
            <a:r>
              <a:rPr lang="pt-BR" sz="1300" noProof="0" dirty="0" err="1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head</a:t>
            </a:r>
            <a:r>
              <a:rPr lang="pt-BR" sz="1300" noProof="0" dirty="0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&gt;</a:t>
            </a:r>
            <a:r>
              <a:rPr lang="pt-BR" sz="13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que guarda as configurações "invisíveis" como o título da aba e metadados de responsividade, e o </a:t>
            </a:r>
            <a:r>
              <a:rPr lang="pt-BR" sz="1300" noProof="0" dirty="0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&lt;body&gt;</a:t>
            </a:r>
            <a:r>
              <a:rPr lang="pt-BR" sz="13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que abriga todo o conteúdo que o usuário efetivamente vê e interage, como textos e imagens. Essa hierarquia é o que garante que o navegador interprete e exiba o site corretamente.</a:t>
            </a: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B762BFCA-4294-E49F-ED61-6F616DBA965D}"/>
              </a:ext>
            </a:extLst>
          </p:cNvPr>
          <p:cNvSpPr/>
          <p:nvPr/>
        </p:nvSpPr>
        <p:spPr>
          <a:xfrm>
            <a:off x="2651760" y="3949535"/>
            <a:ext cx="1097280" cy="256032"/>
          </a:xfrm>
          <a:prstGeom prst="roundRect">
            <a:avLst>
              <a:gd name="adj" fmla="val 14286"/>
            </a:avLst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886D2AF-EEC8-9DBF-19A2-06BDEA5CE579}"/>
              </a:ext>
            </a:extLst>
          </p:cNvPr>
          <p:cNvSpPr/>
          <p:nvPr/>
        </p:nvSpPr>
        <p:spPr>
          <a:xfrm>
            <a:off x="2651760" y="3949535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cs typeface="Courier New" pitchFamily="34" charset="-120"/>
              </a:rPr>
              <a:t>DOCTYPE</a:t>
            </a: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67A52EEE-4C94-149E-B8E1-4B81B15F3BAC}"/>
              </a:ext>
            </a:extLst>
          </p:cNvPr>
          <p:cNvSpPr/>
          <p:nvPr/>
        </p:nvSpPr>
        <p:spPr>
          <a:xfrm>
            <a:off x="3858768" y="3949535"/>
            <a:ext cx="1097280" cy="256032"/>
          </a:xfrm>
          <a:prstGeom prst="roundRect">
            <a:avLst>
              <a:gd name="adj" fmla="val 14286"/>
            </a:avLst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D86F1C4-D623-17DE-47D9-8DF08ED46940}"/>
              </a:ext>
            </a:extLst>
          </p:cNvPr>
          <p:cNvSpPr/>
          <p:nvPr/>
        </p:nvSpPr>
        <p:spPr>
          <a:xfrm>
            <a:off x="3858768" y="3949535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noProof="0" dirty="0" err="1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</a:t>
            </a:r>
            <a:endParaRPr lang="pt-BR" sz="900" noProof="0" dirty="0">
              <a:solidFill>
                <a:srgbClr val="A8A8B3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78CF088-5399-CCCA-BBA8-21680ED33A1F}"/>
              </a:ext>
            </a:extLst>
          </p:cNvPr>
          <p:cNvSpPr/>
          <p:nvPr/>
        </p:nvSpPr>
        <p:spPr>
          <a:xfrm>
            <a:off x="5065776" y="3949535"/>
            <a:ext cx="1098000" cy="256032"/>
          </a:xfrm>
          <a:prstGeom prst="roundRect">
            <a:avLst>
              <a:gd name="adj" fmla="val 14286"/>
            </a:avLst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64CB5C7-3839-2073-0734-00428FFBB39B}"/>
              </a:ext>
            </a:extLst>
          </p:cNvPr>
          <p:cNvSpPr/>
          <p:nvPr/>
        </p:nvSpPr>
        <p:spPr>
          <a:xfrm>
            <a:off x="5065776" y="3949535"/>
            <a:ext cx="109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noProof="0" dirty="0" err="1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</a:t>
            </a:r>
            <a:endParaRPr lang="pt-BR" sz="900" noProof="0" dirty="0">
              <a:solidFill>
                <a:srgbClr val="A8A8B3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8C59C6FC-A1BF-0194-5E1F-308FC433ED99}"/>
              </a:ext>
            </a:extLst>
          </p:cNvPr>
          <p:cNvSpPr/>
          <p:nvPr/>
        </p:nvSpPr>
        <p:spPr>
          <a:xfrm>
            <a:off x="6273504" y="3949535"/>
            <a:ext cx="1098000" cy="256032"/>
          </a:xfrm>
          <a:prstGeom prst="roundRect">
            <a:avLst>
              <a:gd name="adj" fmla="val 14286"/>
            </a:avLst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51E4D502-2B2A-9A29-D090-5B9140AE81C2}"/>
              </a:ext>
            </a:extLst>
          </p:cNvPr>
          <p:cNvSpPr/>
          <p:nvPr/>
        </p:nvSpPr>
        <p:spPr>
          <a:xfrm>
            <a:off x="6273504" y="3949535"/>
            <a:ext cx="109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</a:t>
            </a:r>
          </a:p>
        </p:txBody>
      </p:sp>
    </p:spTree>
    <p:extLst>
      <p:ext uri="{BB962C8B-B14F-4D97-AF65-F5344CB8AC3E}">
        <p14:creationId xmlns:p14="http://schemas.microsoft.com/office/powerpoint/2010/main" val="558422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800" kern="0" spc="4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COMPARATIVO</a:t>
            </a:r>
            <a:endParaRPr lang="pt-BR" sz="8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2600" b="1" dirty="0" err="1">
                <a:solidFill>
                  <a:srgbClr val="E1E1E6"/>
                </a:solidFill>
                <a:latin typeface="Arial Black" pitchFamily="34" charset="0"/>
              </a:rPr>
              <a:t>div</a:t>
            </a:r>
            <a:r>
              <a:rPr lang="pt-BR" sz="2600" b="1" dirty="0">
                <a:solidFill>
                  <a:srgbClr val="E1E1E6"/>
                </a:solidFill>
                <a:latin typeface="Arial Black" pitchFamily="34" charset="0"/>
              </a:rPr>
              <a:t> </a:t>
            </a:r>
            <a:r>
              <a:rPr lang="pt-BR" sz="2600" b="1" dirty="0" err="1">
                <a:solidFill>
                  <a:srgbClr val="E1E1E6"/>
                </a:solidFill>
                <a:latin typeface="Arial Black" pitchFamily="34" charset="0"/>
              </a:rPr>
              <a:t>vs</a:t>
            </a:r>
            <a:r>
              <a:rPr lang="pt-BR" sz="2600" b="1" dirty="0">
                <a:solidFill>
                  <a:srgbClr val="E1E1E6"/>
                </a:solidFill>
                <a:latin typeface="Arial Black" pitchFamily="34" charset="0"/>
              </a:rPr>
              <a:t> Semântica</a:t>
            </a:r>
            <a:endParaRPr lang="pt-BR" sz="2600" noProof="0" dirty="0"/>
          </a:p>
        </p:txBody>
      </p:sp>
      <p:sp>
        <p:nvSpPr>
          <p:cNvPr id="4" name="Shape 2"/>
          <p:cNvSpPr/>
          <p:nvPr/>
        </p:nvSpPr>
        <p:spPr>
          <a:xfrm>
            <a:off x="2286000" y="1143000"/>
            <a:ext cx="4572000" cy="0"/>
          </a:xfrm>
          <a:prstGeom prst="line">
            <a:avLst/>
          </a:prstGeom>
          <a:noFill/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3931920" cy="3429000"/>
          </a:xfrm>
          <a:prstGeom prst="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3931920" cy="468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ADE80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900" kern="0" spc="300" noProof="0" dirty="0" err="1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</a:t>
            </a:r>
            <a:endParaRPr lang="pt-BR" sz="900" noProof="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600" b="1" noProof="0" dirty="0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Agrupamento Genérico</a:t>
            </a:r>
            <a:endParaRPr lang="pt-BR" sz="1600" noProof="0" dirty="0"/>
          </a:p>
        </p:txBody>
      </p:sp>
      <p:sp>
        <p:nvSpPr>
          <p:cNvPr id="9" name="Text 7"/>
          <p:cNvSpPr/>
          <p:nvPr/>
        </p:nvSpPr>
        <p:spPr>
          <a:xfrm>
            <a:off x="548640" y="2084831"/>
            <a:ext cx="3657600" cy="9397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r>
              <a:rPr lang="pt-BR" sz="1200" noProof="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</a:t>
            </a: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pt-BR" sz="1200" noProof="0" dirty="0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&lt;</a:t>
            </a:r>
            <a:r>
              <a:rPr lang="pt-BR" sz="1200" noProof="0" dirty="0" err="1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div</a:t>
            </a:r>
            <a:r>
              <a:rPr lang="pt-BR" sz="1200" noProof="0" dirty="0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&gt; </a:t>
            </a: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 como um contêiner neutro que não atribui nenhum significado ao conteúdo que carrega. Sua função é puramente técnica: agrupar elementos para facilitar a estilização com CSS ou a manipulação via </a:t>
            </a:r>
            <a:r>
              <a:rPr lang="pt-BR" sz="1200" noProof="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pt-BR" sz="1200" noProof="0" dirty="0"/>
          </a:p>
        </p:txBody>
      </p:sp>
      <p:sp>
        <p:nvSpPr>
          <p:cNvPr id="10" name="Text 8"/>
          <p:cNvSpPr/>
          <p:nvPr/>
        </p:nvSpPr>
        <p:spPr>
          <a:xfrm>
            <a:off x="548640" y="3106863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</a:t>
            </a:r>
            <a:r>
              <a:rPr lang="pt-BR" sz="1100" noProof="0" dirty="0">
                <a:solidFill>
                  <a:srgbClr val="A8A8B3"/>
                </a:solidFill>
                <a:latin typeface="Arial" pitchFamily="34" charset="0"/>
                <a:ea typeface="Courier New" pitchFamily="34" charset="-122"/>
                <a:cs typeface="Arial" pitchFamily="34" charset="-120"/>
              </a:rPr>
              <a:t>Não possui valor semântico</a:t>
            </a:r>
            <a:endParaRPr lang="pt-BR" sz="1100" noProof="0" dirty="0"/>
          </a:p>
        </p:txBody>
      </p:sp>
      <p:sp>
        <p:nvSpPr>
          <p:cNvPr id="11" name="Text 9"/>
          <p:cNvSpPr/>
          <p:nvPr/>
        </p:nvSpPr>
        <p:spPr>
          <a:xfrm>
            <a:off x="548640" y="3509199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</a:t>
            </a:r>
            <a:r>
              <a:rPr lang="pt-BR" sz="11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Ocupa toda a largura da linha</a:t>
            </a:r>
            <a:endParaRPr lang="pt-BR" sz="1100" noProof="0" dirty="0"/>
          </a:p>
        </p:txBody>
      </p:sp>
      <p:sp>
        <p:nvSpPr>
          <p:cNvPr id="12" name="Text 10"/>
          <p:cNvSpPr/>
          <p:nvPr/>
        </p:nvSpPr>
        <p:spPr>
          <a:xfrm>
            <a:off x="548640" y="3911535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</a:t>
            </a:r>
            <a:r>
              <a:rPr lang="pt-BR" sz="11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Dificulta a interpretação por SEO</a:t>
            </a:r>
            <a:endParaRPr lang="pt-BR" sz="1100" noProof="0" dirty="0"/>
          </a:p>
        </p:txBody>
      </p:sp>
      <p:sp>
        <p:nvSpPr>
          <p:cNvPr id="13" name="Text 11"/>
          <p:cNvSpPr/>
          <p:nvPr/>
        </p:nvSpPr>
        <p:spPr>
          <a:xfrm>
            <a:off x="548640" y="4313871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</a:t>
            </a:r>
            <a:r>
              <a:rPr lang="pt-BR" sz="1100" noProof="0" dirty="0">
                <a:solidFill>
                  <a:srgbClr val="A8A8B3"/>
                </a:solidFill>
                <a:latin typeface="Arial" pitchFamily="34" charset="0"/>
                <a:ea typeface="Courier New" pitchFamily="34" charset="-122"/>
                <a:cs typeface="Arial" pitchFamily="34" charset="-120"/>
              </a:rPr>
              <a:t>Código menos legível para humanos</a:t>
            </a:r>
            <a:endParaRPr lang="pt-BR" sz="1100" noProof="0" dirty="0"/>
          </a:p>
        </p:txBody>
      </p:sp>
      <p:sp>
        <p:nvSpPr>
          <p:cNvPr id="14" name="Shape 12"/>
          <p:cNvSpPr/>
          <p:nvPr/>
        </p:nvSpPr>
        <p:spPr>
          <a:xfrm>
            <a:off x="4800600" y="1325880"/>
            <a:ext cx="3931920" cy="3429000"/>
          </a:xfrm>
          <a:prstGeom prst="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Shape 13"/>
          <p:cNvSpPr/>
          <p:nvPr/>
        </p:nvSpPr>
        <p:spPr>
          <a:xfrm>
            <a:off x="4800600" y="1333500"/>
            <a:ext cx="3931920" cy="468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4A99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Text 14"/>
          <p:cNvSpPr/>
          <p:nvPr/>
        </p:nvSpPr>
        <p:spPr>
          <a:xfrm>
            <a:off x="4937760" y="1417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900" kern="0" spc="300" dirty="0">
                <a:solidFill>
                  <a:srgbClr val="5B8DE8"/>
                </a:solidFill>
                <a:latin typeface="Courier New" pitchFamily="34" charset="0"/>
                <a:cs typeface="Courier New" pitchFamily="34" charset="-120"/>
              </a:rPr>
              <a:t>Semântica</a:t>
            </a:r>
            <a:endParaRPr lang="pt-BR" sz="900" noProof="0" dirty="0"/>
          </a:p>
        </p:txBody>
      </p:sp>
      <p:sp>
        <p:nvSpPr>
          <p:cNvPr id="17" name="Text 15"/>
          <p:cNvSpPr/>
          <p:nvPr/>
        </p:nvSpPr>
        <p:spPr>
          <a:xfrm>
            <a:off x="493776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600" b="1" noProof="0" dirty="0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 com Sentido</a:t>
            </a:r>
            <a:endParaRPr lang="pt-BR" sz="1600" noProof="0" dirty="0"/>
          </a:p>
        </p:txBody>
      </p:sp>
      <p:sp>
        <p:nvSpPr>
          <p:cNvPr id="18" name="Text 16"/>
          <p:cNvSpPr/>
          <p:nvPr/>
        </p:nvSpPr>
        <p:spPr>
          <a:xfrm>
            <a:off x="4937760" y="2084832"/>
            <a:ext cx="3657600" cy="9397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</a:t>
            </a:r>
            <a:r>
              <a:rPr lang="pt-BR" sz="1200" noProof="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tags</a:t>
            </a: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semânticas, como </a:t>
            </a:r>
            <a:r>
              <a:rPr lang="pt-BR" sz="1200" noProof="0" dirty="0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&lt;header&gt;</a:t>
            </a: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</a:t>
            </a:r>
            <a:r>
              <a:rPr lang="pt-BR" sz="1200" noProof="0" dirty="0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&lt;</a:t>
            </a:r>
            <a:r>
              <a:rPr lang="pt-BR" sz="1200" noProof="0" dirty="0" err="1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footer</a:t>
            </a:r>
            <a:r>
              <a:rPr lang="pt-BR" sz="1200" noProof="0" dirty="0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&gt;</a:t>
            </a: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descrevem claramente a função de cada bloco na página. Elas tornam a estrutura do site compreensível tanto para o desenvolvedor quanto para as ferramentas de busca.</a:t>
            </a:r>
            <a:endParaRPr lang="pt-BR" sz="1200" noProof="0" dirty="0"/>
          </a:p>
        </p:txBody>
      </p:sp>
      <p:sp>
        <p:nvSpPr>
          <p:cNvPr id="19" name="Text 17"/>
          <p:cNvSpPr/>
          <p:nvPr/>
        </p:nvSpPr>
        <p:spPr>
          <a:xfrm>
            <a:off x="4937760" y="3106863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5B8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</a:t>
            </a:r>
            <a:r>
              <a:rPr lang="pt-BR" sz="11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 a função do conteúdo</a:t>
            </a:r>
            <a:endParaRPr lang="pt-BR" sz="1100" noProof="0" dirty="0"/>
          </a:p>
        </p:txBody>
      </p:sp>
      <p:sp>
        <p:nvSpPr>
          <p:cNvPr id="20" name="Text 18"/>
          <p:cNvSpPr/>
          <p:nvPr/>
        </p:nvSpPr>
        <p:spPr>
          <a:xfrm>
            <a:off x="4937760" y="3509199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5B8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</a:t>
            </a:r>
            <a:r>
              <a:rPr lang="pl-PL" sz="11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Otimiza o ranking no Google</a:t>
            </a:r>
            <a:endParaRPr lang="pt-BR" sz="1100" noProof="0" dirty="0"/>
          </a:p>
        </p:txBody>
      </p:sp>
      <p:sp>
        <p:nvSpPr>
          <p:cNvPr id="21" name="Text 19"/>
          <p:cNvSpPr/>
          <p:nvPr/>
        </p:nvSpPr>
        <p:spPr>
          <a:xfrm>
            <a:off x="4937760" y="3911535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5B8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</a:t>
            </a:r>
            <a:r>
              <a:rPr lang="pt-BR" sz="11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Essencial para acessibilidade</a:t>
            </a:r>
            <a:endParaRPr lang="pt-BR" sz="1100" noProof="0" dirty="0"/>
          </a:p>
        </p:txBody>
      </p:sp>
      <p:sp>
        <p:nvSpPr>
          <p:cNvPr id="22" name="Text 20"/>
          <p:cNvSpPr/>
          <p:nvPr/>
        </p:nvSpPr>
        <p:spPr>
          <a:xfrm>
            <a:off x="4937760" y="4313871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5B8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</a:t>
            </a:r>
            <a:r>
              <a:rPr lang="pt-BR" sz="11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Organização visual do código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F5C0AB-B5F1-7863-3471-0C3855027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BF85D49-AF2D-4336-0772-099F6B8A7081}"/>
              </a:ext>
            </a:extLst>
          </p:cNvPr>
          <p:cNvSpPr/>
          <p:nvPr/>
        </p:nvSpPr>
        <p:spPr>
          <a:xfrm>
            <a:off x="0" y="2743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800" kern="0" spc="4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COMPARATIVO</a:t>
            </a:r>
            <a:endParaRPr lang="pt-BR" sz="800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F35BD29-0917-2836-0DCE-714772673210}"/>
              </a:ext>
            </a:extLst>
          </p:cNvPr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2600" b="1" noProof="0" dirty="0" err="1">
                <a:solidFill>
                  <a:srgbClr val="E1E1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class</a:t>
            </a:r>
            <a:r>
              <a:rPr lang="pt-BR" sz="2600" b="1" noProof="0" dirty="0">
                <a:solidFill>
                  <a:srgbClr val="E1E1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pt-BR" sz="2600" b="1" noProof="0" dirty="0" err="1">
                <a:solidFill>
                  <a:srgbClr val="E1E1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</a:t>
            </a:r>
            <a:r>
              <a:rPr lang="pt-BR" sz="2600" b="1" noProof="0" dirty="0">
                <a:solidFill>
                  <a:srgbClr val="E1E1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id</a:t>
            </a:r>
            <a:endParaRPr lang="pt-BR" sz="2600" noProof="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A39621B-1F9F-1284-8DB3-006936BAF893}"/>
              </a:ext>
            </a:extLst>
          </p:cNvPr>
          <p:cNvSpPr/>
          <p:nvPr/>
        </p:nvSpPr>
        <p:spPr>
          <a:xfrm>
            <a:off x="2286000" y="1143000"/>
            <a:ext cx="4572000" cy="0"/>
          </a:xfrm>
          <a:prstGeom prst="line">
            <a:avLst/>
          </a:prstGeom>
          <a:noFill/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F66506A-9B1D-9FC1-8F76-D51E8B8C27FD}"/>
              </a:ext>
            </a:extLst>
          </p:cNvPr>
          <p:cNvSpPr/>
          <p:nvPr/>
        </p:nvSpPr>
        <p:spPr>
          <a:xfrm>
            <a:off x="411480" y="1325880"/>
            <a:ext cx="3931920" cy="3429000"/>
          </a:xfrm>
          <a:prstGeom prst="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0399835-C448-ACBA-48EA-FD19D352B685}"/>
              </a:ext>
            </a:extLst>
          </p:cNvPr>
          <p:cNvSpPr/>
          <p:nvPr/>
        </p:nvSpPr>
        <p:spPr>
          <a:xfrm>
            <a:off x="411480" y="1325880"/>
            <a:ext cx="3931920" cy="468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ADE80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4AFC111-CD4D-D2CC-B7B5-142E1872FC99}"/>
              </a:ext>
            </a:extLst>
          </p:cNvPr>
          <p:cNvSpPr/>
          <p:nvPr/>
        </p:nvSpPr>
        <p:spPr>
          <a:xfrm>
            <a:off x="548640" y="1417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900" kern="0" spc="300" noProof="0" dirty="0" err="1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endParaRPr lang="pt-BR" sz="900" noProof="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5F9A764-F7A5-CB6F-93BA-8251F67911B4}"/>
              </a:ext>
            </a:extLst>
          </p:cNvPr>
          <p:cNvSpPr/>
          <p:nvPr/>
        </p:nvSpPr>
        <p:spPr>
          <a:xfrm>
            <a:off x="548640" y="164130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600" b="1" noProof="0" dirty="0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Identificador Coletivo</a:t>
            </a:r>
            <a:endParaRPr lang="pt-BR" sz="1600" noProof="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25A0622-3F00-9227-EDE1-138B4197ECAE}"/>
              </a:ext>
            </a:extLst>
          </p:cNvPr>
          <p:cNvSpPr/>
          <p:nvPr/>
        </p:nvSpPr>
        <p:spPr>
          <a:xfrm>
            <a:off x="548640" y="2032819"/>
            <a:ext cx="3657600" cy="10469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atributo </a:t>
            </a:r>
            <a:r>
              <a:rPr lang="pt-BR" sz="1200" noProof="0" dirty="0" err="1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class</a:t>
            </a: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é utilizado para agrupar diversos elementos que devem compartilhar as mesmas características. Ele permite que você aplique um estilo ou comportamento padrão a múltiplos componentes de uma só vez, facilitando a reutilização de código.</a:t>
            </a:r>
            <a:endParaRPr lang="pt-BR" sz="1200" noProof="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BCC1733-9AD7-A472-203C-173EFC0FB778}"/>
              </a:ext>
            </a:extLst>
          </p:cNvPr>
          <p:cNvSpPr/>
          <p:nvPr/>
        </p:nvSpPr>
        <p:spPr>
          <a:xfrm>
            <a:off x="548640" y="313100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</a:t>
            </a:r>
            <a:r>
              <a:rPr lang="pt-BR" sz="1100" noProof="0" dirty="0">
                <a:solidFill>
                  <a:srgbClr val="A8A8B3"/>
                </a:solidFill>
                <a:latin typeface="Arial" pitchFamily="34" charset="0"/>
                <a:ea typeface="Courier New" pitchFamily="34" charset="-122"/>
                <a:cs typeface="Arial" pitchFamily="34" charset="-120"/>
              </a:rPr>
              <a:t>Pode ser usado em vários elementos</a:t>
            </a:r>
            <a:endParaRPr lang="pt-BR" sz="1100" noProof="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1DBBDA4-B559-7EDB-B009-8497E395A1F6}"/>
              </a:ext>
            </a:extLst>
          </p:cNvPr>
          <p:cNvSpPr/>
          <p:nvPr/>
        </p:nvSpPr>
        <p:spPr>
          <a:xfrm>
            <a:off x="548640" y="353333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</a:t>
            </a:r>
            <a:r>
              <a:rPr lang="pt-BR" sz="11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para estilização em massa</a:t>
            </a:r>
            <a:endParaRPr lang="pt-BR" sz="1100" noProof="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DAF962F-5F13-8614-3B20-DF7E184FDB0E}"/>
              </a:ext>
            </a:extLst>
          </p:cNvPr>
          <p:cNvSpPr/>
          <p:nvPr/>
        </p:nvSpPr>
        <p:spPr>
          <a:xfrm>
            <a:off x="548640" y="393567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</a:t>
            </a:r>
            <a:r>
              <a:rPr lang="pt-BR" sz="11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elemento pode ter várias classes</a:t>
            </a:r>
            <a:endParaRPr lang="pt-BR" sz="1100" noProof="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ED75A63-CF14-3DF8-C8D7-B2D8CC10F0CD}"/>
              </a:ext>
            </a:extLst>
          </p:cNvPr>
          <p:cNvSpPr/>
          <p:nvPr/>
        </p:nvSpPr>
        <p:spPr>
          <a:xfrm>
            <a:off x="548640" y="433801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</a:t>
            </a:r>
            <a:r>
              <a:rPr lang="pt-BR" sz="1100" noProof="0" dirty="0">
                <a:solidFill>
                  <a:srgbClr val="A8A8B3"/>
                </a:solidFill>
                <a:latin typeface="Arial" pitchFamily="34" charset="0"/>
                <a:ea typeface="Courier New" pitchFamily="34" charset="-122"/>
                <a:cs typeface="Arial" pitchFamily="34" charset="-120"/>
              </a:rPr>
              <a:t>Foco em padrões e componentes</a:t>
            </a:r>
            <a:endParaRPr lang="pt-BR" sz="1100" noProof="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0BDBE201-2386-56DB-C9C1-1EEE938387F5}"/>
              </a:ext>
            </a:extLst>
          </p:cNvPr>
          <p:cNvSpPr/>
          <p:nvPr/>
        </p:nvSpPr>
        <p:spPr>
          <a:xfrm>
            <a:off x="4800600" y="1325880"/>
            <a:ext cx="3931920" cy="3429000"/>
          </a:xfrm>
          <a:prstGeom prst="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2DFFF30A-BE85-C490-FA34-329C28F86011}"/>
              </a:ext>
            </a:extLst>
          </p:cNvPr>
          <p:cNvSpPr/>
          <p:nvPr/>
        </p:nvSpPr>
        <p:spPr>
          <a:xfrm>
            <a:off x="4800600" y="1333500"/>
            <a:ext cx="3931920" cy="468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4A99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5688B785-0D59-A7EB-FFEF-4B3899302845}"/>
              </a:ext>
            </a:extLst>
          </p:cNvPr>
          <p:cNvSpPr/>
          <p:nvPr/>
        </p:nvSpPr>
        <p:spPr>
          <a:xfrm>
            <a:off x="4937760" y="1417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900" kern="0" spc="300" dirty="0">
                <a:solidFill>
                  <a:srgbClr val="5B8DE8"/>
                </a:solidFill>
                <a:latin typeface="Courier New" pitchFamily="34" charset="0"/>
                <a:cs typeface="Courier New" pitchFamily="34" charset="-120"/>
              </a:rPr>
              <a:t>id</a:t>
            </a:r>
            <a:endParaRPr lang="pt-BR" sz="900" noProof="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6FF3272-5739-75C9-DF9A-D5EC23016218}"/>
              </a:ext>
            </a:extLst>
          </p:cNvPr>
          <p:cNvSpPr/>
          <p:nvPr/>
        </p:nvSpPr>
        <p:spPr>
          <a:xfrm>
            <a:off x="4937760" y="164130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600" b="1" noProof="0" dirty="0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Identificador Único</a:t>
            </a:r>
            <a:endParaRPr lang="pt-BR" sz="1600" noProof="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317A0A5-0C1D-6C44-2921-D394397F31CC}"/>
              </a:ext>
            </a:extLst>
          </p:cNvPr>
          <p:cNvSpPr/>
          <p:nvPr/>
        </p:nvSpPr>
        <p:spPr>
          <a:xfrm>
            <a:off x="4937760" y="2014417"/>
            <a:ext cx="3657600" cy="9089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atributo </a:t>
            </a:r>
            <a:r>
              <a:rPr lang="pt-BR" sz="1200" noProof="0" dirty="0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id</a:t>
            </a: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serve para identificar um elemento específico e exclusivo dentro da página. Por ser único, ele funciona como um "CPF" do elemento, sendo a escolha ideal para ancoragem de links ou manipulações precisas via </a:t>
            </a:r>
            <a:r>
              <a:rPr lang="pt-BR" sz="1200" noProof="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pt-BR" sz="1200" noProof="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46F5F573-20AF-2B0D-F9CE-EDC09408D1D7}"/>
              </a:ext>
            </a:extLst>
          </p:cNvPr>
          <p:cNvSpPr/>
          <p:nvPr/>
        </p:nvSpPr>
        <p:spPr>
          <a:xfrm>
            <a:off x="4937760" y="311441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5B8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</a:t>
            </a:r>
            <a:r>
              <a:rPr lang="pt-BR" sz="11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 ser único em toda a página</a:t>
            </a:r>
            <a:endParaRPr lang="pt-BR" sz="1100" noProof="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B4BF19A9-DE92-0FDE-34BF-602FF9D95945}"/>
              </a:ext>
            </a:extLst>
          </p:cNvPr>
          <p:cNvSpPr/>
          <p:nvPr/>
        </p:nvSpPr>
        <p:spPr>
          <a:xfrm>
            <a:off x="4937760" y="351675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5B8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</a:t>
            </a:r>
            <a:r>
              <a:rPr lang="pt-BR" sz="11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deve se repetir em outros elementos</a:t>
            </a:r>
            <a:endParaRPr lang="pt-BR" sz="1100" noProof="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F7294FE6-2074-C370-EDAC-69F57ACE63E2}"/>
              </a:ext>
            </a:extLst>
          </p:cNvPr>
          <p:cNvSpPr/>
          <p:nvPr/>
        </p:nvSpPr>
        <p:spPr>
          <a:xfrm>
            <a:off x="4937760" y="391909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5B8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</a:t>
            </a:r>
            <a:r>
              <a:rPr lang="pt-BR" sz="11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Prioridade alta para scripts e âncoras</a:t>
            </a:r>
            <a:endParaRPr lang="pt-BR" sz="1100" noProof="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22DFE1D4-6F2F-3518-37B6-D485E4457345}"/>
              </a:ext>
            </a:extLst>
          </p:cNvPr>
          <p:cNvSpPr/>
          <p:nvPr/>
        </p:nvSpPr>
        <p:spPr>
          <a:xfrm>
            <a:off x="4937760" y="432142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5B8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</a:t>
            </a:r>
            <a:r>
              <a:rPr lang="pt-BR" sz="11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em elementos singulares</a:t>
            </a:r>
            <a:endParaRPr lang="pt-BR" sz="1100" noProof="0" dirty="0"/>
          </a:p>
        </p:txBody>
      </p:sp>
    </p:spTree>
    <p:extLst>
      <p:ext uri="{BB962C8B-B14F-4D97-AF65-F5344CB8AC3E}">
        <p14:creationId xmlns:p14="http://schemas.microsoft.com/office/powerpoint/2010/main" val="37331013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400" b="1" noProof="0" dirty="0">
                <a:solidFill>
                  <a:srgbClr val="E1E1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Conclusão</a:t>
            </a:r>
            <a:endParaRPr lang="pt-BR" sz="2400" noProof="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0160">
            <a:solidFill>
              <a:srgbClr val="1E1E2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114800" cy="777240"/>
          </a:xfrm>
          <a:prstGeom prst="round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/>
          <p:cNvSpPr/>
          <p:nvPr/>
        </p:nvSpPr>
        <p:spPr>
          <a:xfrm>
            <a:off x="566928" y="1161288"/>
            <a:ext cx="384048" cy="384048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566928" y="1161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noProof="0" dirty="0">
                <a:solidFill>
                  <a:srgbClr val="4ADE80"/>
                </a:solidFill>
              </a:rPr>
              <a:t>✓</a:t>
            </a:r>
            <a:endParaRPr lang="pt-BR" sz="1000" noProof="0" dirty="0"/>
          </a:p>
        </p:txBody>
      </p:sp>
      <p:sp>
        <p:nvSpPr>
          <p:cNvPr id="8" name="Text 6"/>
          <p:cNvSpPr/>
          <p:nvPr/>
        </p:nvSpPr>
        <p:spPr>
          <a:xfrm>
            <a:off x="1051560" y="10972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HTML</a:t>
            </a:r>
            <a:endParaRPr lang="pt-BR" sz="1200" noProof="0" dirty="0"/>
          </a:p>
        </p:txBody>
      </p:sp>
      <p:sp>
        <p:nvSpPr>
          <p:cNvPr id="9" name="Text 7"/>
          <p:cNvSpPr/>
          <p:nvPr/>
        </p:nvSpPr>
        <p:spPr>
          <a:xfrm>
            <a:off x="1051560" y="142646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Estrutura e marcação de conteúdo</a:t>
            </a:r>
            <a:endParaRPr lang="pt-BR" sz="900" noProof="0" dirty="0"/>
          </a:p>
        </p:txBody>
      </p:sp>
      <p:sp>
        <p:nvSpPr>
          <p:cNvPr id="10" name="Shape 8"/>
          <p:cNvSpPr/>
          <p:nvPr/>
        </p:nvSpPr>
        <p:spPr>
          <a:xfrm>
            <a:off x="4846320" y="1005840"/>
            <a:ext cx="4114800" cy="777240"/>
          </a:xfrm>
          <a:prstGeom prst="round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Shape 9"/>
          <p:cNvSpPr/>
          <p:nvPr/>
        </p:nvSpPr>
        <p:spPr>
          <a:xfrm>
            <a:off x="4956048" y="1161288"/>
            <a:ext cx="384048" cy="384048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Text 10"/>
          <p:cNvSpPr/>
          <p:nvPr/>
        </p:nvSpPr>
        <p:spPr>
          <a:xfrm>
            <a:off x="4956048" y="1161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noProof="0" dirty="0">
                <a:solidFill>
                  <a:srgbClr val="4ADE80"/>
                </a:solidFill>
              </a:rPr>
              <a:t>✓</a:t>
            </a:r>
            <a:endParaRPr lang="pt-BR" sz="1000" noProof="0" dirty="0"/>
          </a:p>
        </p:txBody>
      </p:sp>
      <p:sp>
        <p:nvSpPr>
          <p:cNvPr id="13" name="Text 11"/>
          <p:cNvSpPr/>
          <p:nvPr/>
        </p:nvSpPr>
        <p:spPr>
          <a:xfrm>
            <a:off x="5440680" y="10972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b="1" noProof="0" dirty="0" err="1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</a:t>
            </a:r>
            <a:r>
              <a:rPr lang="pt-BR" sz="1200" b="1" dirty="0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e atributos</a:t>
            </a:r>
            <a:endParaRPr lang="pt-BR" sz="1200" noProof="0" dirty="0"/>
          </a:p>
        </p:txBody>
      </p:sp>
      <p:sp>
        <p:nvSpPr>
          <p:cNvPr id="14" name="Text 12"/>
          <p:cNvSpPr/>
          <p:nvPr/>
        </p:nvSpPr>
        <p:spPr>
          <a:xfrm>
            <a:off x="5440680" y="142646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Elementos e suas configurações básicas</a:t>
            </a:r>
            <a:endParaRPr lang="pt-BR" sz="900" noProof="0" dirty="0"/>
          </a:p>
        </p:txBody>
      </p:sp>
      <p:sp>
        <p:nvSpPr>
          <p:cNvPr id="15" name="Shape 13"/>
          <p:cNvSpPr/>
          <p:nvPr/>
        </p:nvSpPr>
        <p:spPr>
          <a:xfrm>
            <a:off x="457200" y="1965960"/>
            <a:ext cx="4114800" cy="777240"/>
          </a:xfrm>
          <a:prstGeom prst="round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Shape 14"/>
          <p:cNvSpPr/>
          <p:nvPr/>
        </p:nvSpPr>
        <p:spPr>
          <a:xfrm>
            <a:off x="566928" y="2121408"/>
            <a:ext cx="384048" cy="384048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Text 15"/>
          <p:cNvSpPr/>
          <p:nvPr/>
        </p:nvSpPr>
        <p:spPr>
          <a:xfrm>
            <a:off x="566928" y="2121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noProof="0" dirty="0">
                <a:solidFill>
                  <a:srgbClr val="4ADE80"/>
                </a:solidFill>
              </a:rPr>
              <a:t>✓</a:t>
            </a:r>
            <a:endParaRPr lang="pt-BR" sz="1000" noProof="0" dirty="0"/>
          </a:p>
        </p:txBody>
      </p:sp>
      <p:sp>
        <p:nvSpPr>
          <p:cNvPr id="18" name="Text 16"/>
          <p:cNvSpPr/>
          <p:nvPr/>
        </p:nvSpPr>
        <p:spPr>
          <a:xfrm>
            <a:off x="1051560" y="20574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 do documento</a:t>
            </a:r>
            <a:endParaRPr lang="pt-BR" sz="1200" noProof="0" dirty="0"/>
          </a:p>
        </p:txBody>
      </p:sp>
      <p:sp>
        <p:nvSpPr>
          <p:cNvPr id="19" name="Text 17"/>
          <p:cNvSpPr/>
          <p:nvPr/>
        </p:nvSpPr>
        <p:spPr>
          <a:xfrm>
            <a:off x="1051560" y="238658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Configurações globais e corpo da página</a:t>
            </a:r>
            <a:endParaRPr lang="pt-BR" sz="900" noProof="0" dirty="0"/>
          </a:p>
        </p:txBody>
      </p:sp>
      <p:sp>
        <p:nvSpPr>
          <p:cNvPr id="20" name="Shape 18"/>
          <p:cNvSpPr/>
          <p:nvPr/>
        </p:nvSpPr>
        <p:spPr>
          <a:xfrm>
            <a:off x="4846320" y="1965960"/>
            <a:ext cx="4114800" cy="777240"/>
          </a:xfrm>
          <a:prstGeom prst="round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Shape 19"/>
          <p:cNvSpPr/>
          <p:nvPr/>
        </p:nvSpPr>
        <p:spPr>
          <a:xfrm>
            <a:off x="4956048" y="2121408"/>
            <a:ext cx="384048" cy="384048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2" name="Text 20"/>
          <p:cNvSpPr/>
          <p:nvPr/>
        </p:nvSpPr>
        <p:spPr>
          <a:xfrm>
            <a:off x="4956048" y="2121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noProof="0" dirty="0">
                <a:solidFill>
                  <a:srgbClr val="4ADE80"/>
                </a:solidFill>
              </a:rPr>
              <a:t>✓</a:t>
            </a:r>
            <a:endParaRPr lang="pt-BR" sz="1000" noProof="0" dirty="0"/>
          </a:p>
        </p:txBody>
      </p:sp>
      <p:sp>
        <p:nvSpPr>
          <p:cNvPr id="23" name="Text 21"/>
          <p:cNvSpPr/>
          <p:nvPr/>
        </p:nvSpPr>
        <p:spPr>
          <a:xfrm>
            <a:off x="5440680" y="20574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b="1" noProof="0" dirty="0" err="1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Tags</a:t>
            </a:r>
            <a:r>
              <a:rPr lang="pt-BR" sz="1200" b="1" noProof="0" dirty="0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semânticas</a:t>
            </a:r>
            <a:endParaRPr lang="pt-BR" sz="1200" noProof="0" dirty="0"/>
          </a:p>
        </p:txBody>
      </p:sp>
      <p:sp>
        <p:nvSpPr>
          <p:cNvPr id="24" name="Text 22"/>
          <p:cNvSpPr/>
          <p:nvPr/>
        </p:nvSpPr>
        <p:spPr>
          <a:xfrm>
            <a:off x="5440680" y="238658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t-BR" sz="900" dirty="0" err="1">
                <a:solidFill>
                  <a:srgbClr val="A8A8B3"/>
                </a:solidFill>
                <a:latin typeface="Courier New" pitchFamily="34" charset="0"/>
                <a:cs typeface="Courier New" pitchFamily="34" charset="-120"/>
              </a:rPr>
              <a:t>section</a:t>
            </a:r>
            <a:r>
              <a:rPr lang="pt-BR" sz="900" dirty="0">
                <a:solidFill>
                  <a:srgbClr val="A8A8B3"/>
                </a:solidFill>
                <a:latin typeface="Courier New" pitchFamily="34" charset="0"/>
                <a:cs typeface="Courier New" pitchFamily="34" charset="-120"/>
              </a:rPr>
              <a:t> · </a:t>
            </a:r>
            <a:r>
              <a:rPr lang="pt-BR" sz="900" dirty="0" err="1">
                <a:solidFill>
                  <a:srgbClr val="A8A8B3"/>
                </a:solidFill>
                <a:latin typeface="Courier New" pitchFamily="34" charset="0"/>
                <a:cs typeface="Courier New" pitchFamily="34" charset="-120"/>
              </a:rPr>
              <a:t>nav</a:t>
            </a:r>
            <a:r>
              <a:rPr lang="pt-BR" sz="900" dirty="0">
                <a:solidFill>
                  <a:srgbClr val="A8A8B3"/>
                </a:solidFill>
                <a:latin typeface="Courier New" pitchFamily="34" charset="0"/>
                <a:cs typeface="Courier New" pitchFamily="34" charset="-120"/>
              </a:rPr>
              <a:t> · </a:t>
            </a:r>
            <a:r>
              <a:rPr lang="pt-BR" sz="900" dirty="0" err="1">
                <a:solidFill>
                  <a:srgbClr val="A8A8B3"/>
                </a:solidFill>
                <a:latin typeface="Courier New" pitchFamily="34" charset="0"/>
                <a:cs typeface="Courier New" pitchFamily="34" charset="-120"/>
              </a:rPr>
              <a:t>aside</a:t>
            </a:r>
            <a:endParaRPr lang="pt-BR" sz="900" noProof="0" dirty="0"/>
          </a:p>
        </p:txBody>
      </p:sp>
      <p:sp>
        <p:nvSpPr>
          <p:cNvPr id="25" name="Shape 23"/>
          <p:cNvSpPr/>
          <p:nvPr/>
        </p:nvSpPr>
        <p:spPr>
          <a:xfrm>
            <a:off x="457200" y="2926080"/>
            <a:ext cx="4114800" cy="777240"/>
          </a:xfrm>
          <a:prstGeom prst="round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6" name="Shape 24"/>
          <p:cNvSpPr/>
          <p:nvPr/>
        </p:nvSpPr>
        <p:spPr>
          <a:xfrm>
            <a:off x="566928" y="3081528"/>
            <a:ext cx="384048" cy="384048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7" name="Text 25"/>
          <p:cNvSpPr/>
          <p:nvPr/>
        </p:nvSpPr>
        <p:spPr>
          <a:xfrm>
            <a:off x="566928" y="3081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noProof="0" dirty="0">
                <a:solidFill>
                  <a:srgbClr val="4ADE80"/>
                </a:solidFill>
              </a:rPr>
              <a:t>✓</a:t>
            </a:r>
            <a:endParaRPr lang="pt-BR" sz="1000" noProof="0" dirty="0"/>
          </a:p>
        </p:txBody>
      </p:sp>
      <p:sp>
        <p:nvSpPr>
          <p:cNvPr id="28" name="Text 26"/>
          <p:cNvSpPr/>
          <p:nvPr/>
        </p:nvSpPr>
        <p:spPr>
          <a:xfrm>
            <a:off x="1051560" y="30175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b="1" noProof="0" dirty="0" err="1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</a:t>
            </a:r>
            <a:r>
              <a:rPr lang="pt-BR" sz="1200" b="1" noProof="0" dirty="0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id</a:t>
            </a:r>
            <a:endParaRPr lang="pt-BR" sz="1200" noProof="0" dirty="0"/>
          </a:p>
        </p:txBody>
      </p:sp>
      <p:sp>
        <p:nvSpPr>
          <p:cNvPr id="29" name="Text 27"/>
          <p:cNvSpPr/>
          <p:nvPr/>
        </p:nvSpPr>
        <p:spPr>
          <a:xfrm>
            <a:off x="1051560" y="334670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Identificadores para grupos ou elementos únicos</a:t>
            </a:r>
            <a:endParaRPr lang="pt-BR" sz="900" noProof="0" dirty="0"/>
          </a:p>
        </p:txBody>
      </p:sp>
      <p:sp>
        <p:nvSpPr>
          <p:cNvPr id="30" name="Shape 28"/>
          <p:cNvSpPr/>
          <p:nvPr/>
        </p:nvSpPr>
        <p:spPr>
          <a:xfrm>
            <a:off x="4846320" y="2926080"/>
            <a:ext cx="4114800" cy="777240"/>
          </a:xfrm>
          <a:prstGeom prst="round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1" name="Shape 29"/>
          <p:cNvSpPr/>
          <p:nvPr/>
        </p:nvSpPr>
        <p:spPr>
          <a:xfrm>
            <a:off x="4956048" y="3081528"/>
            <a:ext cx="384048" cy="384048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2" name="Text 30"/>
          <p:cNvSpPr/>
          <p:nvPr/>
        </p:nvSpPr>
        <p:spPr>
          <a:xfrm>
            <a:off x="4956048" y="3081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noProof="0" dirty="0">
                <a:solidFill>
                  <a:srgbClr val="4ADE80"/>
                </a:solidFill>
              </a:rPr>
              <a:t>✓</a:t>
            </a:r>
            <a:endParaRPr lang="pt-BR" sz="1000" noProof="0" dirty="0"/>
          </a:p>
        </p:txBody>
      </p:sp>
      <p:sp>
        <p:nvSpPr>
          <p:cNvPr id="33" name="Text 31"/>
          <p:cNvSpPr/>
          <p:nvPr/>
        </p:nvSpPr>
        <p:spPr>
          <a:xfrm>
            <a:off x="5440680" y="30175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Ferramentas</a:t>
            </a:r>
            <a:endParaRPr lang="pt-BR" sz="1200" noProof="0" dirty="0"/>
          </a:p>
        </p:txBody>
      </p:sp>
      <p:sp>
        <p:nvSpPr>
          <p:cNvPr id="34" name="Text 32"/>
          <p:cNvSpPr/>
          <p:nvPr/>
        </p:nvSpPr>
        <p:spPr>
          <a:xfrm>
            <a:off x="5440680" y="334670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 </a:t>
            </a:r>
            <a:r>
              <a:rPr lang="pt-BR" sz="900" noProof="0" dirty="0" err="1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</a:t>
            </a: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pt-BR" sz="900" dirty="0">
                <a:solidFill>
                  <a:srgbClr val="A8A8B3"/>
                </a:solidFill>
                <a:latin typeface="Courier New" pitchFamily="34" charset="0"/>
                <a:cs typeface="Courier New" pitchFamily="34" charset="-120"/>
              </a:rPr>
              <a:t>· </a:t>
            </a:r>
            <a:r>
              <a:rPr lang="pt-BR" sz="900" kern="0" spc="3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Server</a:t>
            </a:r>
            <a:endParaRPr lang="pt-BR" sz="900" noProof="0" dirty="0"/>
          </a:p>
        </p:txBody>
      </p:sp>
      <p:sp>
        <p:nvSpPr>
          <p:cNvPr id="39" name="Shape 37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1E1E28"/>
          </a:solidFill>
          <a:ln w="12700">
            <a:solidFill>
              <a:srgbClr val="1E1E2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0" name="Shape 38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469</TotalTime>
  <Words>681</Words>
  <Application>Microsoft Office PowerPoint</Application>
  <PresentationFormat>Apresentação na tela (16:9)</PresentationFormat>
  <Paragraphs>88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Arial</vt:lpstr>
      <vt:lpstr>Arial Black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</dc:title>
  <dc:creator>Vito Vito</dc:creator>
  <cp:lastModifiedBy>Vito Vito</cp:lastModifiedBy>
  <cp:revision>22</cp:revision>
  <dcterms:created xsi:type="dcterms:W3CDTF">2026-05-09T09:39:54Z</dcterms:created>
  <dcterms:modified xsi:type="dcterms:W3CDTF">2026-05-15T17:31:31Z</dcterms:modified>
</cp:coreProperties>
</file>