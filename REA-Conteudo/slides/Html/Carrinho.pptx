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2" r:id="rId4"/>
    <p:sldId id="257" r:id="rId5"/>
    <p:sldId id="263" r:id="rId6"/>
    <p:sldId id="258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DB2C-5DA7-10D9-C76D-9A7992BB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3417F-79FD-27FA-7755-D3620E909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BBC97-F47C-67BA-9E49-0FAD5F878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5FB62-CF63-E917-7486-B4BBDDDC4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5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2293D-82A6-C1DE-04A1-35B95B49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2648C-77C1-F5F3-0979-9987FFAAD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B63D2-1F79-AD79-BAB4-E62431497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D906-0E87-EADC-B491-F012BF434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88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01  ·  HTML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Página de Carrinho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Listagem dinâmica e resumo de compra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Estrutura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página do carrinho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carrinho é dividido em duas áreas dentro de carrinho-container: a listagem de itens e o resumo com o total. A listagem será preenchida pelo </a:t>
            </a: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futuramente — por enquanto ela carrega dois elementos fixos que controlam os estados da página: o aviso de carrinho vazio e o bloco de referência para os itens.</a:t>
            </a:r>
          </a:p>
        </p:txBody>
      </p:sp>
      <p:sp>
        <p:nvSpPr>
          <p:cNvPr id="10" name="Shape 8"/>
          <p:cNvSpPr/>
          <p:nvPr/>
        </p:nvSpPr>
        <p:spPr>
          <a:xfrm>
            <a:off x="2651758" y="3154680"/>
            <a:ext cx="610819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2731768" y="3154680"/>
            <a:ext cx="49225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carrinho-container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 → Agrupa toda a seção do carrinho</a:t>
            </a:r>
          </a:p>
        </p:txBody>
      </p:sp>
      <p:sp>
        <p:nvSpPr>
          <p:cNvPr id="12" name="Shape 10"/>
          <p:cNvSpPr/>
          <p:nvPr/>
        </p:nvSpPr>
        <p:spPr>
          <a:xfrm>
            <a:off x="2651758" y="3497404"/>
            <a:ext cx="610819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2731769" y="3497404"/>
            <a:ext cx="53527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itens-carrinho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Área que o JS vai preencher com produtos</a:t>
            </a:r>
          </a:p>
        </p:txBody>
      </p:sp>
      <p:sp>
        <p:nvSpPr>
          <p:cNvPr id="14" name="Shape 12"/>
          <p:cNvSpPr/>
          <p:nvPr/>
        </p:nvSpPr>
        <p:spPr>
          <a:xfrm>
            <a:off x="2651758" y="3840128"/>
            <a:ext cx="610819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2731768" y="3840128"/>
            <a:ext cx="4978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carrinho-vazio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Mensagem exibida quando não há itens</a:t>
            </a:r>
          </a:p>
        </p:txBody>
      </p:sp>
      <p:sp>
        <p:nvSpPr>
          <p:cNvPr id="16" name="Shape 14"/>
          <p:cNvSpPr/>
          <p:nvPr/>
        </p:nvSpPr>
        <p:spPr>
          <a:xfrm>
            <a:off x="2651757" y="4182852"/>
            <a:ext cx="610819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2731768" y="4182852"/>
            <a:ext cx="515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resumo-carrinho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Exibe o total e o botão de finalização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30B4F-962F-FAC6-15E7-198F9B5C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410A75-F067-D71F-DE01-0ACDFB08D113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8DD32A-9FA0-F0DC-92E3-C68FD7759480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29AE72-87D7-F181-9478-E0FBAC127BF5}"/>
              </a:ext>
            </a:extLst>
          </p:cNvPr>
          <p:cNvSpPr/>
          <p:nvPr/>
        </p:nvSpPr>
        <p:spPr>
          <a:xfrm>
            <a:off x="0" y="16459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Visibilidade</a:t>
            </a:r>
            <a:endParaRPr lang="pt-BR" sz="26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4563F6-E797-6F8E-C737-25F699CC2AD8}"/>
              </a:ext>
            </a:extLst>
          </p:cNvPr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classe oculto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B52A338-6E22-4A6A-17AE-CF28BF86B261}"/>
              </a:ext>
            </a:extLst>
          </p:cNvPr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6788FC-669B-F9A1-6DD2-B5490BAE4962}"/>
              </a:ext>
            </a:extLst>
          </p:cNvPr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carrinho-vazio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3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resumo-carrinho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começam com a classe </a:t>
            </a:r>
            <a:r>
              <a:rPr lang="pt-BR" sz="13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oculto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o CSS vai usar para esconder o elemento por padrão. O </a:t>
            </a: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ou adiciona essa classe conforme o estado do carrinho — se está vazio, exibe a mensagem; se tem itens, exibe o resumo. O mecanismo CSS será definido no próximo módulo.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1CC12DD6-B971-1B9E-E570-D3853C9D1F1F}"/>
              </a:ext>
            </a:extLst>
          </p:cNvPr>
          <p:cNvSpPr/>
          <p:nvPr/>
        </p:nvSpPr>
        <p:spPr>
          <a:xfrm>
            <a:off x="2651758" y="3154680"/>
            <a:ext cx="610819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07F601B8-C21B-654B-A77C-3863F18039F4}"/>
              </a:ext>
            </a:extLst>
          </p:cNvPr>
          <p:cNvSpPr/>
          <p:nvPr/>
        </p:nvSpPr>
        <p:spPr>
          <a:xfrm>
            <a:off x="2731768" y="3154680"/>
            <a:ext cx="49225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oculto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Esconde o elemento via CSS por padrão</a:t>
            </a: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81289D0-6CB1-8C62-20A8-C6C0F9277A91}"/>
              </a:ext>
            </a:extLst>
          </p:cNvPr>
          <p:cNvSpPr/>
          <p:nvPr/>
        </p:nvSpPr>
        <p:spPr>
          <a:xfrm>
            <a:off x="2651758" y="3497404"/>
            <a:ext cx="6108193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9A5CACA7-3FB7-6004-B8A0-B0F818F81E6A}"/>
              </a:ext>
            </a:extLst>
          </p:cNvPr>
          <p:cNvSpPr/>
          <p:nvPr/>
        </p:nvSpPr>
        <p:spPr>
          <a:xfrm>
            <a:off x="2731769" y="3497404"/>
            <a:ext cx="53527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carrinho-vazio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Torna-se visível quando o carrinho está vazio</a:t>
            </a: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EB49F838-AEE0-431D-59E0-3C35DD5E128B}"/>
              </a:ext>
            </a:extLst>
          </p:cNvPr>
          <p:cNvSpPr/>
          <p:nvPr/>
        </p:nvSpPr>
        <p:spPr>
          <a:xfrm>
            <a:off x="2651758" y="3840128"/>
            <a:ext cx="610819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C7E7CF84-00B2-3B95-F30E-4D792D8EE39C}"/>
              </a:ext>
            </a:extLst>
          </p:cNvPr>
          <p:cNvSpPr/>
          <p:nvPr/>
        </p:nvSpPr>
        <p:spPr>
          <a:xfrm>
            <a:off x="2731768" y="3840128"/>
            <a:ext cx="4978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resumo-carrinho </a:t>
            </a:r>
            <a:r>
              <a:rPr lang="pt-BR" sz="90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→ Torna-se visível quando há pelo menos um item</a:t>
            </a:r>
          </a:p>
        </p:txBody>
      </p:sp>
    </p:spTree>
    <p:extLst>
      <p:ext uri="{BB962C8B-B14F-4D97-AF65-F5344CB8AC3E}">
        <p14:creationId xmlns:p14="http://schemas.microsoft.com/office/powerpoint/2010/main" val="44959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Estrutura do item</a:t>
            </a:r>
            <a:endParaRPr lang="pt-B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item tem três partes: imagem, detalhes com ações e subtotal. Posteriormente 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vai criá-lo dinamicamente — este serve de referência estrutural para o HTML e o CSS desta aula. O atributo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min="1"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impede que o usuário coloque zero ou valor negativo.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390206" y="3319209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img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 do produto, igual aos cards da vitrine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sp>
        <p:nvSpPr>
          <p:cNvPr id="18" name="Text 16"/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Quantidade; 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min="1" 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impede zero ou negativo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-remover</a:t>
            </a:r>
          </a:p>
        </p:txBody>
      </p:sp>
      <p:sp>
        <p:nvSpPr>
          <p:cNvPr id="23" name="Text 21"/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Botão para excluir o item do carrinho</a:t>
            </a:r>
            <a:endParaRPr lang="pt-BR" sz="900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2E2272-DFD9-922A-A01D-720A92ADF5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23" t="12208" r="8050" b="12415"/>
          <a:stretch>
            <a:fillRect/>
          </a:stretch>
        </p:blipFill>
        <p:spPr>
          <a:xfrm>
            <a:off x="504000" y="2474976"/>
            <a:ext cx="3023992" cy="1737362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6E13D-87FD-C18D-F38C-CEB2ABF96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7989F8A-3F14-CA52-1788-4C2A9F4C9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4" t="12801" r="7994" b="12889"/>
          <a:stretch>
            <a:fillRect/>
          </a:stretch>
        </p:blipFill>
        <p:spPr>
          <a:xfrm>
            <a:off x="504000" y="2476800"/>
            <a:ext cx="3328859" cy="1736193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9D7EF0A0-C8E7-3A9C-8399-5FDC4FD0F59D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4E9C3E-5E1F-114F-61A2-644CEE994CBD}"/>
              </a:ext>
            </a:extLst>
          </p:cNvPr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 do carrinho</a:t>
            </a:r>
            <a:endParaRPr lang="pt-BR" sz="24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D6E1B8-D075-1B8C-3E04-6CF813CAA4D8}"/>
              </a:ext>
            </a:extLst>
          </p:cNvPr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resumo fica fora da área de itens e começa oculto. 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isola o valor numérico dentro do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h2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assim 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atualiza só o número sem precisar reescrever o texto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"Total:"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redor. Diferente de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quebra a linha.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8A7B18-E120-55A1-5160-CCFB3BF96945}"/>
              </a:ext>
            </a:extLst>
          </p:cNvPr>
          <p:cNvSpPr/>
          <p:nvPr/>
        </p:nvSpPr>
        <p:spPr>
          <a:xfrm rot="16200000">
            <a:off x="-390206" y="3319209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2B8683-CE1A-E337-1BB3-5B6BE1B5B211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91887D-AC06-1937-05F6-36C106D68042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4B0AC5-0719-F6EB-A208-25B276D87EEB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4E68BA3-A12A-C1BB-A648-2900A047E50A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span.valor</a:t>
            </a: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-total</a:t>
            </a:r>
            <a:endParaRPr lang="pt-BR" sz="1100" b="1" noProof="0" dirty="0">
              <a:solidFill>
                <a:srgbClr val="E1E1E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EF8FD88-BE5C-7959-5147-75098304A46D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 o número para o JS atualizar sem reescrever o </a:t>
            </a:r>
            <a:r>
              <a:rPr lang="pt-BR" sz="9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pt-BR" sz="900" noProof="0" dirty="0">
              <a:solidFill>
                <a:srgbClr val="4ADE80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54AAD50-E31E-15A1-4FFE-D6D4E822886C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4EA58D3-C713-A18A-0719-C34097B473EC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D1C25E0-4EFA-83EE-FA94-E5B74F77A1CF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F1C2F5C-520D-0E78-9E13-3C1EB75CA0BB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oculto 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803680A-215A-3621-7EA1-13BF1B58EB81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 começa escondido até que haja itens no carrinho</a:t>
            </a:r>
            <a:endParaRPr lang="pt-BR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4E616BD-BCED-BE63-9355-07E3DDF61070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02AE3BA-F029-DC0F-EE52-85B276466ED7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4A3032F-B1F5-BFBC-18F1-D4737172D94F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20B07C5-308B-7D1B-78A2-8E396056A8F9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EFFB765-4C9E-1076-24F2-770594503269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 a função JS diretamente no clique do botão</a:t>
            </a:r>
            <a:endParaRPr lang="pt-BR" sz="900" noProof="0" dirty="0"/>
          </a:p>
        </p:txBody>
      </p:sp>
    </p:spTree>
    <p:extLst>
      <p:ext uri="{BB962C8B-B14F-4D97-AF65-F5344CB8AC3E}">
        <p14:creationId xmlns:p14="http://schemas.microsoft.com/office/powerpoint/2010/main" val="228109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 Black" pitchFamily="34" charset="-122"/>
                <a:cs typeface="Courier New" panose="02070309020205020404" pitchFamily="49" charset="0"/>
              </a:rPr>
              <a:t>onclick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 Black" pitchFamily="34" charset="-122"/>
                <a:cs typeface="Courier New" panose="02070309020205020404" pitchFamily="49" charset="0"/>
              </a:rPr>
              <a:t>onsubmit</a:t>
            </a:r>
            <a:endParaRPr lang="pt-BR" sz="26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onsubmit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no formulário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na aula anterior, 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onsubmit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pertence à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Ele é acionado quando o usuário submete o formulário — pelo botão ou pelo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Fica na </a:t>
            </a:r>
            <a:r>
              <a:rPr lang="pt-BR" sz="1100" noProof="0" dirty="0" err="1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tag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, não no botão</a:t>
            </a:r>
            <a:endParaRPr lang="pt-B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Disparado pelo envio do formulário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quando há campos a validar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40873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O botão age como </a:t>
            </a:r>
            <a:r>
              <a:rPr lang="pt-BR" sz="11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type</a:t>
            </a:r>
            <a:r>
              <a:rPr lang="pt-BR" sz="1100" dirty="0">
                <a:solidFill>
                  <a:srgbClr val="4ADE8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="</a:t>
            </a:r>
            <a:r>
              <a:rPr lang="pt-BR" sz="1100" dirty="0" err="1">
                <a:solidFill>
                  <a:srgbClr val="4ADE8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submit</a:t>
            </a:r>
            <a:r>
              <a:rPr lang="pt-BR" sz="1100" dirty="0">
                <a:solidFill>
                  <a:srgbClr val="4ADE80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"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implicitamente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 err="1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no botão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carrinho não há formulário — o botão dispara uma ação diretamente.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fica no próprio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chama a função ao ser clicado, sem depender de um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ao redor.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diretamente no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endParaRPr lang="pt-BR" sz="120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Disparado pelo clique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quando não há formulário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93776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 a função JS imediatamente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pt-B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05839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66928" y="1262683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2626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carrinho</a:t>
            </a:r>
            <a:endParaRPr lang="pt-B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container, área de itens e resumo em seções separadas</a:t>
            </a:r>
            <a:endParaRPr lang="pt-B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39"/>
            <a:ext cx="4114800" cy="904549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4956048" y="1262683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12626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oculto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esconde elementos que o JS exibe conforme o estado</a:t>
            </a:r>
            <a:endParaRPr lang="pt-B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052118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566928" y="2311887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231188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14355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do item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1051560" y="247274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imagem, detalhes com ações e subtotal isolado</a:t>
            </a:r>
            <a:endParaRPr lang="pt-BR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4846320" y="2052118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956048" y="2311887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956048" y="231188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14355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input </a:t>
            </a:r>
            <a:r>
              <a:rPr lang="pt-BR" sz="12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type</a:t>
            </a: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="</a:t>
            </a:r>
            <a:r>
              <a:rPr lang="pt-BR" sz="12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number</a:t>
            </a:r>
            <a:r>
              <a:rPr lang="pt-BR" sz="12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"</a:t>
            </a:r>
            <a:endParaRPr lang="pt-BR" sz="12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40680" y="247274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controla quantidade com validação mínima via </a:t>
            </a: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min="1"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3096209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566928" y="3324809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3248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3187649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endParaRPr lang="pt-BR" sz="12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51560" y="3516833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isola conteúdo 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inline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sem quebrar a linha do texto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3096209"/>
            <a:ext cx="4114800" cy="90360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956048" y="3324809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56048" y="33248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3187649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2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onsubmit</a:t>
            </a:r>
            <a:endParaRPr lang="pt-BR" sz="12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40680" y="3516833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 direto no botão, sem formulário ao redor</a:t>
            </a:r>
            <a:endParaRPr lang="pt-BR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597</Words>
  <Application>Microsoft Office PowerPoint</Application>
  <PresentationFormat>Apresentação na tela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Vito Vito</dc:creator>
  <cp:lastModifiedBy>Vito Vito</cp:lastModifiedBy>
  <cp:revision>18</cp:revision>
  <dcterms:created xsi:type="dcterms:W3CDTF">2026-05-09T09:39:54Z</dcterms:created>
  <dcterms:modified xsi:type="dcterms:W3CDTF">2026-06-07T21:40:10Z</dcterms:modified>
</cp:coreProperties>
</file>